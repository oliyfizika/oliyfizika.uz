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Work Sans" panose="020B0604020202020204" charset="0"/>
      <p:regular r:id="rId12"/>
    </p:embeddedFont>
    <p:embeddedFont>
      <p:font typeface="Poppins" panose="020B0604020202020204" charset="0"/>
      <p:regular r:id="rId13"/>
    </p:embeddedFont>
    <p:embeddedFont>
      <p:font typeface="Montserrat Bold" panose="020B0604020202020204" charset="0"/>
      <p:regular r:id="rId14"/>
    </p:embeddedFont>
    <p:embeddedFont>
      <p:font typeface="Work Sans Bold" panose="020B0604020202020204" charset="0"/>
      <p:regular r:id="rId15"/>
    </p:embeddedFont>
    <p:embeddedFont>
      <p:font typeface="Bell MT" panose="02020503060305020303" pitchFamily="18" charset="0"/>
      <p:regular r:id="rId16"/>
      <p:bold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 Math" panose="02040503050406030204" pitchFamily="18" charset="0"/>
      <p:regular r:id="rId23"/>
    </p:embeddedFont>
    <p:embeddedFont>
      <p:font typeface="Sitka Text Semibold" pitchFamily="2" charset="0"/>
      <p:bold r:id="rId24"/>
      <p:boldItalic r:id="rId25"/>
    </p:embeddedFont>
    <p:embeddedFont>
      <p:font typeface="Arial Rounded MT Bold" panose="020F070403050403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8" autoAdjust="0"/>
    <p:restoredTop sz="94622" autoAdjust="0"/>
  </p:normalViewPr>
  <p:slideViewPr>
    <p:cSldViewPr>
      <p:cViewPr>
        <p:scale>
          <a:sx n="50" d="100"/>
          <a:sy n="50" d="100"/>
        </p:scale>
        <p:origin x="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7" r="-6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097309"/>
            <a:ext cx="5669376" cy="566937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0"/>
                  </a:moveTo>
                  <a:lnTo>
                    <a:pt x="0" y="0"/>
                  </a:lnTo>
                  <a:lnTo>
                    <a:pt x="0" y="812800"/>
                  </a:lnTo>
                  <a:lnTo>
                    <a:pt x="812800" y="812800"/>
                  </a:lnTo>
                  <a:close/>
                </a:path>
              </a:pathLst>
            </a:custGeom>
            <a:blipFill>
              <a:blip r:embed="rId3"/>
              <a:stretch>
                <a:fillRect l="-43587" r="-34406"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8458200" y="6591300"/>
            <a:ext cx="8740795" cy="3129819"/>
            <a:chOff x="0" y="0"/>
            <a:chExt cx="1168947" cy="4185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8947" cy="418565"/>
            </a:xfrm>
            <a:custGeom>
              <a:avLst/>
              <a:gdLst/>
              <a:ahLst/>
              <a:cxnLst/>
              <a:rect l="l" t="t" r="r" b="b"/>
              <a:pathLst>
                <a:path w="1168947" h="418565">
                  <a:moveTo>
                    <a:pt x="0" y="0"/>
                  </a:moveTo>
                  <a:lnTo>
                    <a:pt x="1168947" y="0"/>
                  </a:lnTo>
                  <a:lnTo>
                    <a:pt x="1168947" y="418565"/>
                  </a:lnTo>
                  <a:lnTo>
                    <a:pt x="0" y="418565"/>
                  </a:lnTo>
                  <a:close/>
                </a:path>
              </a:pathLst>
            </a:custGeom>
            <a:blipFill>
              <a:blip r:embed="rId4"/>
              <a:stretch>
                <a:fillRect l="-1360" t="-4839" b="-6331"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484354" y="8659965"/>
            <a:ext cx="3213723" cy="598335"/>
            <a:chOff x="0" y="0"/>
            <a:chExt cx="1457350" cy="2713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7350" cy="271331"/>
            </a:xfrm>
            <a:custGeom>
              <a:avLst/>
              <a:gdLst/>
              <a:ahLst/>
              <a:cxnLst/>
              <a:rect l="l" t="t" r="r" b="b"/>
              <a:pathLst>
                <a:path w="1457350" h="271331">
                  <a:moveTo>
                    <a:pt x="0" y="0"/>
                  </a:moveTo>
                  <a:lnTo>
                    <a:pt x="1457350" y="0"/>
                  </a:lnTo>
                  <a:lnTo>
                    <a:pt x="1457350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57350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8659965"/>
            <a:ext cx="2283700" cy="598335"/>
            <a:chOff x="0" y="0"/>
            <a:chExt cx="1035606" cy="2713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5606" cy="271331"/>
            </a:xfrm>
            <a:custGeom>
              <a:avLst/>
              <a:gdLst/>
              <a:ahLst/>
              <a:cxnLst/>
              <a:rect l="l" t="t" r="r" b="b"/>
              <a:pathLst>
                <a:path w="1035606" h="271331">
                  <a:moveTo>
                    <a:pt x="0" y="0"/>
                  </a:moveTo>
                  <a:lnTo>
                    <a:pt x="1035606" y="0"/>
                  </a:lnTo>
                  <a:lnTo>
                    <a:pt x="1035606" y="271331"/>
                  </a:lnTo>
                  <a:lnTo>
                    <a:pt x="0" y="271331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35606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067777" y="1782415"/>
            <a:ext cx="8850521" cy="268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54"/>
              </a:lnSpc>
              <a:spcBef>
                <a:spcPct val="0"/>
              </a:spcBef>
            </a:pPr>
            <a:r>
              <a:rPr lang="en-US" sz="11700" b="1" dirty="0" smtClean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QIZIL SILJISH</a:t>
            </a:r>
            <a:endParaRPr lang="en-US" sz="11700" b="1" dirty="0">
              <a:solidFill>
                <a:srgbClr val="FFCC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785410" y="8777205"/>
            <a:ext cx="2912666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400" dirty="0" err="1" smtClean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Aminova</a:t>
            </a:r>
            <a:r>
              <a:rPr lang="en-US" sz="2400" dirty="0" smtClean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Farangiz</a:t>
            </a:r>
            <a:endParaRPr lang="en-US" sz="2400" dirty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42012" y="8777205"/>
            <a:ext cx="1857075" cy="30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00" dirty="0" err="1" smtClean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Tayyorladi</a:t>
            </a:r>
            <a:r>
              <a:rPr lang="en-US" sz="2000" dirty="0" smtClean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endParaRPr lang="en-US" sz="2000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6604" y="1833160"/>
            <a:ext cx="9511396" cy="6620681"/>
            <a:chOff x="0" y="0"/>
            <a:chExt cx="4688354" cy="3263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8354" cy="3263464"/>
            </a:xfrm>
            <a:custGeom>
              <a:avLst/>
              <a:gdLst/>
              <a:ahLst/>
              <a:cxnLst/>
              <a:rect l="l" t="t" r="r" b="b"/>
              <a:pathLst>
                <a:path w="4688354" h="3263464">
                  <a:moveTo>
                    <a:pt x="0" y="0"/>
                  </a:moveTo>
                  <a:lnTo>
                    <a:pt x="4688354" y="0"/>
                  </a:lnTo>
                  <a:lnTo>
                    <a:pt x="4688354" y="3263464"/>
                  </a:lnTo>
                  <a:lnTo>
                    <a:pt x="0" y="3263464"/>
                  </a:lnTo>
                  <a:close/>
                </a:path>
              </a:pathLst>
            </a:custGeom>
            <a:blipFill>
              <a:blip r:embed="rId2"/>
              <a:stretch>
                <a:fillRect l="-11873" r="-118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28700"/>
            <a:ext cx="8776604" cy="8229600"/>
            <a:chOff x="0" y="0"/>
            <a:chExt cx="2311534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11534" cy="2167467"/>
            </a:xfrm>
            <a:custGeom>
              <a:avLst/>
              <a:gdLst/>
              <a:ahLst/>
              <a:cxnLst/>
              <a:rect l="l" t="t" r="r" b="b"/>
              <a:pathLst>
                <a:path w="2311534" h="2167467">
                  <a:moveTo>
                    <a:pt x="0" y="0"/>
                  </a:moveTo>
                  <a:lnTo>
                    <a:pt x="2311534" y="0"/>
                  </a:lnTo>
                  <a:lnTo>
                    <a:pt x="23115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1153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329476"/>
            <a:ext cx="6383873" cy="2108195"/>
            <a:chOff x="0" y="0"/>
            <a:chExt cx="3146736" cy="10391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46736" cy="1039171"/>
            </a:xfrm>
            <a:custGeom>
              <a:avLst/>
              <a:gdLst/>
              <a:ahLst/>
              <a:cxnLst/>
              <a:rect l="l" t="t" r="r" b="b"/>
              <a:pathLst>
                <a:path w="3146736" h="1039171">
                  <a:moveTo>
                    <a:pt x="0" y="0"/>
                  </a:moveTo>
                  <a:lnTo>
                    <a:pt x="3146736" y="0"/>
                  </a:lnTo>
                  <a:lnTo>
                    <a:pt x="3146736" y="1039171"/>
                  </a:lnTo>
                  <a:lnTo>
                    <a:pt x="0" y="1039171"/>
                  </a:lnTo>
                  <a:close/>
                </a:path>
              </a:pathLst>
            </a:custGeom>
            <a:blipFill>
              <a:blip r:embed="rId3"/>
              <a:stretch>
                <a:fillRect t="-35165" b="-3516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49482" y="1331678"/>
            <a:ext cx="6789142" cy="74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dirty="0" err="1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Reja</a:t>
            </a:r>
            <a:r>
              <a:rPr lang="en-US" sz="4800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2384091"/>
            <a:ext cx="56388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 smtClean="0">
                <a:latin typeface="Arial Rounded MT Bold" panose="020F0704030504030204" pitchFamily="34" charset="0"/>
              </a:rPr>
              <a:t>Kirish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Qizil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>
                <a:latin typeface="Arial Rounded MT Bold" panose="020F0704030504030204" pitchFamily="34" charset="0"/>
              </a:rPr>
              <a:t>siljish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tushunchasi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Qizil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>
                <a:latin typeface="Arial Rounded MT Bold" panose="020F0704030504030204" pitchFamily="34" charset="0"/>
              </a:rPr>
              <a:t>siljish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formulasi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>
                <a:latin typeface="Arial Rounded MT Bold" panose="020F0704030504030204" pitchFamily="34" charset="0"/>
              </a:rPr>
              <a:t>Doppler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effekti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Qizil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>
                <a:latin typeface="Arial Rounded MT Bold" panose="020F0704030504030204" pitchFamily="34" charset="0"/>
              </a:rPr>
              <a:t>siljish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turlari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Kosmologik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ahamiyati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Amaliy</a:t>
            </a:r>
            <a:r>
              <a:rPr lang="en-US" sz="3400" dirty="0">
                <a:latin typeface="Arial Rounded MT Bold" panose="020F0704030504030204" pitchFamily="34" charset="0"/>
              </a:rPr>
              <a:t> </a:t>
            </a:r>
            <a:r>
              <a:rPr lang="en-US" sz="3400" dirty="0" err="1" smtClean="0">
                <a:latin typeface="Arial Rounded MT Bold" panose="020F0704030504030204" pitchFamily="34" charset="0"/>
              </a:rPr>
              <a:t>qo‘llanilishi</a:t>
            </a:r>
            <a:endParaRPr lang="en-US" sz="3400" dirty="0" smtClean="0">
              <a:latin typeface="Arial Rounded MT Bold" panose="020F0704030504030204" pitchFamily="34" charset="0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400" dirty="0" err="1">
                <a:latin typeface="Arial Rounded MT Bold" panose="020F0704030504030204" pitchFamily="34" charset="0"/>
              </a:rPr>
              <a:t>Xulosa</a:t>
            </a:r>
            <a:endParaRPr lang="en-US" sz="3400" b="1" dirty="0">
              <a:solidFill>
                <a:srgbClr val="000000"/>
              </a:solidFill>
              <a:latin typeface="Arial Rounded MT Bold" panose="020F0704030504030204" pitchFamily="34" charset="0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86334"/>
            <a:ext cx="38481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800" b="1" dirty="0" err="1" smtClean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Aminova</a:t>
            </a:r>
            <a:r>
              <a:rPr lang="en-US" sz="2800" b="1" dirty="0" smtClean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 smtClean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Farangiz</a:t>
            </a:r>
            <a:endParaRPr lang="en-US" sz="2800" b="1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35997" y="590268"/>
            <a:ext cx="2133029" cy="372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FA-301</a:t>
            </a:r>
            <a:endParaRPr lang="en-US" sz="4400" b="1" u="none" strike="noStrik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01924" y="2075560"/>
            <a:ext cx="5246370" cy="524637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28700" y="4698745"/>
            <a:ext cx="4559555" cy="455955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124790" y="1868855"/>
            <a:ext cx="7134510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4800" dirty="0" smtClea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KIRISH</a:t>
            </a:r>
            <a:endParaRPr lang="en-US" sz="4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86800" y="2607066"/>
            <a:ext cx="94488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Koinot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doim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kengayib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borayotgan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tizim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hisoblanadi</a:t>
            </a:r>
            <a:endParaRPr lang="en-US" sz="32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Galaktikalar</a:t>
            </a:r>
            <a:r>
              <a:rPr lang="en-US" sz="32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bir-biridan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uzoqlashgani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sabab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ularning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nurlanishi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o‘zgaradi</a:t>
            </a:r>
            <a:endParaRPr lang="en-US" sz="32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Yorug‘lik</a:t>
            </a:r>
            <a:r>
              <a:rPr lang="en-US" sz="32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uzunligi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ortib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,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spektr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tomonga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siljiydi</a:t>
            </a:r>
            <a:endParaRPr lang="en-US" sz="32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Bu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hodisa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(redshift) deb </a:t>
            </a: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ataladi</a:t>
            </a:r>
            <a:endParaRPr lang="en-US" sz="32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32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astronomiyada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koinotning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tuzilishi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rivojlanishini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o‘rganishda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muhim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ahamiyatga</a:t>
            </a:r>
            <a:r>
              <a:rPr lang="en-US" sz="32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32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ega</a:t>
            </a:r>
            <a:endParaRPr lang="en-US" sz="3200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7" y="1207898"/>
            <a:ext cx="7533903" cy="6575051"/>
            <a:chOff x="0" y="0"/>
            <a:chExt cx="1984238" cy="10547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4238" cy="1054707"/>
            </a:xfrm>
            <a:custGeom>
              <a:avLst/>
              <a:gdLst/>
              <a:ahLst/>
              <a:cxnLst/>
              <a:rect l="l" t="t" r="r" b="b"/>
              <a:pathLst>
                <a:path w="1984238" h="1054707">
                  <a:moveTo>
                    <a:pt x="0" y="0"/>
                  </a:moveTo>
                  <a:lnTo>
                    <a:pt x="1984238" y="0"/>
                  </a:lnTo>
                  <a:lnTo>
                    <a:pt x="1984238" y="1054707"/>
                  </a:lnTo>
                  <a:lnTo>
                    <a:pt x="0" y="1054707"/>
                  </a:lnTo>
                  <a:close/>
                </a:path>
              </a:pathLst>
            </a:custGeom>
            <a:solidFill>
              <a:srgbClr val="FFCC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84238" cy="1102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33903" y="1479359"/>
            <a:ext cx="4770427" cy="7328281"/>
            <a:chOff x="0" y="0"/>
            <a:chExt cx="739064" cy="11353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9064" cy="1135343"/>
            </a:xfrm>
            <a:custGeom>
              <a:avLst/>
              <a:gdLst/>
              <a:ahLst/>
              <a:cxnLst/>
              <a:rect l="l" t="t" r="r" b="b"/>
              <a:pathLst>
                <a:path w="739064" h="1135343">
                  <a:moveTo>
                    <a:pt x="0" y="0"/>
                  </a:moveTo>
                  <a:lnTo>
                    <a:pt x="739064" y="0"/>
                  </a:lnTo>
                  <a:lnTo>
                    <a:pt x="739064" y="1135343"/>
                  </a:lnTo>
                  <a:lnTo>
                    <a:pt x="0" y="1135343"/>
                  </a:lnTo>
                  <a:close/>
                </a:path>
              </a:pathLst>
            </a:custGeom>
            <a:blipFill>
              <a:blip r:embed="rId2"/>
              <a:stretch>
                <a:fillRect l="-32264" r="-2135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488873" y="1479359"/>
            <a:ext cx="4770427" cy="7328281"/>
            <a:chOff x="0" y="0"/>
            <a:chExt cx="739064" cy="11353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9064" cy="1135343"/>
            </a:xfrm>
            <a:custGeom>
              <a:avLst/>
              <a:gdLst/>
              <a:ahLst/>
              <a:cxnLst/>
              <a:rect l="l" t="t" r="r" b="b"/>
              <a:pathLst>
                <a:path w="739064" h="1135343">
                  <a:moveTo>
                    <a:pt x="0" y="0"/>
                  </a:moveTo>
                  <a:lnTo>
                    <a:pt x="739064" y="0"/>
                  </a:lnTo>
                  <a:lnTo>
                    <a:pt x="739064" y="1135343"/>
                  </a:lnTo>
                  <a:lnTo>
                    <a:pt x="0" y="1135343"/>
                  </a:lnTo>
                  <a:close/>
                </a:path>
              </a:pathLst>
            </a:custGeom>
            <a:blipFill>
              <a:blip r:embed="rId3"/>
              <a:stretch>
                <a:fillRect l="-37078" r="-1654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7440275" y="1479359"/>
            <a:ext cx="4770427" cy="7328281"/>
            <a:chOff x="0" y="0"/>
            <a:chExt cx="739064" cy="11353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9064" cy="1135343"/>
            </a:xfrm>
            <a:custGeom>
              <a:avLst/>
              <a:gdLst/>
              <a:ahLst/>
              <a:cxnLst/>
              <a:rect l="l" t="t" r="r" b="b"/>
              <a:pathLst>
                <a:path w="739064" h="1135343">
                  <a:moveTo>
                    <a:pt x="0" y="0"/>
                  </a:moveTo>
                  <a:lnTo>
                    <a:pt x="739064" y="0"/>
                  </a:lnTo>
                  <a:lnTo>
                    <a:pt x="739064" y="1135343"/>
                  </a:lnTo>
                  <a:lnTo>
                    <a:pt x="0" y="1135343"/>
                  </a:lnTo>
                  <a:close/>
                </a:path>
              </a:pathLst>
            </a:custGeom>
            <a:blipFill>
              <a:blip r:embed="rId4"/>
              <a:stretch>
                <a:fillRect l="-63124" r="-10997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15160" y="2118888"/>
            <a:ext cx="696836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48"/>
              </a:lnSpc>
            </a:pPr>
            <a:r>
              <a:rPr lang="en-US" sz="4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Qizil</a:t>
            </a:r>
            <a:r>
              <a:rPr lang="en-US" sz="4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siljish</a:t>
            </a:r>
            <a:r>
              <a:rPr lang="en-US" sz="4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tushunchasi</a:t>
            </a: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5160" y="2983077"/>
            <a:ext cx="7001811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Qizil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siljish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—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yorug‘lik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to‘lqin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uzunligining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ortishi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hodisasi</a:t>
            </a:r>
            <a:endParaRPr lang="en-US" sz="2800" dirty="0" smtClean="0">
              <a:solidFill>
                <a:srgbClr val="000000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Natijada</a:t>
            </a:r>
            <a:r>
              <a:rPr lang="en-US" sz="2800" dirty="0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spektr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qizil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uzun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to‘lqin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)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tomonga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siljiydi</a:t>
            </a:r>
            <a:endParaRPr lang="en-US" sz="2800" dirty="0" smtClean="0">
              <a:solidFill>
                <a:srgbClr val="000000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Bu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hodisa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obyekt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bizdan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uzoqlashayotganini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bildiradi</a:t>
            </a:r>
            <a:endParaRPr lang="en-US" sz="2800" dirty="0" smtClean="0">
              <a:solidFill>
                <a:srgbClr val="000000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Yorug‘lik</a:t>
            </a:r>
            <a:r>
              <a:rPr lang="en-US" sz="2800" dirty="0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energiyasi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kamayib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chastotasi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pasayadi</a:t>
            </a:r>
            <a:endParaRPr lang="en-US" sz="2800" dirty="0" smtClean="0">
              <a:solidFill>
                <a:srgbClr val="000000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Astronomiyada</a:t>
            </a:r>
            <a:r>
              <a:rPr lang="en-US" sz="2800" dirty="0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galaktikalar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harakatini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aniqlashda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muhim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rol</a:t>
            </a:r>
            <a:r>
              <a:rPr lang="en-US" sz="2800" dirty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Sitka Text Semibold" pitchFamily="2" charset="0"/>
                <a:ea typeface="Work Sans"/>
                <a:cs typeface="Work Sans"/>
                <a:sym typeface="Work Sans"/>
              </a:rPr>
              <a:t>o‘ynaydi</a:t>
            </a:r>
            <a:endParaRPr lang="en-US" sz="2800" dirty="0">
              <a:solidFill>
                <a:srgbClr val="000000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22" b="-7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92375" y="3120907"/>
            <a:ext cx="6691640" cy="6137393"/>
            <a:chOff x="0" y="0"/>
            <a:chExt cx="1762407" cy="16164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2407" cy="1616433"/>
            </a:xfrm>
            <a:custGeom>
              <a:avLst/>
              <a:gdLst/>
              <a:ahLst/>
              <a:cxnLst/>
              <a:rect l="l" t="t" r="r" b="b"/>
              <a:pathLst>
                <a:path w="1762407" h="1616433">
                  <a:moveTo>
                    <a:pt x="0" y="0"/>
                  </a:moveTo>
                  <a:lnTo>
                    <a:pt x="1762407" y="0"/>
                  </a:lnTo>
                  <a:lnTo>
                    <a:pt x="1762407" y="1616433"/>
                  </a:lnTo>
                  <a:lnTo>
                    <a:pt x="0" y="1616433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62407" cy="1673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96360" y="3120907"/>
            <a:ext cx="6691640" cy="6137393"/>
            <a:chOff x="0" y="0"/>
            <a:chExt cx="1762407" cy="1616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2407" cy="1616433"/>
            </a:xfrm>
            <a:custGeom>
              <a:avLst/>
              <a:gdLst/>
              <a:ahLst/>
              <a:cxnLst/>
              <a:rect l="l" t="t" r="r" b="b"/>
              <a:pathLst>
                <a:path w="1762407" h="1616433">
                  <a:moveTo>
                    <a:pt x="0" y="0"/>
                  </a:moveTo>
                  <a:lnTo>
                    <a:pt x="1762407" y="0"/>
                  </a:lnTo>
                  <a:lnTo>
                    <a:pt x="1762407" y="1616433"/>
                  </a:lnTo>
                  <a:lnTo>
                    <a:pt x="0" y="1616433"/>
                  </a:ln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62407" cy="1673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5154521" cy="6813296"/>
            <a:chOff x="0" y="0"/>
            <a:chExt cx="798570" cy="10555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8570" cy="1055558"/>
            </a:xfrm>
            <a:custGeom>
              <a:avLst/>
              <a:gdLst/>
              <a:ahLst/>
              <a:cxnLst/>
              <a:rect l="l" t="t" r="r" b="b"/>
              <a:pathLst>
                <a:path w="798570" h="1055558">
                  <a:moveTo>
                    <a:pt x="0" y="0"/>
                  </a:moveTo>
                  <a:lnTo>
                    <a:pt x="798570" y="0"/>
                  </a:lnTo>
                  <a:lnTo>
                    <a:pt x="798570" y="1055558"/>
                  </a:lnTo>
                  <a:lnTo>
                    <a:pt x="0" y="1055558"/>
                  </a:lnTo>
                  <a:close/>
                </a:path>
              </a:pathLst>
            </a:custGeom>
            <a:blipFill>
              <a:blip r:embed="rId3"/>
              <a:stretch>
                <a:fillRect l="-51964" r="-47212"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sp>
        <p:nvSpPr>
          <p:cNvPr id="11" name="AutoShape 11"/>
          <p:cNvSpPr/>
          <p:nvPr/>
        </p:nvSpPr>
        <p:spPr>
          <a:xfrm>
            <a:off x="7090261" y="1976955"/>
            <a:ext cx="178390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050021" y="3171337"/>
            <a:ext cx="6192170" cy="5819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Sitka Text Semibold" pitchFamily="2" charset="0"/>
              </a:rPr>
              <a:t>z— </a:t>
            </a:r>
            <a:r>
              <a:rPr lang="en-US" sz="2800" dirty="0" err="1">
                <a:latin typeface="Sitka Text Semibold" pitchFamily="2" charset="0"/>
              </a:rPr>
              <a:t>qizil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siljish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darajasini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 smtClean="0">
                <a:latin typeface="Sitka Text Semibold" pitchFamily="2" charset="0"/>
              </a:rPr>
              <a:t>ifodalaydi</a:t>
            </a:r>
            <a:endParaRPr lang="en-US" sz="2800" dirty="0" smtClean="0">
              <a:latin typeface="Sitka Text Semibold" pitchFamily="2" charset="0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l-GR" sz="2800" dirty="0" smtClean="0">
                <a:latin typeface="Sitka Text Semibold" pitchFamily="2" charset="0"/>
              </a:rPr>
              <a:t>λ </a:t>
            </a:r>
            <a:r>
              <a:rPr lang="el-GR" sz="2800" dirty="0">
                <a:latin typeface="Sitka Text Semibold" pitchFamily="2" charset="0"/>
              </a:rPr>
              <a:t>— </a:t>
            </a:r>
            <a:r>
              <a:rPr lang="en-US" sz="2800" dirty="0" err="1">
                <a:latin typeface="Sitka Text Semibold" pitchFamily="2" charset="0"/>
              </a:rPr>
              <a:t>kuzatilgan</a:t>
            </a:r>
            <a:r>
              <a:rPr lang="en-US" sz="2800" dirty="0">
                <a:latin typeface="Sitka Text Semibold" pitchFamily="2" charset="0"/>
              </a:rPr>
              <a:t> (</a:t>
            </a:r>
            <a:r>
              <a:rPr lang="en-US" sz="2800" dirty="0" err="1">
                <a:latin typeface="Sitka Text Semibold" pitchFamily="2" charset="0"/>
              </a:rPr>
              <a:t>o‘zgargan</a:t>
            </a:r>
            <a:r>
              <a:rPr lang="en-US" sz="2800" dirty="0">
                <a:latin typeface="Sitka Text Semibold" pitchFamily="2" charset="0"/>
              </a:rPr>
              <a:t>) </a:t>
            </a:r>
            <a:r>
              <a:rPr lang="en-US" sz="2800" dirty="0" err="1">
                <a:latin typeface="Sitka Text Semibold" pitchFamily="2" charset="0"/>
              </a:rPr>
              <a:t>to‘lqin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uzunligi</a:t>
            </a:r>
            <a:r>
              <a:rPr lang="en-US" sz="2800" dirty="0">
                <a:latin typeface="Sitka Text Semibold" pitchFamily="2" charset="0"/>
              </a:rPr>
              <a:t> </a:t>
            </a:r>
            <a:endParaRPr lang="en-US" sz="2800" dirty="0" smtClean="0">
              <a:latin typeface="Sitka Text Semibold" pitchFamily="2" charset="0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l-GR" sz="2800" dirty="0" smtClean="0">
                <a:latin typeface="Sitka Text Semibold" pitchFamily="2" charset="0"/>
              </a:rPr>
              <a:t>λ0— </a:t>
            </a:r>
            <a:r>
              <a:rPr lang="en-US" sz="2800" dirty="0" err="1">
                <a:latin typeface="Sitka Text Semibold" pitchFamily="2" charset="0"/>
              </a:rPr>
              <a:t>manbadan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chiqayotgan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asl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to‘lqin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 smtClean="0">
                <a:latin typeface="Sitka Text Semibold" pitchFamily="2" charset="0"/>
              </a:rPr>
              <a:t>uzunligi</a:t>
            </a:r>
            <a:endParaRPr lang="en-US" sz="2800" dirty="0" smtClean="0">
              <a:latin typeface="Sitka Text Semibold" pitchFamily="2" charset="0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latin typeface="Sitka Text Semibold" pitchFamily="2" charset="0"/>
              </a:rPr>
              <a:t>Agar </a:t>
            </a:r>
            <a:r>
              <a:rPr lang="el-GR" sz="2800" dirty="0" smtClean="0">
                <a:latin typeface="Sitka Text Semibold" pitchFamily="2" charset="0"/>
              </a:rPr>
              <a:t>λ&gt;λ0</a:t>
            </a:r>
            <a:r>
              <a:rPr lang="en-US" sz="2800" dirty="0" smtClean="0">
                <a:latin typeface="Sitka Text Semibold" pitchFamily="2" charset="0"/>
              </a:rPr>
              <a:t> </a:t>
            </a:r>
            <a:r>
              <a:rPr lang="en-US" sz="2800" dirty="0" err="1" smtClean="0">
                <a:latin typeface="Sitka Text Semibold" pitchFamily="2" charset="0"/>
              </a:rPr>
              <a:t>bo‘lsa</a:t>
            </a:r>
            <a:r>
              <a:rPr lang="en-US" sz="2800" dirty="0">
                <a:latin typeface="Sitka Text Semibold" pitchFamily="2" charset="0"/>
              </a:rPr>
              <a:t>, </a:t>
            </a:r>
            <a:r>
              <a:rPr lang="en-US" sz="2800" dirty="0" err="1">
                <a:latin typeface="Sitka Text Semibold" pitchFamily="2" charset="0"/>
              </a:rPr>
              <a:t>spektr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qizil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tomonga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 smtClean="0">
                <a:latin typeface="Sitka Text Semibold" pitchFamily="2" charset="0"/>
              </a:rPr>
              <a:t>siljiydi</a:t>
            </a:r>
            <a:endParaRPr lang="en-US" sz="2800" dirty="0" smtClean="0">
              <a:latin typeface="Sitka Text Semibold" pitchFamily="2" charset="0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latin typeface="Sitka Text Semibold" pitchFamily="2" charset="0"/>
              </a:rPr>
              <a:t>z&gt;0 — </a:t>
            </a:r>
            <a:r>
              <a:rPr lang="en-US" sz="2800" dirty="0" err="1">
                <a:latin typeface="Sitka Text Semibold" pitchFamily="2" charset="0"/>
              </a:rPr>
              <a:t>obyekt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uzoqlashmoqda</a:t>
            </a:r>
            <a:r>
              <a:rPr lang="en-US" sz="2800" dirty="0">
                <a:latin typeface="Sitka Text Semibold" pitchFamily="2" charset="0"/>
              </a:rPr>
              <a:t>, z&lt;0 — </a:t>
            </a:r>
            <a:r>
              <a:rPr lang="en-US" sz="2800" dirty="0" err="1">
                <a:latin typeface="Sitka Text Semibold" pitchFamily="2" charset="0"/>
              </a:rPr>
              <a:t>obyekt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yaqinlashmoqda</a:t>
            </a:r>
            <a:r>
              <a:rPr lang="en-US" sz="2800" dirty="0">
                <a:latin typeface="Sitka Text Semibold" pitchFamily="2" charset="0"/>
              </a:rPr>
              <a:t> (</a:t>
            </a:r>
            <a:r>
              <a:rPr lang="en-US" sz="2800" dirty="0" err="1">
                <a:latin typeface="Sitka Text Semibold" pitchFamily="2" charset="0"/>
              </a:rPr>
              <a:t>ko‘k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siljish</a:t>
            </a:r>
            <a:r>
              <a:rPr lang="en-US" sz="2800" dirty="0" smtClean="0">
                <a:latin typeface="Sitka Text Semibold" pitchFamily="2" charset="0"/>
              </a:rPr>
              <a:t>)</a:t>
            </a: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Sitka Text Semibold" pitchFamily="2" charset="0"/>
              </a:rPr>
              <a:t>Qizil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siljish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qiymati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katta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bo‘lsa</a:t>
            </a:r>
            <a:r>
              <a:rPr lang="en-US" sz="2800" dirty="0">
                <a:latin typeface="Sitka Text Semibold" pitchFamily="2" charset="0"/>
              </a:rPr>
              <a:t>, </a:t>
            </a:r>
            <a:r>
              <a:rPr lang="en-US" sz="2800" dirty="0" err="1">
                <a:latin typeface="Sitka Text Semibold" pitchFamily="2" charset="0"/>
              </a:rPr>
              <a:t>obyekt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shuncha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tez</a:t>
            </a:r>
            <a:r>
              <a:rPr lang="en-US" sz="2800" dirty="0">
                <a:latin typeface="Sitka Text Semibold" pitchFamily="2" charset="0"/>
              </a:rPr>
              <a:t> </a:t>
            </a:r>
            <a:r>
              <a:rPr lang="en-US" sz="2800" dirty="0" err="1">
                <a:latin typeface="Sitka Text Semibold" pitchFamily="2" charset="0"/>
              </a:rPr>
              <a:t>uzoqlashadi</a:t>
            </a:r>
            <a:endParaRPr lang="en-US" sz="2800" dirty="0" smtClean="0">
              <a:latin typeface="Sitka Text Semibold" pitchFamily="2" charset="0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dirty="0">
              <a:solidFill>
                <a:schemeClr val="bg1"/>
              </a:solidFill>
              <a:latin typeface="Sitka Text Semibold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759052" y="3608438"/>
            <a:ext cx="423220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formulasi</a:t>
            </a:r>
            <a:endParaRPr lang="en-US" sz="2599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Прямоугольник 25"/>
              <p:cNvSpPr/>
              <p:nvPr/>
            </p:nvSpPr>
            <p:spPr>
              <a:xfrm>
                <a:off x="6175750" y="5143500"/>
                <a:ext cx="3514261" cy="1620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4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48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48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750" y="5143500"/>
                <a:ext cx="3514261" cy="1620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H="1" flipV="1">
            <a:off x="1028700" y="3390900"/>
            <a:ext cx="19050" cy="5867400"/>
          </a:xfrm>
          <a:prstGeom prst="line">
            <a:avLst/>
          </a:prstGeom>
          <a:ln w="38100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1" y="1898294"/>
            <a:ext cx="514350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  <a:spcBef>
                <a:spcPct val="0"/>
              </a:spcBef>
            </a:pPr>
            <a:r>
              <a:rPr lang="en-US" sz="4800" dirty="0" smtClean="0">
                <a:solidFill>
                  <a:schemeClr val="accent5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DOPPLER EFFEKTI</a:t>
            </a:r>
            <a:endParaRPr lang="en-US" sz="4800" dirty="0">
              <a:solidFill>
                <a:schemeClr val="accent5">
                  <a:lumMod val="5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04950" y="3390900"/>
            <a:ext cx="7410450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Doppler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effekti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—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manbai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harakat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qilganda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uning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chastotasi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uzunligi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o‘zgarishi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hodisasi</a:t>
            </a:r>
            <a:endParaRPr lang="en-US" sz="28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marL="457200" indent="-4572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Agar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manba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kuzatuvchidan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uzoqlashsa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→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uzunligi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ortadi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(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</a:t>
            </a:r>
          </a:p>
          <a:p>
            <a:pPr marL="457200" indent="-4572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Agar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manba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yaqinlashsa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→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uzunligi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kamayadi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(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ko‘k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</a:t>
            </a:r>
          </a:p>
          <a:p>
            <a:pPr marL="457200" indent="-4572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Bu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effekt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tovush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yorug‘lik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to‘lqinlarida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ham </a:t>
            </a:r>
            <a:r>
              <a:rPr lang="en-US" sz="28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kuzatiladi</a:t>
            </a:r>
            <a:endParaRPr lang="en-US" sz="2800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marL="457200" indent="-4572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800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Astronomiyada</a:t>
            </a:r>
            <a:r>
              <a:rPr lang="en-US" sz="2800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yulduz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galaktikalar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harakatini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aniqlashda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muhim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ahamiyatga</a:t>
            </a:r>
            <a:r>
              <a:rPr lang="en-US" sz="2800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800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ega</a:t>
            </a:r>
            <a:endParaRPr lang="en-US" sz="2800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885" y="292121"/>
            <a:ext cx="7863533" cy="9825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0"/>
            <a:ext cx="7717288" cy="10287000"/>
            <a:chOff x="0" y="0"/>
            <a:chExt cx="2032537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32537" cy="2709333"/>
            </a:xfrm>
            <a:custGeom>
              <a:avLst/>
              <a:gdLst/>
              <a:ahLst/>
              <a:cxnLst/>
              <a:rect l="l" t="t" r="r" b="b"/>
              <a:pathLst>
                <a:path w="2032537" h="2709333">
                  <a:moveTo>
                    <a:pt x="0" y="0"/>
                  </a:moveTo>
                  <a:lnTo>
                    <a:pt x="2032537" y="0"/>
                  </a:lnTo>
                  <a:lnTo>
                    <a:pt x="20325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032537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45988" y="1233175"/>
            <a:ext cx="1219507" cy="7820650"/>
            <a:chOff x="0" y="0"/>
            <a:chExt cx="321187" cy="2059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1187" cy="2059760"/>
            </a:xfrm>
            <a:custGeom>
              <a:avLst/>
              <a:gdLst/>
              <a:ahLst/>
              <a:cxnLst/>
              <a:rect l="l" t="t" r="r" b="b"/>
              <a:pathLst>
                <a:path w="321187" h="2059760">
                  <a:moveTo>
                    <a:pt x="0" y="0"/>
                  </a:moveTo>
                  <a:lnTo>
                    <a:pt x="321187" y="0"/>
                  </a:lnTo>
                  <a:lnTo>
                    <a:pt x="321187" y="2059760"/>
                  </a:lnTo>
                  <a:lnTo>
                    <a:pt x="0" y="2059760"/>
                  </a:ln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21187" cy="2116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 rot="5400000">
            <a:off x="5516854" y="4736241"/>
            <a:ext cx="7820650" cy="814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 smtClean="0">
                <a:solidFill>
                  <a:srgbClr val="00B050"/>
                </a:solidFill>
              </a:rPr>
              <a:t>QIZIL SILJISH TURLARI</a:t>
            </a:r>
            <a:endParaRPr lang="en-US" sz="4800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49584" y="2834102"/>
            <a:ext cx="6075519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M</a:t>
            </a:r>
            <a:r>
              <a:rPr lang="en-US" sz="2400" dirty="0" err="1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anba</a:t>
            </a:r>
            <a:r>
              <a:rPr lang="en-US" sz="2400" dirty="0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va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kuzatuvchi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o‘rtasidagi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nisbiy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harakat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natijasida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yuz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beradi</a:t>
            </a:r>
            <a:endParaRPr lang="en-US" sz="2400" dirty="0">
              <a:solidFill>
                <a:srgbClr val="FFFFFF"/>
              </a:solidFill>
              <a:latin typeface="Bell MT" panose="02020503060305020303" pitchFamily="18" charset="0"/>
              <a:ea typeface="Work Sans"/>
              <a:cs typeface="Work Sans"/>
              <a:sym typeface="Work Sans"/>
            </a:endParaRPr>
          </a:p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(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obyekt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uzoqlashsa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→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to‘lqin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uzunligi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ortadi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yaqinlashsa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→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ko‘k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siljish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kuzatiladi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9584" y="1809121"/>
            <a:ext cx="4012336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Doppler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endParaRPr lang="en-US" sz="2599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49584" y="5419278"/>
            <a:ext cx="6075519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 err="1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Kuchli</a:t>
            </a:r>
            <a:r>
              <a:rPr lang="en-US" sz="2400" dirty="0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tortishish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maydonida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yorug‘lik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energiyasi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kamayadi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(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yorug‘lik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yuqori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gravitatsiyadan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chiqayotganda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to‘lqin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uzunligi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ortadi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)</a:t>
            </a:r>
            <a:endParaRPr lang="en-US" sz="2400" dirty="0">
              <a:solidFill>
                <a:srgbClr val="FFFFFF"/>
              </a:solidFill>
              <a:latin typeface="Bell MT" panose="02020503060305020303" pitchFamily="18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49584" y="4907319"/>
            <a:ext cx="4012336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Gravitatsion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endParaRPr lang="en-US" sz="2599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49584" y="8003534"/>
            <a:ext cx="60755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</a:t>
            </a:r>
            <a:r>
              <a:rPr lang="en-US" sz="2400" dirty="0" err="1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oinotning</a:t>
            </a:r>
            <a:r>
              <a:rPr lang="en-US" sz="2400" dirty="0" smtClean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kengayishi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bilan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bog‘liq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(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fazoning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o‘zi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kengaygani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sababli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yorug‘lik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cho‘ziladi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va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spektr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qizil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tomonga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siljiydi</a:t>
            </a: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  <a:ea typeface="Work Sans"/>
                <a:cs typeface="Work Sans"/>
                <a:sym typeface="Work Sans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49584" y="7291859"/>
            <a:ext cx="4012336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Kosmologik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endParaRPr lang="en-US" sz="2599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25622" y="3086100"/>
            <a:ext cx="8162378" cy="5334000"/>
            <a:chOff x="0" y="0"/>
            <a:chExt cx="2078209" cy="932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8209" cy="932260"/>
            </a:xfrm>
            <a:custGeom>
              <a:avLst/>
              <a:gdLst/>
              <a:ahLst/>
              <a:cxnLst/>
              <a:rect l="l" t="t" r="r" b="b"/>
              <a:pathLst>
                <a:path w="2078209" h="932260">
                  <a:moveTo>
                    <a:pt x="0" y="0"/>
                  </a:moveTo>
                  <a:lnTo>
                    <a:pt x="2078209" y="0"/>
                  </a:lnTo>
                  <a:lnTo>
                    <a:pt x="2078209" y="932260"/>
                  </a:lnTo>
                  <a:lnTo>
                    <a:pt x="0" y="93226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8209" cy="989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73485" y="1456435"/>
            <a:ext cx="5352137" cy="7328281"/>
            <a:chOff x="0" y="0"/>
            <a:chExt cx="829186" cy="11353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9186" cy="1135343"/>
            </a:xfrm>
            <a:custGeom>
              <a:avLst/>
              <a:gdLst/>
              <a:ahLst/>
              <a:cxnLst/>
              <a:rect l="l" t="t" r="r" b="b"/>
              <a:pathLst>
                <a:path w="829186" h="1135343">
                  <a:moveTo>
                    <a:pt x="0" y="0"/>
                  </a:moveTo>
                  <a:lnTo>
                    <a:pt x="829186" y="0"/>
                  </a:lnTo>
                  <a:lnTo>
                    <a:pt x="829186" y="1135343"/>
                  </a:lnTo>
                  <a:lnTo>
                    <a:pt x="0" y="1135343"/>
                  </a:lnTo>
                  <a:close/>
                </a:path>
              </a:pathLst>
            </a:custGeom>
            <a:blipFill>
              <a:blip r:embed="rId2"/>
              <a:stretch>
                <a:fillRect r="-3692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850330" y="1479359"/>
            <a:ext cx="5352137" cy="7328281"/>
            <a:chOff x="0" y="0"/>
            <a:chExt cx="829186" cy="11353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9186" cy="1135343"/>
            </a:xfrm>
            <a:custGeom>
              <a:avLst/>
              <a:gdLst/>
              <a:ahLst/>
              <a:cxnLst/>
              <a:rect l="l" t="t" r="r" b="b"/>
              <a:pathLst>
                <a:path w="829186" h="1135343">
                  <a:moveTo>
                    <a:pt x="0" y="0"/>
                  </a:moveTo>
                  <a:lnTo>
                    <a:pt x="829186" y="0"/>
                  </a:lnTo>
                  <a:lnTo>
                    <a:pt x="829186" y="1135343"/>
                  </a:lnTo>
                  <a:lnTo>
                    <a:pt x="0" y="1135343"/>
                  </a:lnTo>
                  <a:close/>
                </a:path>
              </a:pathLst>
            </a:custGeom>
            <a:blipFill>
              <a:blip r:embed="rId3"/>
              <a:stretch>
                <a:fillRect l="-78001" r="-6541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445912" y="1921647"/>
            <a:ext cx="657538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48"/>
              </a:lnSpc>
            </a:pPr>
            <a:r>
              <a:rPr lang="en-US" sz="4800" dirty="0" smtClean="0"/>
              <a:t>KOSMOLOGIK AHAMIYATI</a:t>
            </a: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78250" y="3444776"/>
            <a:ext cx="7662099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koinotning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kengayayotganini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ko‘rsatadi</a:t>
            </a:r>
            <a:endParaRPr lang="en-US" sz="2599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Galaktikalar</a:t>
            </a:r>
            <a:r>
              <a:rPr lang="en-US" sz="2599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bir-biridan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uzoqlashayotganini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aniqlash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imkonini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beradi</a:t>
            </a:r>
            <a:endParaRPr lang="en-US" sz="2599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Bu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hodisa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Big Bang theory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tasdiqlovchi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muhim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dalillardan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biridir</a:t>
            </a:r>
            <a:endParaRPr lang="en-US" sz="2599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Qizil</a:t>
            </a:r>
            <a:r>
              <a:rPr lang="en-US" sz="2599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siljish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orqali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galaktikalarning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tezligi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masofasi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hisoblanadi</a:t>
            </a:r>
            <a:endParaRPr lang="en-US" sz="2599" b="1" dirty="0" smtClean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Koinotning</a:t>
            </a:r>
            <a:r>
              <a:rPr lang="en-US" sz="2599" b="1" dirty="0" smtClean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yoshi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rivojlanish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bosqichlarini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o‘rganishda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muhim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rol</a:t>
            </a:r>
            <a:r>
              <a:rPr lang="en-US" sz="2599" b="1" dirty="0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599" b="1" dirty="0" err="1">
                <a:solidFill>
                  <a:srgbClr val="FFCC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o‘ynaydi</a:t>
            </a:r>
            <a:endParaRPr lang="en-US" sz="2599" b="1" dirty="0">
              <a:solidFill>
                <a:srgbClr val="FFCC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16325" y="6064348"/>
            <a:ext cx="10338275" cy="3193952"/>
            <a:chOff x="0" y="0"/>
            <a:chExt cx="2592388" cy="8412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2388" cy="841206"/>
            </a:xfrm>
            <a:custGeom>
              <a:avLst/>
              <a:gdLst/>
              <a:ahLst/>
              <a:cxnLst/>
              <a:rect l="l" t="t" r="r" b="b"/>
              <a:pathLst>
                <a:path w="2592388" h="841206">
                  <a:moveTo>
                    <a:pt x="0" y="0"/>
                  </a:moveTo>
                  <a:lnTo>
                    <a:pt x="2592388" y="0"/>
                  </a:lnTo>
                  <a:lnTo>
                    <a:pt x="2592388" y="841206"/>
                  </a:lnTo>
                  <a:lnTo>
                    <a:pt x="0" y="84120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92388" cy="888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3096533" y="4942260"/>
            <a:ext cx="1219507" cy="7412573"/>
            <a:chOff x="0" y="0"/>
            <a:chExt cx="321187" cy="1952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1187" cy="1952283"/>
            </a:xfrm>
            <a:custGeom>
              <a:avLst/>
              <a:gdLst/>
              <a:ahLst/>
              <a:cxnLst/>
              <a:rect l="l" t="t" r="r" b="b"/>
              <a:pathLst>
                <a:path w="321187" h="1952283">
                  <a:moveTo>
                    <a:pt x="0" y="0"/>
                  </a:moveTo>
                  <a:lnTo>
                    <a:pt x="321187" y="0"/>
                  </a:lnTo>
                  <a:lnTo>
                    <a:pt x="321187" y="1952283"/>
                  </a:lnTo>
                  <a:lnTo>
                    <a:pt x="0" y="1952283"/>
                  </a:ln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21187" cy="2009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6010388" cy="6632624"/>
            <a:chOff x="0" y="0"/>
            <a:chExt cx="931166" cy="1027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1166" cy="1027567"/>
            </a:xfrm>
            <a:custGeom>
              <a:avLst/>
              <a:gdLst/>
              <a:ahLst/>
              <a:cxnLst/>
              <a:rect l="l" t="t" r="r" b="b"/>
              <a:pathLst>
                <a:path w="931166" h="1027567">
                  <a:moveTo>
                    <a:pt x="0" y="0"/>
                  </a:moveTo>
                  <a:lnTo>
                    <a:pt x="931166" y="0"/>
                  </a:lnTo>
                  <a:lnTo>
                    <a:pt x="931166" y="1027567"/>
                  </a:lnTo>
                  <a:lnTo>
                    <a:pt x="0" y="1027567"/>
                  </a:lnTo>
                  <a:close/>
                </a:path>
              </a:pathLst>
            </a:custGeom>
            <a:blipFill>
              <a:blip r:embed="rId2"/>
              <a:stretch>
                <a:fillRect t="-37426" r="-16960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416325" y="1028700"/>
            <a:ext cx="9842975" cy="4642562"/>
            <a:chOff x="0" y="0"/>
            <a:chExt cx="1524934" cy="7192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934" cy="719254"/>
            </a:xfrm>
            <a:custGeom>
              <a:avLst/>
              <a:gdLst/>
              <a:ahLst/>
              <a:cxnLst/>
              <a:rect l="l" t="t" r="r" b="b"/>
              <a:pathLst>
                <a:path w="1524934" h="719254">
                  <a:moveTo>
                    <a:pt x="0" y="0"/>
                  </a:moveTo>
                  <a:lnTo>
                    <a:pt x="1524934" y="0"/>
                  </a:lnTo>
                  <a:lnTo>
                    <a:pt x="1524934" y="719254"/>
                  </a:lnTo>
                  <a:lnTo>
                    <a:pt x="0" y="719254"/>
                  </a:lnTo>
                  <a:close/>
                </a:path>
              </a:pathLst>
            </a:custGeom>
            <a:blipFill>
              <a:blip r:embed="rId2"/>
              <a:stretch>
                <a:fillRect l="-64830" t="-54473" b="-4210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1733" y="6206182"/>
            <a:ext cx="10094804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Galaktikalar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yulduzlarning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tezligini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aniqlash</a:t>
            </a:r>
            <a:endParaRPr lang="en-US" sz="2200" b="1" dirty="0" smtClean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Ularning</a:t>
            </a:r>
            <a:r>
              <a:rPr lang="en-US" sz="2200" b="1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Yerga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nisbatan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masofasini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hisoblash</a:t>
            </a:r>
            <a:endParaRPr lang="en-US" sz="2200" b="1" dirty="0" smtClean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Koinotning</a:t>
            </a:r>
            <a:r>
              <a:rPr lang="en-US" sz="2200" b="1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kengayish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tezligini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aniqlash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(Hubble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qonuni</a:t>
            </a:r>
            <a:r>
              <a:rPr lang="en-US" sz="2200" b="1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Astronomik</a:t>
            </a:r>
            <a:r>
              <a:rPr lang="en-US" sz="2200" b="1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kuzatuvlarda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obyektlarning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harakat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yo‘nalishini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aniqlash</a:t>
            </a:r>
            <a:endParaRPr lang="en-US" sz="2200" b="1" dirty="0" smtClean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b="1" dirty="0" err="1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Zamonaviy</a:t>
            </a:r>
            <a:r>
              <a:rPr lang="en-US" sz="2200" b="1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teleskoplar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masalan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James Webb Space Telescope)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yordamida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chuqur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kosmik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tadqiqotlar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olib</a:t>
            </a:r>
            <a:r>
              <a:rPr lang="en-US" sz="2200" b="1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borish</a:t>
            </a:r>
            <a:endParaRPr lang="en-US" sz="2200" b="1" dirty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800" y="8142769"/>
            <a:ext cx="635328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Amaliy</a:t>
            </a:r>
            <a:r>
              <a:rPr lang="en-US" sz="4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qo‘llanilishi</a:t>
            </a: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386334"/>
            <a:ext cx="2832228" cy="3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WARDIERE INC.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3575" y="432372"/>
            <a:ext cx="153799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25399" y="432372"/>
            <a:ext cx="161660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55072" y="432372"/>
            <a:ext cx="168151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52046" y="759663"/>
            <a:ext cx="10166155" cy="6191453"/>
            <a:chOff x="0" y="0"/>
            <a:chExt cx="1359567" cy="8280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9567" cy="828011"/>
            </a:xfrm>
            <a:custGeom>
              <a:avLst/>
              <a:gdLst/>
              <a:ahLst/>
              <a:cxnLst/>
              <a:rect l="l" t="t" r="r" b="b"/>
              <a:pathLst>
                <a:path w="1359567" h="828011">
                  <a:moveTo>
                    <a:pt x="0" y="0"/>
                  </a:moveTo>
                  <a:lnTo>
                    <a:pt x="1359567" y="0"/>
                  </a:lnTo>
                  <a:lnTo>
                    <a:pt x="1359567" y="828011"/>
                  </a:lnTo>
                  <a:lnTo>
                    <a:pt x="0" y="828011"/>
                  </a:lnTo>
                  <a:close/>
                </a:path>
              </a:pathLst>
            </a:custGeom>
            <a:blipFill>
              <a:blip r:embed="rId3"/>
              <a:stretch>
                <a:fillRect l="-4135" r="-4135"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3157589" y="7387887"/>
            <a:ext cx="4101711" cy="1870413"/>
            <a:chOff x="0" y="0"/>
            <a:chExt cx="1359567" cy="6199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9567" cy="619973"/>
            </a:xfrm>
            <a:custGeom>
              <a:avLst/>
              <a:gdLst/>
              <a:ahLst/>
              <a:cxnLst/>
              <a:rect l="l" t="t" r="r" b="b"/>
              <a:pathLst>
                <a:path w="1359567" h="619973">
                  <a:moveTo>
                    <a:pt x="0" y="0"/>
                  </a:moveTo>
                  <a:lnTo>
                    <a:pt x="1359567" y="0"/>
                  </a:lnTo>
                  <a:lnTo>
                    <a:pt x="1359567" y="619973"/>
                  </a:lnTo>
                  <a:lnTo>
                    <a:pt x="0" y="619973"/>
                  </a:lnTo>
                  <a:close/>
                </a:path>
              </a:pathLst>
            </a:custGeom>
            <a:blipFill>
              <a:blip r:embed="rId4"/>
              <a:stretch>
                <a:fillRect l="-4851" t="-26979" r="-8880" b="-13313"/>
              </a:stretch>
            </a:blipFill>
            <a:ln w="38100" cap="sq">
              <a:solidFill>
                <a:srgbClr val="FFCC0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981075" y="6586402"/>
            <a:ext cx="11523781" cy="267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5"/>
              </a:lnSpc>
              <a:spcBef>
                <a:spcPct val="0"/>
              </a:spcBef>
            </a:pPr>
            <a:r>
              <a:rPr lang="en-US" sz="14761" dirty="0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05670" y="1817984"/>
            <a:ext cx="582513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Qizil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siljish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elektromagnit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nurlanish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to‘lqin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uzunligining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ortishi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hodisa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obyektlarning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uzoqlashayotganini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koinotning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kengayayotganini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tasdiqlovchi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dalildir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kosmologiyada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tushunchalardan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 smtClean="0">
                <a:solidFill>
                  <a:srgbClr val="FFFF00"/>
                </a:solidFill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.</a:t>
            </a:r>
            <a:endParaRPr lang="en-US" sz="3200" dirty="0">
              <a:solidFill>
                <a:srgbClr val="FFFF00"/>
              </a:solidFill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502121" y="1133283"/>
            <a:ext cx="2832228" cy="431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4400" dirty="0" smtClean="0">
                <a:solidFill>
                  <a:srgbClr val="00B050"/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XULOSA</a:t>
            </a:r>
            <a:endParaRPr lang="en-US" sz="4400" dirty="0">
              <a:solidFill>
                <a:srgbClr val="00B050"/>
              </a:solidFill>
              <a:latin typeface="Arial Rounded MT Bold" panose="020F0704030504030204" pitchFamily="34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449</Words>
  <Application>Microsoft Office PowerPoint</Application>
  <PresentationFormat>Произвольный</PresentationFormat>
  <Paragraphs>89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24" baseType="lpstr">
      <vt:lpstr>Work Sans</vt:lpstr>
      <vt:lpstr>Poppins</vt:lpstr>
      <vt:lpstr>Courier New</vt:lpstr>
      <vt:lpstr>Montserrat Bold</vt:lpstr>
      <vt:lpstr>Times New Roman</vt:lpstr>
      <vt:lpstr>Wingdings</vt:lpstr>
      <vt:lpstr>Work Sans Bold</vt:lpstr>
      <vt:lpstr>Bell MT</vt:lpstr>
      <vt:lpstr>Calibri</vt:lpstr>
      <vt:lpstr>Cambria Math</vt:lpstr>
      <vt:lpstr>Sitka Text Semibold</vt:lpstr>
      <vt:lpstr>Arial</vt:lpstr>
      <vt:lpstr>Arial Rounded MT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Administrator</cp:lastModifiedBy>
  <cp:revision>11</cp:revision>
  <dcterms:created xsi:type="dcterms:W3CDTF">2006-08-16T00:00:00Z</dcterms:created>
  <dcterms:modified xsi:type="dcterms:W3CDTF">2026-04-24T09:16:33Z</dcterms:modified>
  <dc:identifier>DAHHvkzps9k</dc:identifier>
</cp:coreProperties>
</file>