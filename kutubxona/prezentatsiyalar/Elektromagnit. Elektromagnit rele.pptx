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grandir Narrow Ultra-Bold" pitchFamily="2" charset="0"/>
      <p:regular r:id="rId14"/>
    </p:embeddedFont>
    <p:embeddedFont>
      <p:font typeface="Bahnschrift" panose="02000000000000000000" pitchFamily="2" charset="0"/>
      <p:regular r:id="rId15"/>
      <p:bold r:id="rId16"/>
    </p:embeddedFont>
    <p:embeddedFont>
      <p:font typeface="Bell MT" panose="02020503060305020303" pitchFamily="18" charset="0"/>
      <p:regular r:id="rId17"/>
      <p:bold r:id="rId18"/>
      <p: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entury" panose="02040604050505020304" pitchFamily="18" charset="0"/>
      <p:regular r:id="rId24"/>
    </p:embeddedFont>
    <p:embeddedFont>
      <p:font typeface="High Tower Text" panose="02040502050506030303" pitchFamily="18" charset="0"/>
      <p:regular r:id="rId25"/>
      <p:italic r:id="rId26"/>
    </p:embeddedFont>
    <p:embeddedFont>
      <p:font typeface="Inter" panose="020B0502030000000004" pitchFamily="34" charset="0"/>
      <p:regular r:id="rId27"/>
    </p:embeddedFont>
    <p:embeddedFont>
      <p:font typeface="Inter Bold" panose="020B0802030000000004" pitchFamily="34" charset="0"/>
      <p:regular r:id="rId28"/>
    </p:embeddedFont>
    <p:embeddedFont>
      <p:font typeface="Inter Heavy" panose="02000503000000020004" pitchFamily="2" charset="0"/>
      <p:regular r:id="rId29"/>
    </p:embeddedFont>
    <p:embeddedFont>
      <p:font typeface="Inter Medium" panose="02000503000000020004" pitchFamily="2" charset="0"/>
      <p:regular r:id="rId30"/>
    </p:embeddedFont>
    <p:embeddedFont>
      <p:font typeface="Open Sans Bold" pitchFamily="2" charset="0"/>
      <p:regular r:id="rId31"/>
    </p:embeddedFont>
    <p:embeddedFont>
      <p:font typeface="Sitka Small Semibold" panose="02000000000000000000" pitchFamily="2" charset="0"/>
      <p:bold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630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18" Type="http://schemas.openxmlformats.org/officeDocument/2006/relationships/font" Target="fonts/font5.fntdata" /><Relationship Id="rId26" Type="http://schemas.openxmlformats.org/officeDocument/2006/relationships/font" Target="fonts/font13.fntdata" /><Relationship Id="rId3" Type="http://schemas.openxmlformats.org/officeDocument/2006/relationships/slide" Target="slides/slide2.xml" /><Relationship Id="rId21" Type="http://schemas.openxmlformats.org/officeDocument/2006/relationships/font" Target="fonts/font8.fntdata" /><Relationship Id="rId34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4.fntdata" /><Relationship Id="rId25" Type="http://schemas.openxmlformats.org/officeDocument/2006/relationships/font" Target="fonts/font12.fntdata" /><Relationship Id="rId33" Type="http://schemas.openxmlformats.org/officeDocument/2006/relationships/font" Target="fonts/font20.fntdata" /><Relationship Id="rId2" Type="http://schemas.openxmlformats.org/officeDocument/2006/relationships/slide" Target="slides/slide1.xml" /><Relationship Id="rId16" Type="http://schemas.openxmlformats.org/officeDocument/2006/relationships/font" Target="fonts/font3.fntdata" /><Relationship Id="rId20" Type="http://schemas.openxmlformats.org/officeDocument/2006/relationships/font" Target="fonts/font7.fntdata" /><Relationship Id="rId29" Type="http://schemas.openxmlformats.org/officeDocument/2006/relationships/font" Target="fonts/font16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11.fntdata" /><Relationship Id="rId32" Type="http://schemas.openxmlformats.org/officeDocument/2006/relationships/font" Target="fonts/font19.fntdata" /><Relationship Id="rId37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font" Target="fonts/font2.fntdata" /><Relationship Id="rId23" Type="http://schemas.openxmlformats.org/officeDocument/2006/relationships/font" Target="fonts/font10.fntdata" /><Relationship Id="rId28" Type="http://schemas.openxmlformats.org/officeDocument/2006/relationships/font" Target="fonts/font15.fntdata" /><Relationship Id="rId36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font" Target="fonts/font6.fntdata" /><Relationship Id="rId31" Type="http://schemas.openxmlformats.org/officeDocument/2006/relationships/font" Target="fonts/font18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1.fntdata" /><Relationship Id="rId22" Type="http://schemas.openxmlformats.org/officeDocument/2006/relationships/font" Target="fonts/font9.fntdata" /><Relationship Id="rId27" Type="http://schemas.openxmlformats.org/officeDocument/2006/relationships/font" Target="fonts/font14.fntdata" /><Relationship Id="rId30" Type="http://schemas.openxmlformats.org/officeDocument/2006/relationships/font" Target="fonts/font17.fntdata" /><Relationship Id="rId35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0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0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0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0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50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7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6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7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8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78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8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8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8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78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9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79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5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75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9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80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6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7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77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7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7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7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5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7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1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.png" /><Relationship Id="rId5" Type="http://schemas.openxmlformats.org/officeDocument/2006/relationships/image" Target="../media/image26.png" /><Relationship Id="rId4" Type="http://schemas.openxmlformats.org/officeDocument/2006/relationships/image" Target="../media/image2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E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2"/>
          <p:cNvGrpSpPr/>
          <p:nvPr/>
        </p:nvGrpSpPr>
        <p:grpSpPr>
          <a:xfrm>
            <a:off x="3540098" y="2970946"/>
            <a:ext cx="11207806" cy="3504659"/>
            <a:chOff x="-62077" y="50276"/>
            <a:chExt cx="2951850" cy="923038"/>
          </a:xfrm>
        </p:grpSpPr>
        <p:sp>
          <p:nvSpPr>
            <p:cNvPr id="1048621" name="Freeform 3"/>
            <p:cNvSpPr/>
            <p:nvPr/>
          </p:nvSpPr>
          <p:spPr>
            <a:xfrm>
              <a:off x="0" y="50276"/>
              <a:ext cx="2827696" cy="923038"/>
            </a:xfrm>
            <a:custGeom>
              <a:avLst/>
              <a:gdLst/>
              <a:ahLst/>
              <a:cxnLst/>
              <a:rect l="l" t="t" r="r" b="b"/>
              <a:pathLst>
                <a:path w="2827696" h="923038">
                  <a:moveTo>
                    <a:pt x="18027" y="0"/>
                  </a:moveTo>
                  <a:lnTo>
                    <a:pt x="2809669" y="0"/>
                  </a:lnTo>
                  <a:cubicBezTo>
                    <a:pt x="2819625" y="0"/>
                    <a:pt x="2827696" y="8071"/>
                    <a:pt x="2827696" y="18027"/>
                  </a:cubicBezTo>
                  <a:lnTo>
                    <a:pt x="2827696" y="905010"/>
                  </a:lnTo>
                  <a:cubicBezTo>
                    <a:pt x="2827696" y="914967"/>
                    <a:pt x="2819625" y="923038"/>
                    <a:pt x="2809669" y="923038"/>
                  </a:cubicBezTo>
                  <a:lnTo>
                    <a:pt x="18027" y="923038"/>
                  </a:lnTo>
                  <a:cubicBezTo>
                    <a:pt x="8071" y="923038"/>
                    <a:pt x="0" y="914967"/>
                    <a:pt x="0" y="905010"/>
                  </a:cubicBezTo>
                  <a:lnTo>
                    <a:pt x="0" y="18027"/>
                  </a:lnTo>
                  <a:cubicBezTo>
                    <a:pt x="0" y="8071"/>
                    <a:pt x="8071" y="0"/>
                    <a:pt x="180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22" name="TextBox 4"/>
            <p:cNvSpPr txBox="1"/>
            <p:nvPr/>
          </p:nvSpPr>
          <p:spPr>
            <a:xfrm>
              <a:off x="-62077" y="127842"/>
              <a:ext cx="2951850" cy="787184"/>
            </a:xfrm>
            <a:prstGeom prst="rect">
              <a:avLst/>
            </a:prstGeom>
          </p:spPr>
          <p:txBody>
            <a:bodyPr lIns="254000" tIns="254000" rIns="254000" bIns="254000" rtlCol="0" anchor="b"/>
            <a:lstStyle/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sz="4400" dirty="0" err="1">
                  <a:latin typeface="Century" panose="02040604050505020304" pitchFamily="18" charset="0"/>
                </a:rPr>
                <a:t>O‘rta</a:t>
              </a:r>
              <a:r>
                <a:rPr lang="en-US" sz="4400" dirty="0">
                  <a:latin typeface="Century" panose="02040604050505020304" pitchFamily="18" charset="0"/>
                </a:rPr>
                <a:t> </a:t>
              </a:r>
              <a:r>
                <a:rPr lang="en-US" sz="4400" dirty="0" err="1">
                  <a:latin typeface="Century" panose="02040604050505020304" pitchFamily="18" charset="0"/>
                </a:rPr>
                <a:t>umumta’lim</a:t>
              </a:r>
              <a:r>
                <a:rPr lang="en-US" sz="4400" dirty="0">
                  <a:latin typeface="Century" panose="02040604050505020304" pitchFamily="18" charset="0"/>
                </a:rPr>
                <a:t> </a:t>
              </a:r>
              <a:r>
                <a:rPr lang="en-US" sz="4400" dirty="0" err="1">
                  <a:latin typeface="Century" panose="02040604050505020304" pitchFamily="18" charset="0"/>
                </a:rPr>
                <a:t>maktablarida</a:t>
              </a:r>
              <a:r>
                <a:rPr lang="en-US" sz="4400" dirty="0">
                  <a:latin typeface="Century" panose="02040604050505020304" pitchFamily="18" charset="0"/>
                </a:rPr>
                <a:t> ‘</a:t>
              </a:r>
              <a:r>
                <a:rPr lang="en-US" sz="4400" dirty="0" err="1">
                  <a:latin typeface="Century" panose="02040604050505020304" pitchFamily="18" charset="0"/>
                </a:rPr>
                <a:t>Elektromagnit</a:t>
              </a:r>
              <a:r>
                <a:rPr lang="en-US" sz="4400" dirty="0">
                  <a:latin typeface="Century" panose="02040604050505020304" pitchFamily="18" charset="0"/>
                </a:rPr>
                <a:t>. </a:t>
              </a:r>
              <a:r>
                <a:rPr lang="en-US" sz="4400" dirty="0" err="1">
                  <a:latin typeface="Century" panose="02040604050505020304" pitchFamily="18" charset="0"/>
                </a:rPr>
                <a:t>Elektromagnit</a:t>
              </a:r>
              <a:r>
                <a:rPr lang="en-US" sz="4400" dirty="0">
                  <a:latin typeface="Century" panose="02040604050505020304" pitchFamily="18" charset="0"/>
                </a:rPr>
                <a:t> </a:t>
              </a:r>
              <a:r>
                <a:rPr lang="en-US" sz="4400" dirty="0" err="1">
                  <a:latin typeface="Century" panose="02040604050505020304" pitchFamily="18" charset="0"/>
                </a:rPr>
                <a:t>rele</a:t>
              </a:r>
              <a:r>
                <a:rPr lang="en-US" sz="4400" dirty="0">
                  <a:latin typeface="Century" panose="02040604050505020304" pitchFamily="18" charset="0"/>
                </a:rPr>
                <a:t>’ </a:t>
              </a:r>
              <a:r>
                <a:rPr lang="en-US" sz="4400" dirty="0" err="1">
                  <a:latin typeface="Century" panose="02040604050505020304" pitchFamily="18" charset="0"/>
                </a:rPr>
                <a:t>mavzusini</a:t>
              </a:r>
              <a:r>
                <a:rPr lang="en-US" sz="4400" dirty="0">
                  <a:latin typeface="Century" panose="02040604050505020304" pitchFamily="18" charset="0"/>
                </a:rPr>
                <a:t> </a:t>
              </a:r>
              <a:r>
                <a:rPr lang="en-US" sz="4400" dirty="0" err="1">
                  <a:latin typeface="Century" panose="02040604050505020304" pitchFamily="18" charset="0"/>
                </a:rPr>
                <a:t>o‘qitish</a:t>
              </a:r>
              <a:r>
                <a:rPr lang="en-US" sz="4400" dirty="0">
                  <a:latin typeface="Century" panose="02040604050505020304" pitchFamily="18" charset="0"/>
                </a:rPr>
                <a:t> </a:t>
              </a:r>
              <a:r>
                <a:rPr lang="en-US" sz="4400" dirty="0" err="1">
                  <a:latin typeface="Century" panose="02040604050505020304" pitchFamily="18" charset="0"/>
                </a:rPr>
                <a:t>metodikasi</a:t>
              </a:r>
              <a:endParaRPr lang="en-US" sz="5400" b="1" dirty="0">
                <a:solidFill>
                  <a:srgbClr val="000001"/>
                </a:solidFill>
                <a:latin typeface="Century" panose="02040604050505020304" pitchFamily="18" charset="0"/>
                <a:ea typeface="Agrandir Narrow Ultra-Bold"/>
                <a:cs typeface="Agrandir Narrow Ultra-Bold"/>
                <a:sym typeface="Agrandir Narrow Ultra-Bold"/>
              </a:endParaRPr>
            </a:p>
          </p:txBody>
        </p:sp>
      </p:grpSp>
      <p:grpSp>
        <p:nvGrpSpPr>
          <p:cNvPr id="42" name="Group 5"/>
          <p:cNvGrpSpPr/>
          <p:nvPr/>
        </p:nvGrpSpPr>
        <p:grpSpPr>
          <a:xfrm>
            <a:off x="3775795" y="6548800"/>
            <a:ext cx="10736409" cy="1182115"/>
            <a:chOff x="0" y="0"/>
            <a:chExt cx="2508642" cy="301037"/>
          </a:xfrm>
        </p:grpSpPr>
        <p:sp>
          <p:nvSpPr>
            <p:cNvPr id="1048623" name="Freeform 6"/>
            <p:cNvSpPr/>
            <p:nvPr/>
          </p:nvSpPr>
          <p:spPr>
            <a:xfrm>
              <a:off x="0" y="0"/>
              <a:ext cx="2508642" cy="301037"/>
            </a:xfrm>
            <a:custGeom>
              <a:avLst/>
              <a:gdLst/>
              <a:ahLst/>
              <a:cxnLst/>
              <a:rect l="l" t="t" r="r" b="b"/>
              <a:pathLst>
                <a:path w="2508642" h="301037">
                  <a:moveTo>
                    <a:pt x="20320" y="0"/>
                  </a:moveTo>
                  <a:lnTo>
                    <a:pt x="2488322" y="0"/>
                  </a:lnTo>
                  <a:cubicBezTo>
                    <a:pt x="2499545" y="0"/>
                    <a:pt x="2508642" y="9098"/>
                    <a:pt x="2508642" y="20320"/>
                  </a:cubicBezTo>
                  <a:lnTo>
                    <a:pt x="2508642" y="280717"/>
                  </a:lnTo>
                  <a:cubicBezTo>
                    <a:pt x="2508642" y="286106"/>
                    <a:pt x="2506501" y="291275"/>
                    <a:pt x="2502690" y="295085"/>
                  </a:cubicBezTo>
                  <a:cubicBezTo>
                    <a:pt x="2498880" y="298896"/>
                    <a:pt x="2493711" y="301037"/>
                    <a:pt x="2488322" y="301037"/>
                  </a:cubicBezTo>
                  <a:lnTo>
                    <a:pt x="20320" y="301037"/>
                  </a:lnTo>
                  <a:cubicBezTo>
                    <a:pt x="9098" y="301037"/>
                    <a:pt x="0" y="291939"/>
                    <a:pt x="0" y="280717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id="1048624" name="TextBox 7"/>
            <p:cNvSpPr txBox="1"/>
            <p:nvPr/>
          </p:nvSpPr>
          <p:spPr>
            <a:xfrm>
              <a:off x="0" y="56359"/>
              <a:ext cx="2508642" cy="244678"/>
            </a:xfrm>
            <a:prstGeom prst="rect">
              <a:avLst/>
            </a:prstGeom>
          </p:spPr>
          <p:txBody>
            <a:bodyPr lIns="101600" tIns="101600" rIns="101600" bIns="101600" rtlCol="0" anchor="t"/>
            <a:lstStyle/>
            <a:p>
              <a:pPr marL="0" lvl="0" indent="0" algn="ctr">
                <a:lnSpc>
                  <a:spcPts val="4560"/>
                </a:lnSpc>
              </a:pPr>
              <a:r>
                <a:rPr lang="en-US" sz="3800" b="1" dirty="0" err="1">
                  <a:solidFill>
                    <a:srgbClr val="000001"/>
                  </a:solidFill>
                  <a:latin typeface="Century" panose="02040604050505020304" pitchFamily="18" charset="0"/>
                  <a:ea typeface="Inter Medium"/>
                  <a:cs typeface="Inter Medium"/>
                  <a:sym typeface="Inter Medium"/>
                </a:rPr>
                <a:t>Tayyorladi</a:t>
              </a:r>
              <a:r>
                <a:rPr lang="en-US" sz="3800" b="1" dirty="0">
                  <a:solidFill>
                    <a:srgbClr val="000001"/>
                  </a:solidFill>
                  <a:latin typeface="Century" panose="02040604050505020304" pitchFamily="18" charset="0"/>
                  <a:ea typeface="Inter Medium"/>
                  <a:cs typeface="Inter Medium"/>
                  <a:sym typeface="Inter Medium"/>
                </a:rPr>
                <a:t>: </a:t>
              </a:r>
              <a:r>
                <a:rPr lang="uz-Latn-RU" sz="3800" b="1" dirty="0">
                  <a:solidFill>
                    <a:srgbClr val="000001"/>
                  </a:solidFill>
                  <a:latin typeface="Century" panose="02040604050505020304" pitchFamily="18" charset="0"/>
                  <a:ea typeface="Inter Medium"/>
                  <a:cs typeface="Inter Medium"/>
                  <a:sym typeface="Inter Medium"/>
                </a:rPr>
                <a:t>Aminova </a:t>
              </a:r>
              <a:r>
                <a:rPr lang="en-US" sz="3800" b="1" dirty="0" err="1">
                  <a:solidFill>
                    <a:srgbClr val="000001"/>
                  </a:solidFill>
                  <a:latin typeface="Century" panose="02040604050505020304" pitchFamily="18" charset="0"/>
                  <a:ea typeface="Inter Medium"/>
                  <a:cs typeface="Inter Medium"/>
                  <a:sym typeface="Inter Medium"/>
                </a:rPr>
                <a:t>Farangiz</a:t>
              </a:r>
              <a:r>
                <a:rPr lang="en-US" sz="3800" b="1" dirty="0">
                  <a:solidFill>
                    <a:srgbClr val="000001"/>
                  </a:solidFill>
                  <a:latin typeface="Century" panose="02040604050505020304" pitchFamily="18" charset="0"/>
                  <a:ea typeface="Inter Medium"/>
                  <a:cs typeface="Inter Medium"/>
                  <a:sym typeface="Inter Medium"/>
                </a:rPr>
                <a:t> </a:t>
              </a:r>
            </a:p>
          </p:txBody>
        </p:sp>
      </p:grpSp>
      <p:sp>
        <p:nvSpPr>
          <p:cNvPr id="1048625" name="Freeform 8"/>
          <p:cNvSpPr/>
          <p:nvPr/>
        </p:nvSpPr>
        <p:spPr>
          <a:xfrm rot="2699999">
            <a:off x="2864022" y="4287195"/>
            <a:ext cx="1156273" cy="2899744"/>
          </a:xfrm>
          <a:custGeom>
            <a:avLst/>
            <a:gdLst/>
            <a:ahLst/>
            <a:cxnLst/>
            <a:rect l="l" t="t" r="r" b="b"/>
            <a:pathLst>
              <a:path w="1156273" h="2899744">
                <a:moveTo>
                  <a:pt x="0" y="0"/>
                </a:moveTo>
                <a:lnTo>
                  <a:pt x="1156273" y="0"/>
                </a:lnTo>
                <a:lnTo>
                  <a:pt x="1156273" y="2899744"/>
                </a:lnTo>
                <a:lnTo>
                  <a:pt x="0" y="2899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48626" name="Freeform 9"/>
          <p:cNvSpPr/>
          <p:nvPr/>
        </p:nvSpPr>
        <p:spPr>
          <a:xfrm rot="-2118277">
            <a:off x="14031569" y="3003657"/>
            <a:ext cx="3325291" cy="4716725"/>
          </a:xfrm>
          <a:custGeom>
            <a:avLst/>
            <a:gdLst/>
            <a:ahLst/>
            <a:cxnLst/>
            <a:rect l="l" t="t" r="r" b="b"/>
            <a:pathLst>
              <a:path w="3325291" h="4716725">
                <a:moveTo>
                  <a:pt x="0" y="0"/>
                </a:moveTo>
                <a:lnTo>
                  <a:pt x="3325291" y="0"/>
                </a:lnTo>
                <a:lnTo>
                  <a:pt x="3325291" y="4716724"/>
                </a:lnTo>
                <a:lnTo>
                  <a:pt x="0" y="4716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27" name="Freeform 10"/>
          <p:cNvSpPr/>
          <p:nvPr/>
        </p:nvSpPr>
        <p:spPr>
          <a:xfrm rot="1855922">
            <a:off x="6710090" y="259835"/>
            <a:ext cx="5629820" cy="992256"/>
          </a:xfrm>
          <a:custGeom>
            <a:avLst/>
            <a:gdLst/>
            <a:ahLst/>
            <a:cxnLst/>
            <a:rect l="l" t="t" r="r" b="b"/>
            <a:pathLst>
              <a:path w="5629820" h="992256">
                <a:moveTo>
                  <a:pt x="0" y="0"/>
                </a:moveTo>
                <a:lnTo>
                  <a:pt x="5629820" y="0"/>
                </a:lnTo>
                <a:lnTo>
                  <a:pt x="5629820" y="992255"/>
                </a:lnTo>
                <a:lnTo>
                  <a:pt x="0" y="9922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48628" name="Freeform 11"/>
          <p:cNvSpPr/>
          <p:nvPr/>
        </p:nvSpPr>
        <p:spPr>
          <a:xfrm rot="8687491">
            <a:off x="13758590" y="9120021"/>
            <a:ext cx="5629820" cy="992256"/>
          </a:xfrm>
          <a:custGeom>
            <a:avLst/>
            <a:gdLst/>
            <a:ahLst/>
            <a:cxnLst/>
            <a:rect l="l" t="t" r="r" b="b"/>
            <a:pathLst>
              <a:path w="5629820" h="992256">
                <a:moveTo>
                  <a:pt x="0" y="0"/>
                </a:moveTo>
                <a:lnTo>
                  <a:pt x="5629820" y="0"/>
                </a:lnTo>
                <a:lnTo>
                  <a:pt x="5629820" y="992256"/>
                </a:lnTo>
                <a:lnTo>
                  <a:pt x="0" y="992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48629" name="Freeform 12"/>
          <p:cNvSpPr/>
          <p:nvPr/>
        </p:nvSpPr>
        <p:spPr>
          <a:xfrm rot="-10800000">
            <a:off x="16420275" y="1181547"/>
            <a:ext cx="3014386" cy="1446905"/>
          </a:xfrm>
          <a:custGeom>
            <a:avLst/>
            <a:gdLst/>
            <a:ahLst/>
            <a:cxnLst/>
            <a:rect l="l" t="t" r="r" b="b"/>
            <a:pathLst>
              <a:path w="3014386" h="1446905">
                <a:moveTo>
                  <a:pt x="0" y="0"/>
                </a:moveTo>
                <a:lnTo>
                  <a:pt x="3014386" y="0"/>
                </a:lnTo>
                <a:lnTo>
                  <a:pt x="3014386" y="1446906"/>
                </a:lnTo>
                <a:lnTo>
                  <a:pt x="0" y="1446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48630" name="Freeform 13"/>
          <p:cNvSpPr/>
          <p:nvPr/>
        </p:nvSpPr>
        <p:spPr>
          <a:xfrm rot="-2267321">
            <a:off x="1852039" y="10087371"/>
            <a:ext cx="7671380" cy="1387241"/>
          </a:xfrm>
          <a:custGeom>
            <a:avLst/>
            <a:gdLst/>
            <a:ahLst/>
            <a:cxnLst/>
            <a:rect l="l" t="t" r="r" b="b"/>
            <a:pathLst>
              <a:path w="7671380" h="1387241">
                <a:moveTo>
                  <a:pt x="0" y="0"/>
                </a:moveTo>
                <a:lnTo>
                  <a:pt x="7671381" y="0"/>
                </a:lnTo>
                <a:lnTo>
                  <a:pt x="7671381" y="1387241"/>
                </a:lnTo>
                <a:lnTo>
                  <a:pt x="0" y="1387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48631" name="Freeform 14"/>
          <p:cNvSpPr/>
          <p:nvPr/>
        </p:nvSpPr>
        <p:spPr>
          <a:xfrm rot="-10800000">
            <a:off x="1451755" y="-424951"/>
            <a:ext cx="1559409" cy="4172331"/>
          </a:xfrm>
          <a:custGeom>
            <a:avLst/>
            <a:gdLst/>
            <a:ahLst/>
            <a:cxnLst/>
            <a:rect l="l" t="t" r="r" b="b"/>
            <a:pathLst>
              <a:path w="1559409" h="4172331">
                <a:moveTo>
                  <a:pt x="0" y="0"/>
                </a:moveTo>
                <a:lnTo>
                  <a:pt x="1559408" y="0"/>
                </a:lnTo>
                <a:lnTo>
                  <a:pt x="1559408" y="4172331"/>
                </a:lnTo>
                <a:lnTo>
                  <a:pt x="0" y="41723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48632" name="Freeform 15"/>
          <p:cNvSpPr/>
          <p:nvPr/>
        </p:nvSpPr>
        <p:spPr>
          <a:xfrm rot="-9483364">
            <a:off x="-2171089" y="6135558"/>
            <a:ext cx="5851051" cy="2793877"/>
          </a:xfrm>
          <a:custGeom>
            <a:avLst/>
            <a:gdLst/>
            <a:ahLst/>
            <a:cxnLst/>
            <a:rect l="l" t="t" r="r" b="b"/>
            <a:pathLst>
              <a:path w="5851051" h="2793877">
                <a:moveTo>
                  <a:pt x="0" y="0"/>
                </a:moveTo>
                <a:lnTo>
                  <a:pt x="5851051" y="0"/>
                </a:lnTo>
                <a:lnTo>
                  <a:pt x="5851051" y="2793877"/>
                </a:lnTo>
                <a:lnTo>
                  <a:pt x="0" y="27938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E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-190500" y="7230265"/>
            <a:ext cx="18669000" cy="3247235"/>
            <a:chOff x="0" y="0"/>
            <a:chExt cx="4741333" cy="824695"/>
          </a:xfrm>
        </p:grpSpPr>
        <p:sp>
          <p:nvSpPr>
            <p:cNvPr id="1048633" name="Freeform 3"/>
            <p:cNvSpPr/>
            <p:nvPr/>
          </p:nvSpPr>
          <p:spPr>
            <a:xfrm>
              <a:off x="0" y="0"/>
              <a:ext cx="4741333" cy="824695"/>
            </a:xfrm>
            <a:custGeom>
              <a:avLst/>
              <a:gdLst/>
              <a:ahLst/>
              <a:cxnLst/>
              <a:rect l="l" t="t" r="r" b="b"/>
              <a:pathLst>
                <a:path w="4741333" h="824695">
                  <a:moveTo>
                    <a:pt x="0" y="0"/>
                  </a:moveTo>
                  <a:lnTo>
                    <a:pt x="4741333" y="0"/>
                  </a:lnTo>
                  <a:lnTo>
                    <a:pt x="4741333" y="824695"/>
                  </a:lnTo>
                  <a:lnTo>
                    <a:pt x="0" y="824695"/>
                  </a:lnTo>
                  <a:close/>
                </a:path>
              </a:pathLst>
            </a:custGeom>
            <a:solidFill>
              <a:srgbClr val="384766"/>
            </a:solidFill>
            <a:ln cap="sq">
              <a:noFill/>
              <a:prstDash val="solid"/>
              <a:miter/>
            </a:ln>
          </p:spPr>
        </p:sp>
        <p:sp>
          <p:nvSpPr>
            <p:cNvPr id="1048634" name="TextBox 4"/>
            <p:cNvSpPr txBox="1"/>
            <p:nvPr/>
          </p:nvSpPr>
          <p:spPr>
            <a:xfrm>
              <a:off x="0" y="38100"/>
              <a:ext cx="4741333" cy="786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48635" name="Freeform 5"/>
          <p:cNvSpPr/>
          <p:nvPr/>
        </p:nvSpPr>
        <p:spPr>
          <a:xfrm>
            <a:off x="6667500" y="2568086"/>
            <a:ext cx="10934700" cy="6004414"/>
          </a:xfrm>
          <a:custGeom>
            <a:avLst/>
            <a:gdLst/>
            <a:ahLst/>
            <a:cxnLst/>
            <a:rect l="l" t="t" r="r" b="b"/>
            <a:pathLst>
              <a:path w="10477500" h="4378882">
                <a:moveTo>
                  <a:pt x="0" y="0"/>
                </a:moveTo>
                <a:lnTo>
                  <a:pt x="10477500" y="0"/>
                </a:lnTo>
                <a:lnTo>
                  <a:pt x="10477500" y="4378882"/>
                </a:lnTo>
                <a:lnTo>
                  <a:pt x="0" y="4378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74" t="-38043" r="-2571"/>
            </a:stretch>
          </a:blipFill>
          <a:ln cap="rnd">
            <a:noFill/>
            <a:prstDash val="solid"/>
            <a:round/>
          </a:ln>
        </p:spPr>
      </p:sp>
      <p:grpSp>
        <p:nvGrpSpPr>
          <p:cNvPr id="45" name="Group 6"/>
          <p:cNvGrpSpPr/>
          <p:nvPr/>
        </p:nvGrpSpPr>
        <p:grpSpPr>
          <a:xfrm>
            <a:off x="6667503" y="894268"/>
            <a:ext cx="10934697" cy="1394350"/>
            <a:chOff x="-3449" y="0"/>
            <a:chExt cx="1900610" cy="379432"/>
          </a:xfrm>
        </p:grpSpPr>
        <p:sp>
          <p:nvSpPr>
            <p:cNvPr id="1048636" name="Freeform 7"/>
            <p:cNvSpPr/>
            <p:nvPr/>
          </p:nvSpPr>
          <p:spPr>
            <a:xfrm>
              <a:off x="0" y="0"/>
              <a:ext cx="1897161" cy="379432"/>
            </a:xfrm>
            <a:custGeom>
              <a:avLst/>
              <a:gdLst/>
              <a:ahLst/>
              <a:cxnLst/>
              <a:rect l="l" t="t" r="r" b="b"/>
              <a:pathLst>
                <a:path w="1897161" h="379432">
                  <a:moveTo>
                    <a:pt x="18473" y="0"/>
                  </a:moveTo>
                  <a:lnTo>
                    <a:pt x="1878688" y="0"/>
                  </a:lnTo>
                  <a:cubicBezTo>
                    <a:pt x="1883587" y="0"/>
                    <a:pt x="1888286" y="1946"/>
                    <a:pt x="1891750" y="5411"/>
                  </a:cubicBezTo>
                  <a:cubicBezTo>
                    <a:pt x="1895214" y="8875"/>
                    <a:pt x="1897161" y="13573"/>
                    <a:pt x="1897161" y="18473"/>
                  </a:cubicBezTo>
                  <a:lnTo>
                    <a:pt x="1897161" y="360959"/>
                  </a:lnTo>
                  <a:cubicBezTo>
                    <a:pt x="1897161" y="365859"/>
                    <a:pt x="1895214" y="370557"/>
                    <a:pt x="1891750" y="374022"/>
                  </a:cubicBezTo>
                  <a:cubicBezTo>
                    <a:pt x="1888286" y="377486"/>
                    <a:pt x="1883587" y="379432"/>
                    <a:pt x="1878688" y="379432"/>
                  </a:cubicBezTo>
                  <a:lnTo>
                    <a:pt x="18473" y="379432"/>
                  </a:lnTo>
                  <a:cubicBezTo>
                    <a:pt x="13573" y="379432"/>
                    <a:pt x="8875" y="377486"/>
                    <a:pt x="5411" y="374022"/>
                  </a:cubicBezTo>
                  <a:cubicBezTo>
                    <a:pt x="1946" y="370557"/>
                    <a:pt x="0" y="365859"/>
                    <a:pt x="0" y="360959"/>
                  </a:cubicBezTo>
                  <a:lnTo>
                    <a:pt x="0" y="18473"/>
                  </a:lnTo>
                  <a:cubicBezTo>
                    <a:pt x="0" y="13573"/>
                    <a:pt x="1946" y="8875"/>
                    <a:pt x="5411" y="5411"/>
                  </a:cubicBezTo>
                  <a:cubicBezTo>
                    <a:pt x="8875" y="1946"/>
                    <a:pt x="13573" y="0"/>
                    <a:pt x="18473" y="0"/>
                  </a:cubicBezTo>
                  <a:close/>
                </a:path>
              </a:pathLst>
            </a:custGeom>
            <a:solidFill>
              <a:srgbClr val="F2C748"/>
            </a:solidFill>
          </p:spPr>
        </p:sp>
        <p:sp>
          <p:nvSpPr>
            <p:cNvPr id="1048637" name="TextBox 8"/>
            <p:cNvSpPr txBox="1"/>
            <p:nvPr/>
          </p:nvSpPr>
          <p:spPr>
            <a:xfrm>
              <a:off x="-3449" y="76049"/>
              <a:ext cx="1897160" cy="20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9899"/>
                </a:lnSpc>
              </a:pPr>
              <a:r>
                <a:rPr lang="en-US" sz="8999" b="1" u="none" strike="noStrike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Reja</a:t>
              </a:r>
              <a:r>
                <a:rPr lang="en-US" sz="8999" b="1" u="none" strike="noStrike" dirty="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:</a:t>
              </a:r>
            </a:p>
          </p:txBody>
        </p:sp>
      </p:grpSp>
      <p:sp>
        <p:nvSpPr>
          <p:cNvPr id="1048638" name="Freeform 9"/>
          <p:cNvSpPr/>
          <p:nvPr/>
        </p:nvSpPr>
        <p:spPr>
          <a:xfrm flipH="1">
            <a:off x="895018" y="709152"/>
            <a:ext cx="6134100" cy="9768348"/>
          </a:xfrm>
          <a:custGeom>
            <a:avLst/>
            <a:gdLst/>
            <a:ahLst/>
            <a:cxnLst/>
            <a:rect l="l" t="t" r="r" b="b"/>
            <a:pathLst>
              <a:path w="6134100" h="9768348">
                <a:moveTo>
                  <a:pt x="6134100" y="0"/>
                </a:moveTo>
                <a:lnTo>
                  <a:pt x="0" y="0"/>
                </a:lnTo>
                <a:lnTo>
                  <a:pt x="0" y="9768348"/>
                </a:lnTo>
                <a:lnTo>
                  <a:pt x="6134100" y="9768348"/>
                </a:lnTo>
                <a:lnTo>
                  <a:pt x="6134100" y="0"/>
                </a:lnTo>
                <a:close/>
              </a:path>
            </a:pathLst>
          </a:custGeom>
          <a:blipFill>
            <a:blip r:embed="rId3"/>
            <a:stretch>
              <a:fillRect b="-67455"/>
            </a:stretch>
          </a:blipFill>
        </p:spPr>
      </p:sp>
      <p:sp>
        <p:nvSpPr>
          <p:cNvPr id="1048639" name="TextBox 13"/>
          <p:cNvSpPr txBox="1"/>
          <p:nvPr/>
        </p:nvSpPr>
        <p:spPr>
          <a:xfrm>
            <a:off x="7257251" y="3138358"/>
            <a:ext cx="10325100" cy="4978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0424" lvl="1" indent="-410212">
              <a:lnSpc>
                <a:spcPts val="494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Mavzuning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dolzarbligi</a:t>
            </a:r>
            <a:endParaRPr lang="en-US" sz="4400" b="1" dirty="0">
              <a:solidFill>
                <a:srgbClr val="000001"/>
              </a:solidFill>
              <a:latin typeface="High Tower Text" panose="02040502050506030303" pitchFamily="18" charset="0"/>
              <a:ea typeface="Inter"/>
              <a:cs typeface="Inter"/>
              <a:sym typeface="Inter"/>
            </a:endParaRPr>
          </a:p>
          <a:p>
            <a:pPr marL="820424" lvl="1" indent="-410212">
              <a:lnSpc>
                <a:spcPts val="494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Elektromagnit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hodisalarning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ahamiyati</a:t>
            </a:r>
            <a:endParaRPr lang="en-US" sz="4400" b="1" dirty="0">
              <a:solidFill>
                <a:srgbClr val="000001"/>
              </a:solidFill>
              <a:latin typeface="High Tower Text" panose="02040502050506030303" pitchFamily="18" charset="0"/>
              <a:ea typeface="Inter"/>
              <a:cs typeface="Inter"/>
              <a:sym typeface="Inter"/>
            </a:endParaRPr>
          </a:p>
          <a:p>
            <a:pPr marL="820424" lvl="1" indent="-410212">
              <a:lnSpc>
                <a:spcPts val="494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Ta’limdagi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o‘rni</a:t>
            </a:r>
            <a:endParaRPr lang="en-US" sz="4400" b="1" dirty="0">
              <a:solidFill>
                <a:srgbClr val="000001"/>
              </a:solidFill>
              <a:latin typeface="High Tower Text" panose="02040502050506030303" pitchFamily="18" charset="0"/>
              <a:ea typeface="Inter"/>
              <a:cs typeface="Inter"/>
              <a:sym typeface="Inter"/>
            </a:endParaRPr>
          </a:p>
          <a:p>
            <a:pPr marL="820424" lvl="1" indent="-410212">
              <a:lnSpc>
                <a:spcPts val="494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Elektromagnitning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fizik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mohiyati</a:t>
            </a:r>
            <a:endParaRPr lang="en-US" sz="4400" b="1" dirty="0">
              <a:solidFill>
                <a:srgbClr val="000001"/>
              </a:solidFill>
              <a:latin typeface="High Tower Text" panose="02040502050506030303" pitchFamily="18" charset="0"/>
              <a:ea typeface="Inter"/>
              <a:cs typeface="Inter"/>
              <a:sym typeface="Inter"/>
            </a:endParaRPr>
          </a:p>
          <a:p>
            <a:pPr marL="820424" lvl="1" indent="-410212">
              <a:lnSpc>
                <a:spcPts val="494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Tuzilishi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 (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g‘altak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,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yadro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,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tok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manbai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)</a:t>
            </a:r>
          </a:p>
          <a:p>
            <a:pPr marL="820424" lvl="1" indent="-410212">
              <a:lnSpc>
                <a:spcPts val="494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Ishlash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prinsipi</a:t>
            </a:r>
            <a:endParaRPr lang="en-US" sz="4400" b="1" dirty="0">
              <a:solidFill>
                <a:srgbClr val="000001"/>
              </a:solidFill>
              <a:latin typeface="High Tower Text" panose="02040502050506030303" pitchFamily="18" charset="0"/>
              <a:ea typeface="Inter"/>
              <a:cs typeface="Inter"/>
              <a:sym typeface="Inter"/>
            </a:endParaRPr>
          </a:p>
          <a:p>
            <a:pPr marL="820424" lvl="1" indent="-410212">
              <a:lnSpc>
                <a:spcPts val="494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Amaliy</a:t>
            </a:r>
            <a:r>
              <a:rPr lang="en-US" sz="4400" b="1" dirty="0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 </a:t>
            </a:r>
            <a:r>
              <a:rPr lang="en-US" sz="4400" b="1" dirty="0" err="1">
                <a:solidFill>
                  <a:srgbClr val="000001"/>
                </a:solidFill>
                <a:latin typeface="High Tower Text" panose="02040502050506030303" pitchFamily="18" charset="0"/>
                <a:ea typeface="Inter"/>
                <a:cs typeface="Inter"/>
                <a:sym typeface="Inter"/>
              </a:rPr>
              <a:t>tajribalar</a:t>
            </a:r>
            <a:endParaRPr lang="en-US" sz="4400" b="1" strike="noStrike" dirty="0">
              <a:solidFill>
                <a:srgbClr val="000001"/>
              </a:solidFill>
              <a:latin typeface="High Tower Text" panose="02040502050506030303" pitchFamily="18" charset="0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C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2"/>
          <p:cNvGrpSpPr/>
          <p:nvPr/>
        </p:nvGrpSpPr>
        <p:grpSpPr>
          <a:xfrm>
            <a:off x="8305800" y="6255814"/>
            <a:ext cx="9448800" cy="3154886"/>
            <a:chOff x="0" y="-28575"/>
            <a:chExt cx="1756049" cy="738781"/>
          </a:xfrm>
        </p:grpSpPr>
        <p:sp>
          <p:nvSpPr>
            <p:cNvPr id="1048640" name="Freeform 3"/>
            <p:cNvSpPr/>
            <p:nvPr/>
          </p:nvSpPr>
          <p:spPr>
            <a:xfrm>
              <a:off x="0" y="0"/>
              <a:ext cx="1756049" cy="652247"/>
            </a:xfrm>
            <a:custGeom>
              <a:avLst/>
              <a:gdLst/>
              <a:ahLst/>
              <a:cxnLst/>
              <a:rect l="l" t="t" r="r" b="b"/>
              <a:pathLst>
                <a:path w="1756049" h="652247">
                  <a:moveTo>
                    <a:pt x="29029" y="0"/>
                  </a:moveTo>
                  <a:lnTo>
                    <a:pt x="1727021" y="0"/>
                  </a:lnTo>
                  <a:cubicBezTo>
                    <a:pt x="1734720" y="0"/>
                    <a:pt x="1742103" y="3058"/>
                    <a:pt x="1747547" y="8502"/>
                  </a:cubicBezTo>
                  <a:cubicBezTo>
                    <a:pt x="1752991" y="13946"/>
                    <a:pt x="1756049" y="21330"/>
                    <a:pt x="1756049" y="29029"/>
                  </a:cubicBezTo>
                  <a:lnTo>
                    <a:pt x="1756049" y="623218"/>
                  </a:lnTo>
                  <a:cubicBezTo>
                    <a:pt x="1756049" y="639250"/>
                    <a:pt x="1743053" y="652247"/>
                    <a:pt x="1727021" y="652247"/>
                  </a:cubicBezTo>
                  <a:lnTo>
                    <a:pt x="29029" y="652247"/>
                  </a:lnTo>
                  <a:cubicBezTo>
                    <a:pt x="12997" y="652247"/>
                    <a:pt x="0" y="639250"/>
                    <a:pt x="0" y="623218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41" name="TextBox 4"/>
            <p:cNvSpPr txBox="1"/>
            <p:nvPr/>
          </p:nvSpPr>
          <p:spPr>
            <a:xfrm>
              <a:off x="0" y="-28575"/>
              <a:ext cx="1756049" cy="73878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lvl="0" algn="ctr">
                <a:lnSpc>
                  <a:spcPts val="3640"/>
                </a:lnSpc>
              </a:pP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Elektromagnitga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oid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tajribalar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amaliy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mashg‘ulotlar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o‘quvchilarning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mustaqil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fikrlashini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texnik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ko‘nikmalarini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rivojlantiradi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 Bu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esa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ularning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bilimini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mustahkamlashga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qiziqishini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oshirishga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xizmat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qiladi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</a:p>
          </p:txBody>
        </p:sp>
      </p:grpSp>
      <p:grpSp>
        <p:nvGrpSpPr>
          <p:cNvPr id="48" name="Group 5"/>
          <p:cNvGrpSpPr/>
          <p:nvPr/>
        </p:nvGrpSpPr>
        <p:grpSpPr>
          <a:xfrm>
            <a:off x="-273678" y="-225382"/>
            <a:ext cx="8046078" cy="10893384"/>
            <a:chOff x="0" y="0"/>
            <a:chExt cx="2551042" cy="2869039"/>
          </a:xfrm>
        </p:grpSpPr>
        <p:sp>
          <p:nvSpPr>
            <p:cNvPr id="1048642" name="Freeform 6"/>
            <p:cNvSpPr/>
            <p:nvPr/>
          </p:nvSpPr>
          <p:spPr>
            <a:xfrm>
              <a:off x="0" y="0"/>
              <a:ext cx="2551042" cy="2869039"/>
            </a:xfrm>
            <a:custGeom>
              <a:avLst/>
              <a:gdLst/>
              <a:ahLst/>
              <a:cxnLst/>
              <a:rect l="l" t="t" r="r" b="b"/>
              <a:pathLst>
                <a:path w="2551042" h="2869039">
                  <a:moveTo>
                    <a:pt x="19982" y="0"/>
                  </a:moveTo>
                  <a:lnTo>
                    <a:pt x="2531060" y="0"/>
                  </a:lnTo>
                  <a:cubicBezTo>
                    <a:pt x="2536360" y="0"/>
                    <a:pt x="2541442" y="2105"/>
                    <a:pt x="2545189" y="5853"/>
                  </a:cubicBezTo>
                  <a:cubicBezTo>
                    <a:pt x="2548937" y="9600"/>
                    <a:pt x="2551042" y="14683"/>
                    <a:pt x="2551042" y="19982"/>
                  </a:cubicBezTo>
                  <a:lnTo>
                    <a:pt x="2551042" y="2849057"/>
                  </a:lnTo>
                  <a:cubicBezTo>
                    <a:pt x="2551042" y="2854357"/>
                    <a:pt x="2548937" y="2859439"/>
                    <a:pt x="2545189" y="2863187"/>
                  </a:cubicBezTo>
                  <a:cubicBezTo>
                    <a:pt x="2541442" y="2866934"/>
                    <a:pt x="2536360" y="2869039"/>
                    <a:pt x="2531060" y="2869039"/>
                  </a:cubicBezTo>
                  <a:lnTo>
                    <a:pt x="19982" y="2869039"/>
                  </a:lnTo>
                  <a:cubicBezTo>
                    <a:pt x="14683" y="2869039"/>
                    <a:pt x="9600" y="2866934"/>
                    <a:pt x="5853" y="2863187"/>
                  </a:cubicBezTo>
                  <a:cubicBezTo>
                    <a:pt x="2105" y="2859439"/>
                    <a:pt x="0" y="2854357"/>
                    <a:pt x="0" y="2849057"/>
                  </a:cubicBezTo>
                  <a:lnTo>
                    <a:pt x="0" y="19982"/>
                  </a:lnTo>
                  <a:cubicBezTo>
                    <a:pt x="0" y="14683"/>
                    <a:pt x="2105" y="9600"/>
                    <a:pt x="5853" y="5853"/>
                  </a:cubicBezTo>
                  <a:cubicBezTo>
                    <a:pt x="9600" y="2105"/>
                    <a:pt x="14683" y="0"/>
                    <a:pt x="199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43" name="TextBox 7"/>
            <p:cNvSpPr txBox="1"/>
            <p:nvPr/>
          </p:nvSpPr>
          <p:spPr>
            <a:xfrm>
              <a:off x="0" y="-38100"/>
              <a:ext cx="2551042" cy="2907139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marL="0" lvl="0" indent="0" algn="ctr">
                <a:lnSpc>
                  <a:spcPts val="51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9" name="Group 20"/>
          <p:cNvGrpSpPr/>
          <p:nvPr/>
        </p:nvGrpSpPr>
        <p:grpSpPr>
          <a:xfrm>
            <a:off x="8305800" y="571499"/>
            <a:ext cx="9448800" cy="3055557"/>
            <a:chOff x="0" y="-28575"/>
            <a:chExt cx="1756049" cy="480131"/>
          </a:xfrm>
        </p:grpSpPr>
        <p:sp>
          <p:nvSpPr>
            <p:cNvPr id="1048644" name="Freeform 21"/>
            <p:cNvSpPr/>
            <p:nvPr/>
          </p:nvSpPr>
          <p:spPr>
            <a:xfrm>
              <a:off x="0" y="0"/>
              <a:ext cx="1756049" cy="451556"/>
            </a:xfrm>
            <a:custGeom>
              <a:avLst/>
              <a:gdLst/>
              <a:ahLst/>
              <a:cxnLst/>
              <a:rect l="l" t="t" r="r" b="b"/>
              <a:pathLst>
                <a:path w="1756049" h="451556">
                  <a:moveTo>
                    <a:pt x="29029" y="0"/>
                  </a:moveTo>
                  <a:lnTo>
                    <a:pt x="1727021" y="0"/>
                  </a:lnTo>
                  <a:cubicBezTo>
                    <a:pt x="1734720" y="0"/>
                    <a:pt x="1742103" y="3058"/>
                    <a:pt x="1747547" y="8502"/>
                  </a:cubicBezTo>
                  <a:cubicBezTo>
                    <a:pt x="1752991" y="13946"/>
                    <a:pt x="1756049" y="21330"/>
                    <a:pt x="1756049" y="29029"/>
                  </a:cubicBezTo>
                  <a:lnTo>
                    <a:pt x="1756049" y="422527"/>
                  </a:lnTo>
                  <a:cubicBezTo>
                    <a:pt x="1756049" y="438559"/>
                    <a:pt x="1743053" y="451556"/>
                    <a:pt x="1727021" y="451556"/>
                  </a:cubicBezTo>
                  <a:lnTo>
                    <a:pt x="29029" y="451556"/>
                  </a:lnTo>
                  <a:cubicBezTo>
                    <a:pt x="12997" y="451556"/>
                    <a:pt x="0" y="438559"/>
                    <a:pt x="0" y="422527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45" name="TextBox 22"/>
            <p:cNvSpPr txBox="1"/>
            <p:nvPr/>
          </p:nvSpPr>
          <p:spPr>
            <a:xfrm>
              <a:off x="0" y="-28575"/>
              <a:ext cx="1756049" cy="48013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lvl="0" algn="ctr">
                <a:lnSpc>
                  <a:spcPts val="3640"/>
                </a:lnSpc>
              </a:pP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Elektromagnit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elektromagnit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rele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qurilmalari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zamonaviy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texnika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avtomatika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sanoatda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keng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qo‘llaniladi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Ular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elektr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zanjirlarni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boshqarish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signal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uzatish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qurilmalarni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ishga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tushirishda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muhim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rol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o‘ynaydi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</a:p>
          </p:txBody>
        </p:sp>
      </p:grpSp>
      <p:grpSp>
        <p:nvGrpSpPr>
          <p:cNvPr id="50" name="Group 23"/>
          <p:cNvGrpSpPr/>
          <p:nvPr/>
        </p:nvGrpSpPr>
        <p:grpSpPr>
          <a:xfrm>
            <a:off x="8286361" y="3874564"/>
            <a:ext cx="9468239" cy="1999489"/>
            <a:chOff x="0" y="-28575"/>
            <a:chExt cx="1756049" cy="526615"/>
          </a:xfrm>
        </p:grpSpPr>
        <p:sp>
          <p:nvSpPr>
            <p:cNvPr id="1048646" name="Freeform 24"/>
            <p:cNvSpPr/>
            <p:nvPr/>
          </p:nvSpPr>
          <p:spPr>
            <a:xfrm>
              <a:off x="0" y="46484"/>
              <a:ext cx="1756049" cy="451556"/>
            </a:xfrm>
            <a:custGeom>
              <a:avLst/>
              <a:gdLst/>
              <a:ahLst/>
              <a:cxnLst/>
              <a:rect l="l" t="t" r="r" b="b"/>
              <a:pathLst>
                <a:path w="1756049" h="451556">
                  <a:moveTo>
                    <a:pt x="29029" y="0"/>
                  </a:moveTo>
                  <a:lnTo>
                    <a:pt x="1727021" y="0"/>
                  </a:lnTo>
                  <a:cubicBezTo>
                    <a:pt x="1734720" y="0"/>
                    <a:pt x="1742103" y="3058"/>
                    <a:pt x="1747547" y="8502"/>
                  </a:cubicBezTo>
                  <a:cubicBezTo>
                    <a:pt x="1752991" y="13946"/>
                    <a:pt x="1756049" y="21330"/>
                    <a:pt x="1756049" y="29029"/>
                  </a:cubicBezTo>
                  <a:lnTo>
                    <a:pt x="1756049" y="422527"/>
                  </a:lnTo>
                  <a:cubicBezTo>
                    <a:pt x="1756049" y="438559"/>
                    <a:pt x="1743053" y="451556"/>
                    <a:pt x="1727021" y="451556"/>
                  </a:cubicBezTo>
                  <a:lnTo>
                    <a:pt x="29029" y="451556"/>
                  </a:lnTo>
                  <a:cubicBezTo>
                    <a:pt x="12997" y="451556"/>
                    <a:pt x="0" y="438559"/>
                    <a:pt x="0" y="422527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47" name="TextBox 25"/>
            <p:cNvSpPr txBox="1"/>
            <p:nvPr/>
          </p:nvSpPr>
          <p:spPr>
            <a:xfrm>
              <a:off x="0" y="-28575"/>
              <a:ext cx="1756049" cy="48013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lvl="0" algn="ctr">
                <a:lnSpc>
                  <a:spcPts val="3640"/>
                </a:lnSpc>
              </a:pP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Bu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mavzu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o‘quvchilarga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elektr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magnit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hodisalarni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tushunishda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asos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bo‘lib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xizmat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8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qiladi</a:t>
              </a:r>
              <a:r>
                <a:rPr lang="en-US" sz="28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</a:p>
          </p:txBody>
        </p:sp>
      </p:grpSp>
      <p:grpSp>
        <p:nvGrpSpPr>
          <p:cNvPr id="51" name="Group 26"/>
          <p:cNvGrpSpPr/>
          <p:nvPr/>
        </p:nvGrpSpPr>
        <p:grpSpPr>
          <a:xfrm>
            <a:off x="12593284" y="3316310"/>
            <a:ext cx="571500" cy="571500"/>
            <a:chOff x="0" y="0"/>
            <a:chExt cx="762000" cy="762000"/>
          </a:xfrm>
        </p:grpSpPr>
        <p:grpSp>
          <p:nvGrpSpPr>
            <p:cNvPr id="52" name="Group 27"/>
            <p:cNvGrpSpPr/>
            <p:nvPr/>
          </p:nvGrpSpPr>
          <p:grpSpPr>
            <a:xfrm>
              <a:off x="0" y="0"/>
              <a:ext cx="762000" cy="762000"/>
              <a:chOff x="0" y="0"/>
              <a:chExt cx="812800" cy="812800"/>
            </a:xfrm>
          </p:grpSpPr>
          <p:sp>
            <p:nvSpPr>
              <p:cNvPr id="104864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04864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000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  <p:sp>
          <p:nvSpPr>
            <p:cNvPr id="1048650" name="Freeform 30"/>
            <p:cNvSpPr/>
            <p:nvPr/>
          </p:nvSpPr>
          <p:spPr>
            <a:xfrm rot="5400000">
              <a:off x="209343" y="171243"/>
              <a:ext cx="343316" cy="457200"/>
            </a:xfrm>
            <a:custGeom>
              <a:avLst/>
              <a:gdLst/>
              <a:ahLst/>
              <a:cxnLst/>
              <a:rect l="l" t="t" r="r" b="b"/>
              <a:pathLst>
                <a:path w="343316" h="457200">
                  <a:moveTo>
                    <a:pt x="0" y="0"/>
                  </a:moveTo>
                  <a:lnTo>
                    <a:pt x="343316" y="0"/>
                  </a:lnTo>
                  <a:lnTo>
                    <a:pt x="34331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3" name="Group 31"/>
          <p:cNvGrpSpPr/>
          <p:nvPr/>
        </p:nvGrpSpPr>
        <p:grpSpPr>
          <a:xfrm>
            <a:off x="12593284" y="5482521"/>
            <a:ext cx="571500" cy="571500"/>
            <a:chOff x="0" y="0"/>
            <a:chExt cx="762000" cy="762000"/>
          </a:xfrm>
        </p:grpSpPr>
        <p:grpSp>
          <p:nvGrpSpPr>
            <p:cNvPr id="54" name="Group 32"/>
            <p:cNvGrpSpPr/>
            <p:nvPr/>
          </p:nvGrpSpPr>
          <p:grpSpPr>
            <a:xfrm>
              <a:off x="0" y="0"/>
              <a:ext cx="762000" cy="762000"/>
              <a:chOff x="0" y="0"/>
              <a:chExt cx="812800" cy="812800"/>
            </a:xfrm>
          </p:grpSpPr>
          <p:sp>
            <p:nvSpPr>
              <p:cNvPr id="1048651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048652" name="TextBox 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0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48653" name="Freeform 35"/>
            <p:cNvSpPr/>
            <p:nvPr/>
          </p:nvSpPr>
          <p:spPr>
            <a:xfrm rot="5400000">
              <a:off x="209342" y="171242"/>
              <a:ext cx="343316" cy="457200"/>
            </a:xfrm>
            <a:custGeom>
              <a:avLst/>
              <a:gdLst/>
              <a:ahLst/>
              <a:cxnLst/>
              <a:rect l="l" t="t" r="r" b="b"/>
              <a:pathLst>
                <a:path w="343316" h="457200">
                  <a:moveTo>
                    <a:pt x="0" y="0"/>
                  </a:moveTo>
                  <a:lnTo>
                    <a:pt x="343316" y="0"/>
                  </a:lnTo>
                  <a:lnTo>
                    <a:pt x="34331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48654" name="TextBox 36"/>
          <p:cNvSpPr txBox="1"/>
          <p:nvPr/>
        </p:nvSpPr>
        <p:spPr>
          <a:xfrm>
            <a:off x="609600" y="1040516"/>
            <a:ext cx="6667500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6999" b="1" dirty="0" err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Mavzuning</a:t>
            </a:r>
            <a:r>
              <a:rPr lang="en-US" sz="6999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 </a:t>
            </a:r>
            <a:r>
              <a:rPr lang="en-US" sz="6999" b="1" dirty="0" err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dolzarbligi</a:t>
            </a:r>
            <a:r>
              <a:rPr lang="en-US" sz="6999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?</a:t>
            </a:r>
          </a:p>
        </p:txBody>
      </p:sp>
      <p:pic>
        <p:nvPicPr>
          <p:cNvPr id="2097153" name="Рисунок 36"/>
          <p:cNvPicPr>
            <a:picLocks noChangeAspect="1"/>
          </p:cNvPicPr>
          <p:nvPr/>
        </p:nvPicPr>
        <p:blipFill rotWithShape="1">
          <a:blip r:embed="rId3"/>
          <a:srcRect t="7460" b="12168"/>
          <a:stretch>
            <a:fillRect/>
          </a:stretch>
        </p:blipFill>
        <p:spPr>
          <a:xfrm>
            <a:off x="-162136" y="3911452"/>
            <a:ext cx="7756239" cy="468872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E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2"/>
          <p:cNvGrpSpPr/>
          <p:nvPr/>
        </p:nvGrpSpPr>
        <p:grpSpPr>
          <a:xfrm>
            <a:off x="1143000" y="2987206"/>
            <a:ext cx="16002000" cy="6537794"/>
            <a:chOff x="0" y="0"/>
            <a:chExt cx="4214519" cy="1721888"/>
          </a:xfrm>
        </p:grpSpPr>
        <p:sp>
          <p:nvSpPr>
            <p:cNvPr id="1048655" name="Freeform 3"/>
            <p:cNvSpPr/>
            <p:nvPr/>
          </p:nvSpPr>
          <p:spPr>
            <a:xfrm>
              <a:off x="0" y="0"/>
              <a:ext cx="4214518" cy="1721888"/>
            </a:xfrm>
            <a:custGeom>
              <a:avLst/>
              <a:gdLst/>
              <a:ahLst/>
              <a:cxnLst/>
              <a:rect l="l" t="t" r="r" b="b"/>
              <a:pathLst>
                <a:path w="4214518" h="1721888">
                  <a:moveTo>
                    <a:pt x="12095" y="0"/>
                  </a:moveTo>
                  <a:lnTo>
                    <a:pt x="4202423" y="0"/>
                  </a:lnTo>
                  <a:cubicBezTo>
                    <a:pt x="4205631" y="0"/>
                    <a:pt x="4208707" y="1274"/>
                    <a:pt x="4210976" y="3543"/>
                  </a:cubicBezTo>
                  <a:cubicBezTo>
                    <a:pt x="4213244" y="5811"/>
                    <a:pt x="4214518" y="8887"/>
                    <a:pt x="4214518" y="12095"/>
                  </a:cubicBezTo>
                  <a:lnTo>
                    <a:pt x="4214518" y="1709793"/>
                  </a:lnTo>
                  <a:cubicBezTo>
                    <a:pt x="4214518" y="1716473"/>
                    <a:pt x="4209103" y="1721888"/>
                    <a:pt x="4202423" y="1721888"/>
                  </a:cubicBezTo>
                  <a:lnTo>
                    <a:pt x="12095" y="1721888"/>
                  </a:lnTo>
                  <a:cubicBezTo>
                    <a:pt x="8887" y="1721888"/>
                    <a:pt x="5811" y="1720614"/>
                    <a:pt x="3543" y="1718346"/>
                  </a:cubicBezTo>
                  <a:cubicBezTo>
                    <a:pt x="1274" y="1716077"/>
                    <a:pt x="0" y="1713001"/>
                    <a:pt x="0" y="1709793"/>
                  </a:cubicBezTo>
                  <a:lnTo>
                    <a:pt x="0" y="12095"/>
                  </a:lnTo>
                  <a:cubicBezTo>
                    <a:pt x="0" y="8887"/>
                    <a:pt x="1274" y="5811"/>
                    <a:pt x="3543" y="3543"/>
                  </a:cubicBezTo>
                  <a:cubicBezTo>
                    <a:pt x="5811" y="1274"/>
                    <a:pt x="8887" y="0"/>
                    <a:pt x="12095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id="1048656" name="TextBox 4"/>
            <p:cNvSpPr txBox="1"/>
            <p:nvPr/>
          </p:nvSpPr>
          <p:spPr>
            <a:xfrm>
              <a:off x="0" y="0"/>
              <a:ext cx="4214519" cy="1721888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marL="0" lvl="0" indent="0"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57" name="Group 5"/>
          <p:cNvGrpSpPr/>
          <p:nvPr/>
        </p:nvGrpSpPr>
        <p:grpSpPr>
          <a:xfrm>
            <a:off x="6858000" y="2710121"/>
            <a:ext cx="4572000" cy="2887782"/>
            <a:chOff x="0" y="0"/>
            <a:chExt cx="1226447" cy="1158652"/>
          </a:xfrm>
        </p:grpSpPr>
        <p:sp>
          <p:nvSpPr>
            <p:cNvPr id="1048657" name="Freeform 6"/>
            <p:cNvSpPr/>
            <p:nvPr/>
          </p:nvSpPr>
          <p:spPr>
            <a:xfrm>
              <a:off x="0" y="0"/>
              <a:ext cx="1226447" cy="1158652"/>
            </a:xfrm>
            <a:custGeom>
              <a:avLst/>
              <a:gdLst/>
              <a:ahLst/>
              <a:cxnLst/>
              <a:rect l="l" t="t" r="r" b="b"/>
              <a:pathLst>
                <a:path w="1226447" h="1158652">
                  <a:moveTo>
                    <a:pt x="42333" y="0"/>
                  </a:moveTo>
                  <a:lnTo>
                    <a:pt x="1184114" y="0"/>
                  </a:lnTo>
                  <a:cubicBezTo>
                    <a:pt x="1207494" y="0"/>
                    <a:pt x="1226447" y="18953"/>
                    <a:pt x="1226447" y="42333"/>
                  </a:cubicBezTo>
                  <a:lnTo>
                    <a:pt x="1226447" y="1116319"/>
                  </a:lnTo>
                  <a:cubicBezTo>
                    <a:pt x="1226447" y="1127547"/>
                    <a:pt x="1221987" y="1138314"/>
                    <a:pt x="1214048" y="1146253"/>
                  </a:cubicBezTo>
                  <a:cubicBezTo>
                    <a:pt x="1206109" y="1154192"/>
                    <a:pt x="1195341" y="1158652"/>
                    <a:pt x="1184114" y="1158652"/>
                  </a:cubicBezTo>
                  <a:lnTo>
                    <a:pt x="42333" y="1158652"/>
                  </a:lnTo>
                  <a:cubicBezTo>
                    <a:pt x="31106" y="1158652"/>
                    <a:pt x="20338" y="1154192"/>
                    <a:pt x="12399" y="1146253"/>
                  </a:cubicBezTo>
                  <a:cubicBezTo>
                    <a:pt x="4460" y="1138314"/>
                    <a:pt x="0" y="1127547"/>
                    <a:pt x="0" y="111631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58" name="TextBox 7"/>
            <p:cNvSpPr txBox="1"/>
            <p:nvPr/>
          </p:nvSpPr>
          <p:spPr>
            <a:xfrm>
              <a:off x="0" y="38100"/>
              <a:ext cx="1226447" cy="1120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58" name="Group 8"/>
          <p:cNvGrpSpPr/>
          <p:nvPr/>
        </p:nvGrpSpPr>
        <p:grpSpPr>
          <a:xfrm>
            <a:off x="1905000" y="2710121"/>
            <a:ext cx="4572000" cy="2887782"/>
            <a:chOff x="0" y="0"/>
            <a:chExt cx="1226447" cy="1158652"/>
          </a:xfrm>
        </p:grpSpPr>
        <p:sp>
          <p:nvSpPr>
            <p:cNvPr id="1048659" name="Freeform 9"/>
            <p:cNvSpPr/>
            <p:nvPr/>
          </p:nvSpPr>
          <p:spPr>
            <a:xfrm>
              <a:off x="0" y="0"/>
              <a:ext cx="1226447" cy="1158652"/>
            </a:xfrm>
            <a:custGeom>
              <a:avLst/>
              <a:gdLst/>
              <a:ahLst/>
              <a:cxnLst/>
              <a:rect l="l" t="t" r="r" b="b"/>
              <a:pathLst>
                <a:path w="1226447" h="1158652">
                  <a:moveTo>
                    <a:pt x="42333" y="0"/>
                  </a:moveTo>
                  <a:lnTo>
                    <a:pt x="1184114" y="0"/>
                  </a:lnTo>
                  <a:cubicBezTo>
                    <a:pt x="1207494" y="0"/>
                    <a:pt x="1226447" y="18953"/>
                    <a:pt x="1226447" y="42333"/>
                  </a:cubicBezTo>
                  <a:lnTo>
                    <a:pt x="1226447" y="1116319"/>
                  </a:lnTo>
                  <a:cubicBezTo>
                    <a:pt x="1226447" y="1127547"/>
                    <a:pt x="1221987" y="1138314"/>
                    <a:pt x="1214048" y="1146253"/>
                  </a:cubicBezTo>
                  <a:cubicBezTo>
                    <a:pt x="1206109" y="1154192"/>
                    <a:pt x="1195341" y="1158652"/>
                    <a:pt x="1184114" y="1158652"/>
                  </a:cubicBezTo>
                  <a:lnTo>
                    <a:pt x="42333" y="1158652"/>
                  </a:lnTo>
                  <a:cubicBezTo>
                    <a:pt x="31106" y="1158652"/>
                    <a:pt x="20338" y="1154192"/>
                    <a:pt x="12399" y="1146253"/>
                  </a:cubicBezTo>
                  <a:cubicBezTo>
                    <a:pt x="4460" y="1138314"/>
                    <a:pt x="0" y="1127547"/>
                    <a:pt x="0" y="111631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60" name="TextBox 10"/>
            <p:cNvSpPr txBox="1"/>
            <p:nvPr/>
          </p:nvSpPr>
          <p:spPr>
            <a:xfrm>
              <a:off x="0" y="38100"/>
              <a:ext cx="1226447" cy="1120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59" name="Group 11"/>
          <p:cNvGrpSpPr/>
          <p:nvPr/>
        </p:nvGrpSpPr>
        <p:grpSpPr>
          <a:xfrm>
            <a:off x="11811000" y="2710121"/>
            <a:ext cx="4572000" cy="2812036"/>
            <a:chOff x="0" y="0"/>
            <a:chExt cx="1226447" cy="1158652"/>
          </a:xfrm>
        </p:grpSpPr>
        <p:sp>
          <p:nvSpPr>
            <p:cNvPr id="1048661" name="Freeform 12"/>
            <p:cNvSpPr/>
            <p:nvPr/>
          </p:nvSpPr>
          <p:spPr>
            <a:xfrm>
              <a:off x="0" y="0"/>
              <a:ext cx="1226447" cy="1158652"/>
            </a:xfrm>
            <a:custGeom>
              <a:avLst/>
              <a:gdLst/>
              <a:ahLst/>
              <a:cxnLst/>
              <a:rect l="l" t="t" r="r" b="b"/>
              <a:pathLst>
                <a:path w="1226447" h="1158652">
                  <a:moveTo>
                    <a:pt x="42333" y="0"/>
                  </a:moveTo>
                  <a:lnTo>
                    <a:pt x="1184114" y="0"/>
                  </a:lnTo>
                  <a:cubicBezTo>
                    <a:pt x="1207494" y="0"/>
                    <a:pt x="1226447" y="18953"/>
                    <a:pt x="1226447" y="42333"/>
                  </a:cubicBezTo>
                  <a:lnTo>
                    <a:pt x="1226447" y="1116319"/>
                  </a:lnTo>
                  <a:cubicBezTo>
                    <a:pt x="1226447" y="1127547"/>
                    <a:pt x="1221987" y="1138314"/>
                    <a:pt x="1214048" y="1146253"/>
                  </a:cubicBezTo>
                  <a:cubicBezTo>
                    <a:pt x="1206109" y="1154192"/>
                    <a:pt x="1195341" y="1158652"/>
                    <a:pt x="1184114" y="1158652"/>
                  </a:cubicBezTo>
                  <a:lnTo>
                    <a:pt x="42333" y="1158652"/>
                  </a:lnTo>
                  <a:cubicBezTo>
                    <a:pt x="31106" y="1158652"/>
                    <a:pt x="20338" y="1154192"/>
                    <a:pt x="12399" y="1146253"/>
                  </a:cubicBezTo>
                  <a:cubicBezTo>
                    <a:pt x="4460" y="1138314"/>
                    <a:pt x="0" y="1127547"/>
                    <a:pt x="0" y="111631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62" name="TextBox 13"/>
            <p:cNvSpPr txBox="1"/>
            <p:nvPr/>
          </p:nvSpPr>
          <p:spPr>
            <a:xfrm>
              <a:off x="0" y="38100"/>
              <a:ext cx="1226447" cy="1120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60" name="Group 14"/>
          <p:cNvGrpSpPr/>
          <p:nvPr/>
        </p:nvGrpSpPr>
        <p:grpSpPr>
          <a:xfrm>
            <a:off x="1905000" y="5706176"/>
            <a:ext cx="4572000" cy="3404745"/>
            <a:chOff x="0" y="0"/>
            <a:chExt cx="1204148" cy="484282"/>
          </a:xfrm>
        </p:grpSpPr>
        <p:sp>
          <p:nvSpPr>
            <p:cNvPr id="1048663" name="Freeform 15"/>
            <p:cNvSpPr/>
            <p:nvPr/>
          </p:nvSpPr>
          <p:spPr>
            <a:xfrm>
              <a:off x="0" y="0"/>
              <a:ext cx="1204148" cy="484282"/>
            </a:xfrm>
            <a:custGeom>
              <a:avLst/>
              <a:gdLst/>
              <a:ahLst/>
              <a:cxnLst/>
              <a:rect l="l" t="t" r="r" b="b"/>
              <a:pathLst>
                <a:path w="1204148" h="484282">
                  <a:moveTo>
                    <a:pt x="42333" y="0"/>
                  </a:moveTo>
                  <a:lnTo>
                    <a:pt x="1161815" y="0"/>
                  </a:lnTo>
                  <a:cubicBezTo>
                    <a:pt x="1173042" y="0"/>
                    <a:pt x="1183810" y="4460"/>
                    <a:pt x="1191749" y="12399"/>
                  </a:cubicBezTo>
                  <a:cubicBezTo>
                    <a:pt x="1199688" y="20338"/>
                    <a:pt x="1204148" y="31106"/>
                    <a:pt x="1204148" y="42333"/>
                  </a:cubicBezTo>
                  <a:lnTo>
                    <a:pt x="1204148" y="441949"/>
                  </a:lnTo>
                  <a:cubicBezTo>
                    <a:pt x="1204148" y="453176"/>
                    <a:pt x="1199688" y="463944"/>
                    <a:pt x="1191749" y="471883"/>
                  </a:cubicBezTo>
                  <a:cubicBezTo>
                    <a:pt x="1183810" y="479822"/>
                    <a:pt x="1173042" y="484282"/>
                    <a:pt x="1161815" y="484282"/>
                  </a:cubicBezTo>
                  <a:lnTo>
                    <a:pt x="42333" y="484282"/>
                  </a:lnTo>
                  <a:cubicBezTo>
                    <a:pt x="31106" y="484282"/>
                    <a:pt x="20338" y="479822"/>
                    <a:pt x="12399" y="471883"/>
                  </a:cubicBezTo>
                  <a:cubicBezTo>
                    <a:pt x="4460" y="463944"/>
                    <a:pt x="0" y="453176"/>
                    <a:pt x="0" y="44194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64" name="TextBox 16"/>
            <p:cNvSpPr txBox="1"/>
            <p:nvPr/>
          </p:nvSpPr>
          <p:spPr>
            <a:xfrm>
              <a:off x="0" y="0"/>
              <a:ext cx="1204148" cy="484282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lvl="0" algn="ctr"/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Elektromagnit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hodisalar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elektr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motorlar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generatorlar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transformatorlar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rele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qurilmalarining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asosini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tashkil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etadi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</a:p>
          </p:txBody>
        </p:sp>
      </p:grpSp>
      <p:grpSp>
        <p:nvGrpSpPr>
          <p:cNvPr id="61" name="Group 17"/>
          <p:cNvGrpSpPr/>
          <p:nvPr/>
        </p:nvGrpSpPr>
        <p:grpSpPr>
          <a:xfrm>
            <a:off x="6858000" y="5780029"/>
            <a:ext cx="4572000" cy="3330892"/>
            <a:chOff x="0" y="0"/>
            <a:chExt cx="1204148" cy="484282"/>
          </a:xfrm>
        </p:grpSpPr>
        <p:sp>
          <p:nvSpPr>
            <p:cNvPr id="1048665" name="Freeform 18"/>
            <p:cNvSpPr/>
            <p:nvPr/>
          </p:nvSpPr>
          <p:spPr>
            <a:xfrm>
              <a:off x="0" y="0"/>
              <a:ext cx="1204148" cy="484282"/>
            </a:xfrm>
            <a:custGeom>
              <a:avLst/>
              <a:gdLst/>
              <a:ahLst/>
              <a:cxnLst/>
              <a:rect l="l" t="t" r="r" b="b"/>
              <a:pathLst>
                <a:path w="1204148" h="484282">
                  <a:moveTo>
                    <a:pt x="42333" y="0"/>
                  </a:moveTo>
                  <a:lnTo>
                    <a:pt x="1161815" y="0"/>
                  </a:lnTo>
                  <a:cubicBezTo>
                    <a:pt x="1173042" y="0"/>
                    <a:pt x="1183810" y="4460"/>
                    <a:pt x="1191749" y="12399"/>
                  </a:cubicBezTo>
                  <a:cubicBezTo>
                    <a:pt x="1199688" y="20338"/>
                    <a:pt x="1204148" y="31106"/>
                    <a:pt x="1204148" y="42333"/>
                  </a:cubicBezTo>
                  <a:lnTo>
                    <a:pt x="1204148" y="441949"/>
                  </a:lnTo>
                  <a:cubicBezTo>
                    <a:pt x="1204148" y="453176"/>
                    <a:pt x="1199688" y="463944"/>
                    <a:pt x="1191749" y="471883"/>
                  </a:cubicBezTo>
                  <a:cubicBezTo>
                    <a:pt x="1183810" y="479822"/>
                    <a:pt x="1173042" y="484282"/>
                    <a:pt x="1161815" y="484282"/>
                  </a:cubicBezTo>
                  <a:lnTo>
                    <a:pt x="42333" y="484282"/>
                  </a:lnTo>
                  <a:cubicBezTo>
                    <a:pt x="31106" y="484282"/>
                    <a:pt x="20338" y="479822"/>
                    <a:pt x="12399" y="471883"/>
                  </a:cubicBezTo>
                  <a:cubicBezTo>
                    <a:pt x="4460" y="463944"/>
                    <a:pt x="0" y="453176"/>
                    <a:pt x="0" y="44194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66" name="TextBox 19"/>
            <p:cNvSpPr txBox="1"/>
            <p:nvPr/>
          </p:nvSpPr>
          <p:spPr>
            <a:xfrm>
              <a:off x="0" y="0"/>
              <a:ext cx="1204148" cy="484282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algn="ctr"/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Uy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jihozlari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telefonlar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signal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tizimlari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turli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avtomatik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qurilmalarda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elektromagnit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hodisalardan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keng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foydalaniladi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</a:p>
          </p:txBody>
        </p:sp>
      </p:grpSp>
      <p:grpSp>
        <p:nvGrpSpPr>
          <p:cNvPr id="62" name="Group 20"/>
          <p:cNvGrpSpPr/>
          <p:nvPr/>
        </p:nvGrpSpPr>
        <p:grpSpPr>
          <a:xfrm>
            <a:off x="11811000" y="5780029"/>
            <a:ext cx="4572000" cy="3330892"/>
            <a:chOff x="0" y="-392990"/>
            <a:chExt cx="1204148" cy="877272"/>
          </a:xfrm>
        </p:grpSpPr>
        <p:sp>
          <p:nvSpPr>
            <p:cNvPr id="1048667" name="Freeform 21"/>
            <p:cNvSpPr/>
            <p:nvPr/>
          </p:nvSpPr>
          <p:spPr>
            <a:xfrm>
              <a:off x="0" y="-392990"/>
              <a:ext cx="1204148" cy="877272"/>
            </a:xfrm>
            <a:custGeom>
              <a:avLst/>
              <a:gdLst/>
              <a:ahLst/>
              <a:cxnLst/>
              <a:rect l="l" t="t" r="r" b="b"/>
              <a:pathLst>
                <a:path w="1204148" h="484282">
                  <a:moveTo>
                    <a:pt x="42333" y="0"/>
                  </a:moveTo>
                  <a:lnTo>
                    <a:pt x="1161815" y="0"/>
                  </a:lnTo>
                  <a:cubicBezTo>
                    <a:pt x="1173042" y="0"/>
                    <a:pt x="1183810" y="4460"/>
                    <a:pt x="1191749" y="12399"/>
                  </a:cubicBezTo>
                  <a:cubicBezTo>
                    <a:pt x="1199688" y="20338"/>
                    <a:pt x="1204148" y="31106"/>
                    <a:pt x="1204148" y="42333"/>
                  </a:cubicBezTo>
                  <a:lnTo>
                    <a:pt x="1204148" y="441949"/>
                  </a:lnTo>
                  <a:cubicBezTo>
                    <a:pt x="1204148" y="453176"/>
                    <a:pt x="1199688" y="463944"/>
                    <a:pt x="1191749" y="471883"/>
                  </a:cubicBezTo>
                  <a:cubicBezTo>
                    <a:pt x="1183810" y="479822"/>
                    <a:pt x="1173042" y="484282"/>
                    <a:pt x="1161815" y="484282"/>
                  </a:cubicBezTo>
                  <a:lnTo>
                    <a:pt x="42333" y="484282"/>
                  </a:lnTo>
                  <a:cubicBezTo>
                    <a:pt x="31106" y="484282"/>
                    <a:pt x="20338" y="479822"/>
                    <a:pt x="12399" y="471883"/>
                  </a:cubicBezTo>
                  <a:cubicBezTo>
                    <a:pt x="4460" y="463944"/>
                    <a:pt x="0" y="453176"/>
                    <a:pt x="0" y="441949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68" name="TextBox 22"/>
            <p:cNvSpPr txBox="1"/>
            <p:nvPr/>
          </p:nvSpPr>
          <p:spPr>
            <a:xfrm>
              <a:off x="0" y="-387930"/>
              <a:ext cx="1204148" cy="872212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algn="ctr"/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Bu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hodisalar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fizikaning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muhim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bo‘limi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bo‘lib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o‘quvchilarning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ilmiy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dunyoqarashi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texnik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tafakkurini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200" b="1" dirty="0" err="1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rivojlantiradi</a:t>
              </a:r>
              <a:r>
                <a:rPr lang="en-US" sz="3200" b="1" dirty="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</a:p>
          </p:txBody>
        </p:sp>
      </p:grpSp>
      <p:sp>
        <p:nvSpPr>
          <p:cNvPr id="1048669" name="TextBox 29"/>
          <p:cNvSpPr txBox="1"/>
          <p:nvPr/>
        </p:nvSpPr>
        <p:spPr>
          <a:xfrm>
            <a:off x="1143000" y="305792"/>
            <a:ext cx="16687800" cy="977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99"/>
              </a:lnSpc>
            </a:pPr>
            <a:r>
              <a:rPr lang="en-US" sz="6999" b="1" dirty="0" err="1">
                <a:solidFill>
                  <a:srgbClr val="002060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Elektromagnit</a:t>
            </a:r>
            <a:r>
              <a:rPr lang="en-US" sz="6999" b="1" dirty="0">
                <a:solidFill>
                  <a:srgbClr val="002060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 </a:t>
            </a:r>
            <a:r>
              <a:rPr lang="en-US" sz="6999" b="1" dirty="0" err="1">
                <a:solidFill>
                  <a:srgbClr val="002060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hodisalarning</a:t>
            </a:r>
            <a:r>
              <a:rPr lang="en-US" sz="6999" b="1" dirty="0">
                <a:solidFill>
                  <a:srgbClr val="002060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 </a:t>
            </a:r>
            <a:r>
              <a:rPr lang="en-US" sz="6999" b="1" dirty="0" err="1">
                <a:solidFill>
                  <a:srgbClr val="002060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ahamiyati</a:t>
            </a:r>
            <a:r>
              <a:rPr lang="en-US" sz="6999" b="1" dirty="0">
                <a:solidFill>
                  <a:srgbClr val="002060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?</a:t>
            </a:r>
          </a:p>
        </p:txBody>
      </p:sp>
      <p:grpSp>
        <p:nvGrpSpPr>
          <p:cNvPr id="63" name="Group 33"/>
          <p:cNvGrpSpPr/>
          <p:nvPr/>
        </p:nvGrpSpPr>
        <p:grpSpPr>
          <a:xfrm>
            <a:off x="2502477" y="2921437"/>
            <a:ext cx="3615779" cy="2298263"/>
            <a:chOff x="0" y="428123"/>
            <a:chExt cx="4821039" cy="4380274"/>
          </a:xfrm>
        </p:grpSpPr>
        <p:sp>
          <p:nvSpPr>
            <p:cNvPr id="1048670" name="AutoShape 34"/>
            <p:cNvSpPr/>
            <p:nvPr/>
          </p:nvSpPr>
          <p:spPr>
            <a:xfrm>
              <a:off x="0" y="4360745"/>
              <a:ext cx="2227228" cy="0"/>
            </a:xfrm>
            <a:prstGeom prst="line">
              <a:avLst/>
            </a:prstGeom>
            <a:ln w="76200" cap="flat">
              <a:solidFill>
                <a:srgbClr val="2B3D7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48671" name="AutoShape 35"/>
            <p:cNvSpPr/>
            <p:nvPr/>
          </p:nvSpPr>
          <p:spPr>
            <a:xfrm flipH="1">
              <a:off x="38100" y="1096849"/>
              <a:ext cx="0" cy="3301998"/>
            </a:xfrm>
            <a:prstGeom prst="line">
              <a:avLst/>
            </a:prstGeom>
            <a:ln w="76200" cap="flat">
              <a:solidFill>
                <a:srgbClr val="2B3D7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48672" name="AutoShape 36"/>
            <p:cNvSpPr/>
            <p:nvPr/>
          </p:nvSpPr>
          <p:spPr>
            <a:xfrm>
              <a:off x="0" y="1134949"/>
              <a:ext cx="4572000" cy="0"/>
            </a:xfrm>
            <a:prstGeom prst="line">
              <a:avLst/>
            </a:prstGeom>
            <a:ln w="76200" cap="flat">
              <a:solidFill>
                <a:srgbClr val="2B3D7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48673" name="Freeform 37"/>
            <p:cNvSpPr/>
            <p:nvPr/>
          </p:nvSpPr>
          <p:spPr>
            <a:xfrm rot="15062877">
              <a:off x="1421297" y="214432"/>
              <a:ext cx="1729406" cy="2156788"/>
            </a:xfrm>
            <a:custGeom>
              <a:avLst/>
              <a:gdLst/>
              <a:ahLst/>
              <a:cxnLst/>
              <a:rect l="l" t="t" r="r" b="b"/>
              <a:pathLst>
                <a:path w="1729406" h="2156788">
                  <a:moveTo>
                    <a:pt x="0" y="0"/>
                  </a:moveTo>
                  <a:lnTo>
                    <a:pt x="1729406" y="0"/>
                  </a:lnTo>
                  <a:lnTo>
                    <a:pt x="1729406" y="2156788"/>
                  </a:lnTo>
                  <a:lnTo>
                    <a:pt x="0" y="2156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048674" name="AutoShape 38"/>
            <p:cNvSpPr/>
            <p:nvPr/>
          </p:nvSpPr>
          <p:spPr>
            <a:xfrm flipV="1">
              <a:off x="3088867" y="4360745"/>
              <a:ext cx="1483133" cy="0"/>
            </a:xfrm>
            <a:prstGeom prst="line">
              <a:avLst/>
            </a:prstGeom>
            <a:ln w="76200" cap="flat">
              <a:solidFill>
                <a:srgbClr val="2B3D7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48675" name="AutoShape 39"/>
            <p:cNvSpPr/>
            <p:nvPr/>
          </p:nvSpPr>
          <p:spPr>
            <a:xfrm>
              <a:off x="4572000" y="1096849"/>
              <a:ext cx="0" cy="3301995"/>
            </a:xfrm>
            <a:prstGeom prst="line">
              <a:avLst/>
            </a:prstGeom>
            <a:ln w="76200" cap="flat">
              <a:solidFill>
                <a:srgbClr val="2B3D7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48676" name="Freeform 40"/>
            <p:cNvSpPr/>
            <p:nvPr/>
          </p:nvSpPr>
          <p:spPr>
            <a:xfrm rot="-5400000">
              <a:off x="3428713" y="1877662"/>
              <a:ext cx="948113" cy="1836538"/>
            </a:xfrm>
            <a:custGeom>
              <a:avLst/>
              <a:gdLst/>
              <a:ahLst/>
              <a:cxnLst/>
              <a:rect l="l" t="t" r="r" b="b"/>
              <a:pathLst>
                <a:path w="948113" h="1836538">
                  <a:moveTo>
                    <a:pt x="0" y="0"/>
                  </a:moveTo>
                  <a:lnTo>
                    <a:pt x="948112" y="0"/>
                  </a:lnTo>
                  <a:lnTo>
                    <a:pt x="948112" y="1836537"/>
                  </a:lnTo>
                  <a:lnTo>
                    <a:pt x="0" y="1836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048677" name="Freeform 41"/>
            <p:cNvSpPr/>
            <p:nvPr/>
          </p:nvSpPr>
          <p:spPr>
            <a:xfrm rot="-5400000">
              <a:off x="1779576" y="3239278"/>
              <a:ext cx="895304" cy="2242933"/>
            </a:xfrm>
            <a:custGeom>
              <a:avLst/>
              <a:gdLst/>
              <a:ahLst/>
              <a:cxnLst/>
              <a:rect l="l" t="t" r="r" b="b"/>
              <a:pathLst>
                <a:path w="895304" h="2242933">
                  <a:moveTo>
                    <a:pt x="0" y="0"/>
                  </a:moveTo>
                  <a:lnTo>
                    <a:pt x="895305" y="0"/>
                  </a:lnTo>
                  <a:lnTo>
                    <a:pt x="895305" y="2242933"/>
                  </a:lnTo>
                  <a:lnTo>
                    <a:pt x="0" y="2242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48678" name="AutoShape 42"/>
          <p:cNvSpPr/>
          <p:nvPr/>
        </p:nvSpPr>
        <p:spPr>
          <a:xfrm>
            <a:off x="7394479" y="4763346"/>
            <a:ext cx="3515368" cy="7364"/>
          </a:xfrm>
          <a:prstGeom prst="line">
            <a:avLst/>
          </a:prstGeom>
          <a:ln w="57150" cap="flat">
            <a:solidFill>
              <a:srgbClr val="2B3D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79" name="AutoShape 43"/>
          <p:cNvSpPr/>
          <p:nvPr/>
        </p:nvSpPr>
        <p:spPr>
          <a:xfrm flipH="1">
            <a:off x="7413497" y="3292298"/>
            <a:ext cx="40765" cy="1478411"/>
          </a:xfrm>
          <a:prstGeom prst="line">
            <a:avLst/>
          </a:prstGeom>
          <a:ln w="57150" cap="flat">
            <a:solidFill>
              <a:srgbClr val="2B3D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80" name="AutoShape 44"/>
          <p:cNvSpPr/>
          <p:nvPr/>
        </p:nvSpPr>
        <p:spPr>
          <a:xfrm>
            <a:off x="7480847" y="3327885"/>
            <a:ext cx="3429000" cy="0"/>
          </a:xfrm>
          <a:prstGeom prst="line">
            <a:avLst/>
          </a:prstGeom>
          <a:ln w="57150" cap="flat">
            <a:solidFill>
              <a:srgbClr val="2B3D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81" name="AutoShape 45"/>
          <p:cNvSpPr/>
          <p:nvPr/>
        </p:nvSpPr>
        <p:spPr>
          <a:xfrm flipH="1">
            <a:off x="10894583" y="3290692"/>
            <a:ext cx="15264" cy="1501230"/>
          </a:xfrm>
          <a:prstGeom prst="line">
            <a:avLst/>
          </a:prstGeom>
          <a:ln w="57150" cap="flat">
            <a:solidFill>
              <a:srgbClr val="2B3D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82" name="Freeform 46"/>
          <p:cNvSpPr/>
          <p:nvPr/>
        </p:nvSpPr>
        <p:spPr>
          <a:xfrm rot="-5400000">
            <a:off x="9850339" y="3484696"/>
            <a:ext cx="711084" cy="1377403"/>
          </a:xfrm>
          <a:custGeom>
            <a:avLst/>
            <a:gdLst/>
            <a:ahLst/>
            <a:cxnLst/>
            <a:rect l="l" t="t" r="r" b="b"/>
            <a:pathLst>
              <a:path w="711084" h="1377403">
                <a:moveTo>
                  <a:pt x="0" y="0"/>
                </a:moveTo>
                <a:lnTo>
                  <a:pt x="711085" y="0"/>
                </a:lnTo>
                <a:lnTo>
                  <a:pt x="711085" y="1377403"/>
                </a:lnTo>
                <a:lnTo>
                  <a:pt x="0" y="1377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83" name="Freeform 47"/>
          <p:cNvSpPr/>
          <p:nvPr/>
        </p:nvSpPr>
        <p:spPr>
          <a:xfrm rot="-2700000">
            <a:off x="8342167" y="2417017"/>
            <a:ext cx="1435153" cy="1626236"/>
          </a:xfrm>
          <a:custGeom>
            <a:avLst/>
            <a:gdLst/>
            <a:ahLst/>
            <a:cxnLst/>
            <a:rect l="l" t="t" r="r" b="b"/>
            <a:pathLst>
              <a:path w="1435153" h="1626236">
                <a:moveTo>
                  <a:pt x="0" y="0"/>
                </a:moveTo>
                <a:lnTo>
                  <a:pt x="1435154" y="0"/>
                </a:lnTo>
                <a:lnTo>
                  <a:pt x="1435154" y="1626236"/>
                </a:lnTo>
                <a:lnTo>
                  <a:pt x="0" y="16262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48684" name="AutoShape 48"/>
          <p:cNvSpPr/>
          <p:nvPr/>
        </p:nvSpPr>
        <p:spPr>
          <a:xfrm>
            <a:off x="12202149" y="3436855"/>
            <a:ext cx="18184" cy="1782845"/>
          </a:xfrm>
          <a:prstGeom prst="line">
            <a:avLst/>
          </a:prstGeom>
          <a:ln w="57150" cap="flat">
            <a:solidFill>
              <a:srgbClr val="2B3D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85" name="AutoShape 49"/>
          <p:cNvSpPr/>
          <p:nvPr/>
        </p:nvSpPr>
        <p:spPr>
          <a:xfrm>
            <a:off x="12220575" y="3459745"/>
            <a:ext cx="3429000" cy="0"/>
          </a:xfrm>
          <a:prstGeom prst="line">
            <a:avLst/>
          </a:prstGeom>
          <a:ln w="57150" cap="flat">
            <a:solidFill>
              <a:srgbClr val="2B3D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86" name="Freeform 50"/>
          <p:cNvSpPr/>
          <p:nvPr/>
        </p:nvSpPr>
        <p:spPr>
          <a:xfrm rot="-5400000">
            <a:off x="13550490" y="2724617"/>
            <a:ext cx="762000" cy="1470256"/>
          </a:xfrm>
          <a:custGeom>
            <a:avLst/>
            <a:gdLst/>
            <a:ahLst/>
            <a:cxnLst/>
            <a:rect l="l" t="t" r="r" b="b"/>
            <a:pathLst>
              <a:path w="762000" h="1470256">
                <a:moveTo>
                  <a:pt x="0" y="0"/>
                </a:moveTo>
                <a:lnTo>
                  <a:pt x="762000" y="0"/>
                </a:lnTo>
                <a:lnTo>
                  <a:pt x="762000" y="1470256"/>
                </a:lnTo>
                <a:lnTo>
                  <a:pt x="0" y="14702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501"/>
            </a:stretch>
          </a:blipFill>
          <a:ln cap="sq">
            <a:noFill/>
            <a:prstDash val="solid"/>
            <a:miter/>
          </a:ln>
        </p:spPr>
      </p:sp>
      <p:sp>
        <p:nvSpPr>
          <p:cNvPr id="1048687" name="AutoShape 51"/>
          <p:cNvSpPr/>
          <p:nvPr/>
        </p:nvSpPr>
        <p:spPr>
          <a:xfrm>
            <a:off x="15642647" y="3436855"/>
            <a:ext cx="6927" cy="1782845"/>
          </a:xfrm>
          <a:prstGeom prst="line">
            <a:avLst/>
          </a:prstGeom>
          <a:ln w="57150" cap="flat">
            <a:solidFill>
              <a:srgbClr val="2B3D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88" name="Freeform 52"/>
          <p:cNvSpPr/>
          <p:nvPr/>
        </p:nvSpPr>
        <p:spPr>
          <a:xfrm rot="-5400000">
            <a:off x="14727847" y="3574263"/>
            <a:ext cx="711084" cy="1377403"/>
          </a:xfrm>
          <a:custGeom>
            <a:avLst/>
            <a:gdLst/>
            <a:ahLst/>
            <a:cxnLst/>
            <a:rect l="l" t="t" r="r" b="b"/>
            <a:pathLst>
              <a:path w="711084" h="1377403">
                <a:moveTo>
                  <a:pt x="0" y="0"/>
                </a:moveTo>
                <a:lnTo>
                  <a:pt x="711085" y="0"/>
                </a:lnTo>
                <a:lnTo>
                  <a:pt x="711085" y="1377403"/>
                </a:lnTo>
                <a:lnTo>
                  <a:pt x="0" y="1377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89" name="AutoShape 53"/>
          <p:cNvSpPr/>
          <p:nvPr/>
        </p:nvSpPr>
        <p:spPr>
          <a:xfrm>
            <a:off x="12220454" y="5237769"/>
            <a:ext cx="3429242" cy="14288"/>
          </a:xfrm>
          <a:prstGeom prst="line">
            <a:avLst/>
          </a:prstGeom>
          <a:ln w="57150" cap="flat">
            <a:solidFill>
              <a:srgbClr val="2B3D7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E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2"/>
          <p:cNvGrpSpPr/>
          <p:nvPr/>
        </p:nvGrpSpPr>
        <p:grpSpPr>
          <a:xfrm>
            <a:off x="3255820" y="413271"/>
            <a:ext cx="11450780" cy="2375148"/>
            <a:chOff x="-5473" y="-96990"/>
            <a:chExt cx="3015843" cy="625553"/>
          </a:xfrm>
        </p:grpSpPr>
        <p:sp>
          <p:nvSpPr>
            <p:cNvPr id="1048690" name="Freeform 3"/>
            <p:cNvSpPr/>
            <p:nvPr/>
          </p:nvSpPr>
          <p:spPr>
            <a:xfrm>
              <a:off x="0" y="-28596"/>
              <a:ext cx="3010370" cy="501728"/>
            </a:xfrm>
            <a:custGeom>
              <a:avLst/>
              <a:gdLst/>
              <a:ahLst/>
              <a:cxnLst/>
              <a:rect l="l" t="t" r="r" b="b"/>
              <a:pathLst>
                <a:path w="3010370" h="501728">
                  <a:moveTo>
                    <a:pt x="16933" y="0"/>
                  </a:moveTo>
                  <a:lnTo>
                    <a:pt x="2993437" y="0"/>
                  </a:lnTo>
                  <a:cubicBezTo>
                    <a:pt x="2997928" y="0"/>
                    <a:pt x="3002235" y="1784"/>
                    <a:pt x="3005411" y="4960"/>
                  </a:cubicBezTo>
                  <a:cubicBezTo>
                    <a:pt x="3008586" y="8135"/>
                    <a:pt x="3010370" y="12442"/>
                    <a:pt x="3010370" y="16933"/>
                  </a:cubicBezTo>
                  <a:lnTo>
                    <a:pt x="3010370" y="484795"/>
                  </a:lnTo>
                  <a:cubicBezTo>
                    <a:pt x="3010370" y="489286"/>
                    <a:pt x="3008586" y="493593"/>
                    <a:pt x="3005411" y="496769"/>
                  </a:cubicBezTo>
                  <a:cubicBezTo>
                    <a:pt x="3002235" y="499944"/>
                    <a:pt x="2997928" y="501728"/>
                    <a:pt x="2993437" y="501728"/>
                  </a:cubicBezTo>
                  <a:lnTo>
                    <a:pt x="16933" y="501728"/>
                  </a:lnTo>
                  <a:cubicBezTo>
                    <a:pt x="12442" y="501728"/>
                    <a:pt x="8135" y="499944"/>
                    <a:pt x="4960" y="496769"/>
                  </a:cubicBezTo>
                  <a:cubicBezTo>
                    <a:pt x="1784" y="493593"/>
                    <a:pt x="0" y="489286"/>
                    <a:pt x="0" y="484795"/>
                  </a:cubicBezTo>
                  <a:lnTo>
                    <a:pt x="0" y="16933"/>
                  </a:lnTo>
                  <a:cubicBezTo>
                    <a:pt x="0" y="12442"/>
                    <a:pt x="1784" y="8135"/>
                    <a:pt x="4960" y="4960"/>
                  </a:cubicBezTo>
                  <a:cubicBezTo>
                    <a:pt x="8135" y="1784"/>
                    <a:pt x="12442" y="0"/>
                    <a:pt x="16933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id="1048691" name="TextBox 4"/>
            <p:cNvSpPr txBox="1"/>
            <p:nvPr/>
          </p:nvSpPr>
          <p:spPr>
            <a:xfrm>
              <a:off x="-5473" y="-96990"/>
              <a:ext cx="3010370" cy="62555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lvl="0" algn="ctr">
                <a:lnSpc>
                  <a:spcPts val="7699"/>
                </a:lnSpc>
              </a:pPr>
              <a:r>
                <a:rPr lang="en-US" sz="6999" b="1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Ta’limdagi</a:t>
              </a:r>
              <a:r>
                <a:rPr lang="en-US" sz="6999" b="1" dirty="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 </a:t>
              </a:r>
              <a:r>
                <a:rPr lang="en-US" sz="6999" b="1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o‘rni</a:t>
              </a:r>
              <a:endParaRPr lang="en-US" sz="6999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endParaRPr>
            </a:p>
          </p:txBody>
        </p:sp>
      </p:grpSp>
      <p:grpSp>
        <p:nvGrpSpPr>
          <p:cNvPr id="66" name="Group 5"/>
          <p:cNvGrpSpPr/>
          <p:nvPr/>
        </p:nvGrpSpPr>
        <p:grpSpPr>
          <a:xfrm>
            <a:off x="2425903" y="3137148"/>
            <a:ext cx="13792200" cy="6476995"/>
            <a:chOff x="0" y="0"/>
            <a:chExt cx="3010370" cy="1705875"/>
          </a:xfrm>
        </p:grpSpPr>
        <p:sp>
          <p:nvSpPr>
            <p:cNvPr id="1048692" name="Freeform 6"/>
            <p:cNvSpPr/>
            <p:nvPr/>
          </p:nvSpPr>
          <p:spPr>
            <a:xfrm>
              <a:off x="0" y="0"/>
              <a:ext cx="3010370" cy="1705875"/>
            </a:xfrm>
            <a:custGeom>
              <a:avLst/>
              <a:gdLst/>
              <a:ahLst/>
              <a:cxnLst/>
              <a:rect l="l" t="t" r="r" b="b"/>
              <a:pathLst>
                <a:path w="3010370" h="1705875">
                  <a:moveTo>
                    <a:pt x="16933" y="0"/>
                  </a:moveTo>
                  <a:lnTo>
                    <a:pt x="2993437" y="0"/>
                  </a:lnTo>
                  <a:cubicBezTo>
                    <a:pt x="2997928" y="0"/>
                    <a:pt x="3002235" y="1784"/>
                    <a:pt x="3005411" y="4960"/>
                  </a:cubicBezTo>
                  <a:cubicBezTo>
                    <a:pt x="3008586" y="8135"/>
                    <a:pt x="3010370" y="12442"/>
                    <a:pt x="3010370" y="16933"/>
                  </a:cubicBezTo>
                  <a:lnTo>
                    <a:pt x="3010370" y="1688942"/>
                  </a:lnTo>
                  <a:cubicBezTo>
                    <a:pt x="3010370" y="1693433"/>
                    <a:pt x="3008586" y="1697740"/>
                    <a:pt x="3005411" y="1700916"/>
                  </a:cubicBezTo>
                  <a:cubicBezTo>
                    <a:pt x="3002235" y="1704091"/>
                    <a:pt x="2997928" y="1705875"/>
                    <a:pt x="2993437" y="1705875"/>
                  </a:cubicBezTo>
                  <a:lnTo>
                    <a:pt x="16933" y="1705875"/>
                  </a:lnTo>
                  <a:cubicBezTo>
                    <a:pt x="12442" y="1705875"/>
                    <a:pt x="8135" y="1704091"/>
                    <a:pt x="4960" y="1700916"/>
                  </a:cubicBezTo>
                  <a:cubicBezTo>
                    <a:pt x="1784" y="1697740"/>
                    <a:pt x="0" y="1693433"/>
                    <a:pt x="0" y="1688942"/>
                  </a:cubicBezTo>
                  <a:lnTo>
                    <a:pt x="0" y="16933"/>
                  </a:lnTo>
                  <a:cubicBezTo>
                    <a:pt x="0" y="12442"/>
                    <a:pt x="1784" y="8135"/>
                    <a:pt x="4960" y="4960"/>
                  </a:cubicBezTo>
                  <a:cubicBezTo>
                    <a:pt x="8135" y="1784"/>
                    <a:pt x="12442" y="0"/>
                    <a:pt x="1693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93" name="TextBox 7"/>
            <p:cNvSpPr txBox="1"/>
            <p:nvPr/>
          </p:nvSpPr>
          <p:spPr>
            <a:xfrm>
              <a:off x="0" y="-38100"/>
              <a:ext cx="3010370" cy="1743975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marL="0" lvl="0" indent="0" algn="ctr">
                <a:lnSpc>
                  <a:spcPts val="51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7" name="Group 13"/>
          <p:cNvGrpSpPr/>
          <p:nvPr/>
        </p:nvGrpSpPr>
        <p:grpSpPr>
          <a:xfrm>
            <a:off x="2895599" y="3619492"/>
            <a:ext cx="12604719" cy="5512102"/>
            <a:chOff x="0" y="-10728"/>
            <a:chExt cx="1505185" cy="301009"/>
          </a:xfrm>
        </p:grpSpPr>
        <p:sp>
          <p:nvSpPr>
            <p:cNvPr id="1048694" name="Freeform 14"/>
            <p:cNvSpPr/>
            <p:nvPr/>
          </p:nvSpPr>
          <p:spPr>
            <a:xfrm>
              <a:off x="0" y="0"/>
              <a:ext cx="1505185" cy="290281"/>
            </a:xfrm>
            <a:custGeom>
              <a:avLst/>
              <a:gdLst/>
              <a:ahLst/>
              <a:cxnLst/>
              <a:rect l="l" t="t" r="r" b="b"/>
              <a:pathLst>
                <a:path w="1505185" h="290281">
                  <a:moveTo>
                    <a:pt x="33867" y="0"/>
                  </a:moveTo>
                  <a:lnTo>
                    <a:pt x="1471319" y="0"/>
                  </a:lnTo>
                  <a:cubicBezTo>
                    <a:pt x="1490023" y="0"/>
                    <a:pt x="1505185" y="15163"/>
                    <a:pt x="1505185" y="33867"/>
                  </a:cubicBezTo>
                  <a:lnTo>
                    <a:pt x="1505185" y="256414"/>
                  </a:lnTo>
                  <a:cubicBezTo>
                    <a:pt x="1505185" y="265396"/>
                    <a:pt x="1501617" y="274010"/>
                    <a:pt x="1495266" y="280361"/>
                  </a:cubicBezTo>
                  <a:cubicBezTo>
                    <a:pt x="1488915" y="286713"/>
                    <a:pt x="1480301" y="290281"/>
                    <a:pt x="1471319" y="290281"/>
                  </a:cubicBezTo>
                  <a:lnTo>
                    <a:pt x="33867" y="290281"/>
                  </a:lnTo>
                  <a:cubicBezTo>
                    <a:pt x="15163" y="290281"/>
                    <a:pt x="0" y="275118"/>
                    <a:pt x="0" y="256414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id="1048695" name="TextBox 15"/>
            <p:cNvSpPr txBox="1"/>
            <p:nvPr/>
          </p:nvSpPr>
          <p:spPr>
            <a:xfrm>
              <a:off x="0" y="-10728"/>
              <a:ext cx="1505185" cy="301009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lvl="0" algn="ctr"/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Elektromagnit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hodisalar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mavzusi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fizika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fanining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muhim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bo‘limlaridan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biri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bo‘lib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,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o‘quvchilarga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elektr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magnit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jarayonlarning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o‘zaro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bog‘liqligini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tushunishga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yordam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beradi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.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Ushbu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mavzu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orqali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o‘quvchilar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nazariy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bilim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bilan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birga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amaliy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ko‘nikmalarni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ham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egallaydi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.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Shuningdek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, u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keyingi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murakkab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mavzularni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o‘zlashtirish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uchun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asos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bo‘lib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xizmat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qiladi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va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o‘quvchilarning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ilmiy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hamda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texnik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tafakkurini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3400" b="1" dirty="0" err="1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rivojlantiradi</a:t>
              </a:r>
              <a:r>
                <a:rPr lang="en-US" sz="3400" b="1" dirty="0">
                  <a:solidFill>
                    <a:srgbClr val="000001"/>
                  </a:solidFill>
                  <a:latin typeface="Sitka Small Semibold" pitchFamily="2" charset="0"/>
                  <a:ea typeface="Inter Medium"/>
                  <a:cs typeface="Inter Medium"/>
                  <a:sym typeface="Inter Medium"/>
                </a:rPr>
                <a:t>.</a:t>
              </a:r>
            </a:p>
          </p:txBody>
        </p:sp>
      </p:grpSp>
      <p:sp>
        <p:nvSpPr>
          <p:cNvPr id="1048696" name="Freeform 16"/>
          <p:cNvSpPr/>
          <p:nvPr/>
        </p:nvSpPr>
        <p:spPr>
          <a:xfrm rot="3104825">
            <a:off x="2097287" y="7702844"/>
            <a:ext cx="1139428" cy="2857500"/>
          </a:xfrm>
          <a:custGeom>
            <a:avLst/>
            <a:gdLst/>
            <a:ahLst/>
            <a:cxnLst/>
            <a:rect l="l" t="t" r="r" b="b"/>
            <a:pathLst>
              <a:path w="1139428" h="2857500">
                <a:moveTo>
                  <a:pt x="0" y="0"/>
                </a:moveTo>
                <a:lnTo>
                  <a:pt x="1139429" y="0"/>
                </a:lnTo>
                <a:lnTo>
                  <a:pt x="1139429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48697" name="Freeform 17"/>
          <p:cNvSpPr/>
          <p:nvPr/>
        </p:nvSpPr>
        <p:spPr>
          <a:xfrm rot="13155380">
            <a:off x="14494292" y="508224"/>
            <a:ext cx="3250743" cy="4610982"/>
          </a:xfrm>
          <a:custGeom>
            <a:avLst/>
            <a:gdLst/>
            <a:ahLst/>
            <a:cxnLst/>
            <a:rect l="l" t="t" r="r" b="b"/>
            <a:pathLst>
              <a:path w="3250743" h="4610982">
                <a:moveTo>
                  <a:pt x="0" y="0"/>
                </a:moveTo>
                <a:lnTo>
                  <a:pt x="3250742" y="0"/>
                </a:lnTo>
                <a:lnTo>
                  <a:pt x="3250742" y="4610983"/>
                </a:lnTo>
                <a:lnTo>
                  <a:pt x="0" y="4610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98" name="Freeform 18"/>
          <p:cNvSpPr/>
          <p:nvPr/>
        </p:nvSpPr>
        <p:spPr>
          <a:xfrm rot="20708721">
            <a:off x="161785" y="3493492"/>
            <a:ext cx="5629820" cy="992256"/>
          </a:xfrm>
          <a:custGeom>
            <a:avLst/>
            <a:gdLst/>
            <a:ahLst/>
            <a:cxnLst/>
            <a:rect l="l" t="t" r="r" b="b"/>
            <a:pathLst>
              <a:path w="5629820" h="992256">
                <a:moveTo>
                  <a:pt x="0" y="0"/>
                </a:moveTo>
                <a:lnTo>
                  <a:pt x="5629820" y="0"/>
                </a:lnTo>
                <a:lnTo>
                  <a:pt x="5629820" y="992256"/>
                </a:lnTo>
                <a:lnTo>
                  <a:pt x="0" y="992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48699" name="Freeform 22"/>
          <p:cNvSpPr/>
          <p:nvPr/>
        </p:nvSpPr>
        <p:spPr>
          <a:xfrm rot="8687491">
            <a:off x="13437829" y="8456737"/>
            <a:ext cx="5629820" cy="992256"/>
          </a:xfrm>
          <a:custGeom>
            <a:avLst/>
            <a:gdLst/>
            <a:ahLst/>
            <a:cxnLst/>
            <a:rect l="l" t="t" r="r" b="b"/>
            <a:pathLst>
              <a:path w="5629820" h="992256">
                <a:moveTo>
                  <a:pt x="0" y="0"/>
                </a:moveTo>
                <a:lnTo>
                  <a:pt x="5629820" y="0"/>
                </a:lnTo>
                <a:lnTo>
                  <a:pt x="5629820" y="992256"/>
                </a:lnTo>
                <a:lnTo>
                  <a:pt x="0" y="992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E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"/>
          <p:cNvGrpSpPr/>
          <p:nvPr/>
        </p:nvGrpSpPr>
        <p:grpSpPr>
          <a:xfrm>
            <a:off x="1143000" y="1524000"/>
            <a:ext cx="16002000" cy="7239000"/>
            <a:chOff x="0" y="0"/>
            <a:chExt cx="4214519" cy="1906568"/>
          </a:xfrm>
        </p:grpSpPr>
        <p:sp>
          <p:nvSpPr>
            <p:cNvPr id="1048700" name="Freeform 3"/>
            <p:cNvSpPr/>
            <p:nvPr/>
          </p:nvSpPr>
          <p:spPr>
            <a:xfrm>
              <a:off x="0" y="0"/>
              <a:ext cx="4214518" cy="1906568"/>
            </a:xfrm>
            <a:custGeom>
              <a:avLst/>
              <a:gdLst/>
              <a:ahLst/>
              <a:cxnLst/>
              <a:rect l="l" t="t" r="r" b="b"/>
              <a:pathLst>
                <a:path w="4214518" h="1906568">
                  <a:moveTo>
                    <a:pt x="12095" y="0"/>
                  </a:moveTo>
                  <a:lnTo>
                    <a:pt x="4202423" y="0"/>
                  </a:lnTo>
                  <a:cubicBezTo>
                    <a:pt x="4205631" y="0"/>
                    <a:pt x="4208707" y="1274"/>
                    <a:pt x="4210976" y="3543"/>
                  </a:cubicBezTo>
                  <a:cubicBezTo>
                    <a:pt x="4213244" y="5811"/>
                    <a:pt x="4214518" y="8887"/>
                    <a:pt x="4214518" y="12095"/>
                  </a:cubicBezTo>
                  <a:lnTo>
                    <a:pt x="4214518" y="1894473"/>
                  </a:lnTo>
                  <a:cubicBezTo>
                    <a:pt x="4214518" y="1901153"/>
                    <a:pt x="4209103" y="1906568"/>
                    <a:pt x="4202423" y="1906568"/>
                  </a:cubicBezTo>
                  <a:lnTo>
                    <a:pt x="12095" y="1906568"/>
                  </a:lnTo>
                  <a:cubicBezTo>
                    <a:pt x="8887" y="1906568"/>
                    <a:pt x="5811" y="1905294"/>
                    <a:pt x="3543" y="1903025"/>
                  </a:cubicBezTo>
                  <a:cubicBezTo>
                    <a:pt x="1274" y="1900757"/>
                    <a:pt x="0" y="1897680"/>
                    <a:pt x="0" y="1894473"/>
                  </a:cubicBezTo>
                  <a:lnTo>
                    <a:pt x="0" y="12095"/>
                  </a:lnTo>
                  <a:cubicBezTo>
                    <a:pt x="0" y="8887"/>
                    <a:pt x="1274" y="5811"/>
                    <a:pt x="3543" y="3543"/>
                  </a:cubicBezTo>
                  <a:cubicBezTo>
                    <a:pt x="5811" y="1274"/>
                    <a:pt x="8887" y="0"/>
                    <a:pt x="12095" y="0"/>
                  </a:cubicBezTo>
                  <a:close/>
                </a:path>
              </a:pathLst>
            </a:custGeom>
            <a:solidFill>
              <a:srgbClr val="384766"/>
            </a:solidFill>
            <a:ln cap="rnd">
              <a:noFill/>
              <a:prstDash val="solid"/>
              <a:round/>
            </a:ln>
          </p:spPr>
        </p:sp>
        <p:sp>
          <p:nvSpPr>
            <p:cNvPr id="1048701" name="TextBox 4"/>
            <p:cNvSpPr txBox="1"/>
            <p:nvPr/>
          </p:nvSpPr>
          <p:spPr>
            <a:xfrm>
              <a:off x="0" y="0"/>
              <a:ext cx="4214519" cy="1906568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marL="0" lvl="0" indent="0"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70" name="Group 5"/>
          <p:cNvGrpSpPr/>
          <p:nvPr/>
        </p:nvGrpSpPr>
        <p:grpSpPr>
          <a:xfrm>
            <a:off x="6858000" y="2000249"/>
            <a:ext cx="9525000" cy="3666765"/>
            <a:chOff x="0" y="0"/>
            <a:chExt cx="2555098" cy="896105"/>
          </a:xfrm>
        </p:grpSpPr>
        <p:sp>
          <p:nvSpPr>
            <p:cNvPr id="1048702" name="Freeform 6"/>
            <p:cNvSpPr/>
            <p:nvPr/>
          </p:nvSpPr>
          <p:spPr>
            <a:xfrm>
              <a:off x="0" y="0"/>
              <a:ext cx="2555098" cy="896105"/>
            </a:xfrm>
            <a:custGeom>
              <a:avLst/>
              <a:gdLst/>
              <a:ahLst/>
              <a:cxnLst/>
              <a:rect l="l" t="t" r="r" b="b"/>
              <a:pathLst>
                <a:path w="2555098" h="896105">
                  <a:moveTo>
                    <a:pt x="20320" y="0"/>
                  </a:moveTo>
                  <a:lnTo>
                    <a:pt x="2534778" y="0"/>
                  </a:lnTo>
                  <a:cubicBezTo>
                    <a:pt x="2546001" y="0"/>
                    <a:pt x="2555098" y="9098"/>
                    <a:pt x="2555098" y="20320"/>
                  </a:cubicBezTo>
                  <a:lnTo>
                    <a:pt x="2555098" y="875785"/>
                  </a:lnTo>
                  <a:cubicBezTo>
                    <a:pt x="2555098" y="887007"/>
                    <a:pt x="2546001" y="896105"/>
                    <a:pt x="2534778" y="896105"/>
                  </a:cubicBezTo>
                  <a:lnTo>
                    <a:pt x="20320" y="896105"/>
                  </a:lnTo>
                  <a:cubicBezTo>
                    <a:pt x="14931" y="896105"/>
                    <a:pt x="9762" y="893964"/>
                    <a:pt x="5952" y="890153"/>
                  </a:cubicBezTo>
                  <a:cubicBezTo>
                    <a:pt x="2141" y="886342"/>
                    <a:pt x="0" y="881174"/>
                    <a:pt x="0" y="875785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703" name="TextBox 7"/>
            <p:cNvSpPr txBox="1"/>
            <p:nvPr/>
          </p:nvSpPr>
          <p:spPr>
            <a:xfrm>
              <a:off x="0" y="38100"/>
              <a:ext cx="2555098" cy="858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71" name="Group 8"/>
          <p:cNvGrpSpPr/>
          <p:nvPr/>
        </p:nvGrpSpPr>
        <p:grpSpPr>
          <a:xfrm>
            <a:off x="6858000" y="5817036"/>
            <a:ext cx="9525000" cy="2469714"/>
            <a:chOff x="0" y="0"/>
            <a:chExt cx="2555098" cy="690575"/>
          </a:xfrm>
        </p:grpSpPr>
        <p:sp>
          <p:nvSpPr>
            <p:cNvPr id="1048704" name="Freeform 9"/>
            <p:cNvSpPr/>
            <p:nvPr/>
          </p:nvSpPr>
          <p:spPr>
            <a:xfrm>
              <a:off x="0" y="0"/>
              <a:ext cx="2555098" cy="690575"/>
            </a:xfrm>
            <a:custGeom>
              <a:avLst/>
              <a:gdLst/>
              <a:ahLst/>
              <a:cxnLst/>
              <a:rect l="l" t="t" r="r" b="b"/>
              <a:pathLst>
                <a:path w="2555098" h="690575">
                  <a:moveTo>
                    <a:pt x="20320" y="0"/>
                  </a:moveTo>
                  <a:lnTo>
                    <a:pt x="2534778" y="0"/>
                  </a:lnTo>
                  <a:cubicBezTo>
                    <a:pt x="2546001" y="0"/>
                    <a:pt x="2555098" y="9098"/>
                    <a:pt x="2555098" y="20320"/>
                  </a:cubicBezTo>
                  <a:lnTo>
                    <a:pt x="2555098" y="670255"/>
                  </a:lnTo>
                  <a:cubicBezTo>
                    <a:pt x="2555098" y="675644"/>
                    <a:pt x="2552958" y="680812"/>
                    <a:pt x="2549147" y="684623"/>
                  </a:cubicBezTo>
                  <a:cubicBezTo>
                    <a:pt x="2545336" y="688434"/>
                    <a:pt x="2540167" y="690575"/>
                    <a:pt x="2534778" y="690575"/>
                  </a:cubicBezTo>
                  <a:lnTo>
                    <a:pt x="20320" y="690575"/>
                  </a:lnTo>
                  <a:cubicBezTo>
                    <a:pt x="9098" y="690575"/>
                    <a:pt x="0" y="681477"/>
                    <a:pt x="0" y="670255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705" name="TextBox 10"/>
            <p:cNvSpPr txBox="1"/>
            <p:nvPr/>
          </p:nvSpPr>
          <p:spPr>
            <a:xfrm>
              <a:off x="0" y="38100"/>
              <a:ext cx="2555098" cy="6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r>
                <a:rPr lang="en-US" sz="2449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WITH THE HELP OF YOUR TEACHER OR CARER,</a:t>
              </a:r>
            </a:p>
            <a:p>
              <a:pPr algn="ctr">
                <a:lnSpc>
                  <a:spcPts val="2694"/>
                </a:lnSpc>
              </a:pPr>
              <a:r>
                <a:rPr lang="en-US" sz="2449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 WHETHER YOUR SUGGESTIONS AND DRAWINGS WILL MAKE THE BULB LIGHT USING ACTUAL BATTERIES, A SMALL LIGHTBULB, AND WIRES.</a:t>
              </a:r>
            </a:p>
          </p:txBody>
        </p:sp>
      </p:grpSp>
      <p:grpSp>
        <p:nvGrpSpPr>
          <p:cNvPr id="72" name="Group 12"/>
          <p:cNvGrpSpPr/>
          <p:nvPr/>
        </p:nvGrpSpPr>
        <p:grpSpPr>
          <a:xfrm>
            <a:off x="1447800" y="1638598"/>
            <a:ext cx="5029200" cy="5295898"/>
            <a:chOff x="0" y="-95250"/>
            <a:chExt cx="1204148" cy="1394804"/>
          </a:xfrm>
        </p:grpSpPr>
        <p:sp>
          <p:nvSpPr>
            <p:cNvPr id="1048706" name="Freeform 13"/>
            <p:cNvSpPr/>
            <p:nvPr/>
          </p:nvSpPr>
          <p:spPr>
            <a:xfrm>
              <a:off x="0" y="0"/>
              <a:ext cx="1204148" cy="1299554"/>
            </a:xfrm>
            <a:custGeom>
              <a:avLst/>
              <a:gdLst/>
              <a:ahLst/>
              <a:cxnLst/>
              <a:rect l="l" t="t" r="r" b="b"/>
              <a:pathLst>
                <a:path w="1204148" h="551901">
                  <a:moveTo>
                    <a:pt x="42333" y="0"/>
                  </a:moveTo>
                  <a:lnTo>
                    <a:pt x="1161815" y="0"/>
                  </a:lnTo>
                  <a:cubicBezTo>
                    <a:pt x="1173042" y="0"/>
                    <a:pt x="1183810" y="4460"/>
                    <a:pt x="1191749" y="12399"/>
                  </a:cubicBezTo>
                  <a:cubicBezTo>
                    <a:pt x="1199688" y="20338"/>
                    <a:pt x="1204148" y="31106"/>
                    <a:pt x="1204148" y="42333"/>
                  </a:cubicBezTo>
                  <a:lnTo>
                    <a:pt x="1204148" y="509568"/>
                  </a:lnTo>
                  <a:cubicBezTo>
                    <a:pt x="1204148" y="520795"/>
                    <a:pt x="1199688" y="531563"/>
                    <a:pt x="1191749" y="539502"/>
                  </a:cubicBezTo>
                  <a:cubicBezTo>
                    <a:pt x="1183810" y="547441"/>
                    <a:pt x="1173042" y="551901"/>
                    <a:pt x="1161815" y="551901"/>
                  </a:cubicBezTo>
                  <a:lnTo>
                    <a:pt x="42333" y="551901"/>
                  </a:lnTo>
                  <a:cubicBezTo>
                    <a:pt x="31106" y="551901"/>
                    <a:pt x="20338" y="547441"/>
                    <a:pt x="12399" y="539502"/>
                  </a:cubicBezTo>
                  <a:cubicBezTo>
                    <a:pt x="4460" y="531563"/>
                    <a:pt x="0" y="520795"/>
                    <a:pt x="0" y="50956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id="1048707" name="TextBox 14"/>
            <p:cNvSpPr txBox="1"/>
            <p:nvPr/>
          </p:nvSpPr>
          <p:spPr>
            <a:xfrm>
              <a:off x="0" y="-95250"/>
              <a:ext cx="1204148" cy="1364622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lvl="0" algn="ctr">
                <a:lnSpc>
                  <a:spcPts val="5500"/>
                </a:lnSpc>
              </a:pPr>
              <a:r>
                <a:rPr lang="en-US" sz="5000" b="1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Elektromagnitning</a:t>
              </a:r>
              <a:r>
                <a:rPr lang="en-US" sz="5000" b="1" dirty="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 </a:t>
              </a:r>
              <a:r>
                <a:rPr lang="en-US" sz="5000" b="1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fizik</a:t>
              </a:r>
              <a:r>
                <a:rPr lang="en-US" sz="5000" b="1" dirty="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 </a:t>
              </a:r>
              <a:r>
                <a:rPr lang="en-US" sz="5000" b="1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mohiyati</a:t>
              </a:r>
              <a:endParaRPr lang="en-US" sz="50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endParaRPr>
            </a:p>
          </p:txBody>
        </p:sp>
      </p:grpSp>
      <p:sp>
        <p:nvSpPr>
          <p:cNvPr id="1048710" name="TextBox 20"/>
          <p:cNvSpPr txBox="1"/>
          <p:nvPr/>
        </p:nvSpPr>
        <p:spPr>
          <a:xfrm>
            <a:off x="7086600" y="5897731"/>
            <a:ext cx="906780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ts val="3639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Tok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mavjud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bo‘lganida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elektromagnit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magnit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xususiyatga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ega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bo‘ladi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,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tok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uzilganda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esa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bu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xususiyat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yo‘qoladi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. Shu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sababli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elektromagnitni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boshqarish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mumkin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bo‘lgan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magnit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manba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 deb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hisoblanadi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  <a:sym typeface="Inter"/>
              </a:rPr>
              <a:t>.</a:t>
            </a:r>
          </a:p>
        </p:txBody>
      </p:sp>
      <p:sp>
        <p:nvSpPr>
          <p:cNvPr id="1048711" name="Прямоугольник 20"/>
          <p:cNvSpPr/>
          <p:nvPr/>
        </p:nvSpPr>
        <p:spPr>
          <a:xfrm>
            <a:off x="7086600" y="2054192"/>
            <a:ext cx="9296400" cy="3202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Elektromagnit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—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elektr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toki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o‘tganda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magnit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maydon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hosil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qiluvchi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qurilmadir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.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Tok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o‘tayotgan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sim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atrofida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magnit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maydon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paydo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bo‘ladi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va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bu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hodisa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elektromagnit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induksiya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bilan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bog‘liq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. Agar sim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g‘altak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shaklida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o‘ralib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,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ichiga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temir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yadro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joylashtirilsa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,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hosil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bo‘lgan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magnit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maydon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kuchayadi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Century" panose="02040604050505020304" pitchFamily="18" charset="0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E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2"/>
          <p:cNvGrpSpPr/>
          <p:nvPr/>
        </p:nvGrpSpPr>
        <p:grpSpPr>
          <a:xfrm>
            <a:off x="11475514" y="2476500"/>
            <a:ext cx="5669486" cy="7091474"/>
            <a:chOff x="0" y="0"/>
            <a:chExt cx="1379753" cy="1737467"/>
          </a:xfrm>
        </p:grpSpPr>
        <p:sp>
          <p:nvSpPr>
            <p:cNvPr id="1048712" name="Freeform 3"/>
            <p:cNvSpPr/>
            <p:nvPr/>
          </p:nvSpPr>
          <p:spPr>
            <a:xfrm>
              <a:off x="0" y="0"/>
              <a:ext cx="1379753" cy="1737467"/>
            </a:xfrm>
            <a:custGeom>
              <a:avLst/>
              <a:gdLst/>
              <a:ahLst/>
              <a:cxnLst/>
              <a:rect l="l" t="t" r="r" b="b"/>
              <a:pathLst>
                <a:path w="1379753" h="1737467">
                  <a:moveTo>
                    <a:pt x="37630" y="0"/>
                  </a:moveTo>
                  <a:lnTo>
                    <a:pt x="1342124" y="0"/>
                  </a:lnTo>
                  <a:cubicBezTo>
                    <a:pt x="1352104" y="0"/>
                    <a:pt x="1361675" y="3965"/>
                    <a:pt x="1368732" y="11021"/>
                  </a:cubicBezTo>
                  <a:cubicBezTo>
                    <a:pt x="1375789" y="18078"/>
                    <a:pt x="1379753" y="27650"/>
                    <a:pt x="1379753" y="37630"/>
                  </a:cubicBezTo>
                  <a:lnTo>
                    <a:pt x="1379753" y="1699837"/>
                  </a:lnTo>
                  <a:cubicBezTo>
                    <a:pt x="1379753" y="1709817"/>
                    <a:pt x="1375789" y="1719388"/>
                    <a:pt x="1368732" y="1726445"/>
                  </a:cubicBezTo>
                  <a:cubicBezTo>
                    <a:pt x="1361675" y="1733502"/>
                    <a:pt x="1352104" y="1737467"/>
                    <a:pt x="1342124" y="1737467"/>
                  </a:cubicBezTo>
                  <a:lnTo>
                    <a:pt x="37630" y="1737467"/>
                  </a:lnTo>
                  <a:cubicBezTo>
                    <a:pt x="27650" y="1737467"/>
                    <a:pt x="18078" y="1733502"/>
                    <a:pt x="11021" y="1726445"/>
                  </a:cubicBezTo>
                  <a:cubicBezTo>
                    <a:pt x="3965" y="1719388"/>
                    <a:pt x="0" y="1709817"/>
                    <a:pt x="0" y="169983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713" name="TextBox 4"/>
            <p:cNvSpPr txBox="1"/>
            <p:nvPr/>
          </p:nvSpPr>
          <p:spPr>
            <a:xfrm>
              <a:off x="0" y="38100"/>
              <a:ext cx="1379753" cy="169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76" name="Group 5"/>
          <p:cNvGrpSpPr/>
          <p:nvPr/>
        </p:nvGrpSpPr>
        <p:grpSpPr>
          <a:xfrm>
            <a:off x="1050698" y="2476500"/>
            <a:ext cx="5879928" cy="7091474"/>
            <a:chOff x="0" y="0"/>
            <a:chExt cx="1379753" cy="1737467"/>
          </a:xfrm>
        </p:grpSpPr>
        <p:sp>
          <p:nvSpPr>
            <p:cNvPr id="1048714" name="Freeform 6"/>
            <p:cNvSpPr/>
            <p:nvPr/>
          </p:nvSpPr>
          <p:spPr>
            <a:xfrm>
              <a:off x="0" y="0"/>
              <a:ext cx="1379753" cy="1737467"/>
            </a:xfrm>
            <a:custGeom>
              <a:avLst/>
              <a:gdLst/>
              <a:ahLst/>
              <a:cxnLst/>
              <a:rect l="l" t="t" r="r" b="b"/>
              <a:pathLst>
                <a:path w="1379753" h="1737467">
                  <a:moveTo>
                    <a:pt x="37630" y="0"/>
                  </a:moveTo>
                  <a:lnTo>
                    <a:pt x="1342124" y="0"/>
                  </a:lnTo>
                  <a:cubicBezTo>
                    <a:pt x="1352104" y="0"/>
                    <a:pt x="1361675" y="3965"/>
                    <a:pt x="1368732" y="11021"/>
                  </a:cubicBezTo>
                  <a:cubicBezTo>
                    <a:pt x="1375789" y="18078"/>
                    <a:pt x="1379753" y="27650"/>
                    <a:pt x="1379753" y="37630"/>
                  </a:cubicBezTo>
                  <a:lnTo>
                    <a:pt x="1379753" y="1699837"/>
                  </a:lnTo>
                  <a:cubicBezTo>
                    <a:pt x="1379753" y="1709817"/>
                    <a:pt x="1375789" y="1719388"/>
                    <a:pt x="1368732" y="1726445"/>
                  </a:cubicBezTo>
                  <a:cubicBezTo>
                    <a:pt x="1361675" y="1733502"/>
                    <a:pt x="1352104" y="1737467"/>
                    <a:pt x="1342124" y="1737467"/>
                  </a:cubicBezTo>
                  <a:lnTo>
                    <a:pt x="37630" y="1737467"/>
                  </a:lnTo>
                  <a:cubicBezTo>
                    <a:pt x="27650" y="1737467"/>
                    <a:pt x="18078" y="1733502"/>
                    <a:pt x="11021" y="1726445"/>
                  </a:cubicBezTo>
                  <a:cubicBezTo>
                    <a:pt x="3965" y="1719388"/>
                    <a:pt x="0" y="1709817"/>
                    <a:pt x="0" y="169983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715" name="TextBox 7"/>
            <p:cNvSpPr txBox="1"/>
            <p:nvPr/>
          </p:nvSpPr>
          <p:spPr>
            <a:xfrm>
              <a:off x="0" y="38100"/>
              <a:ext cx="1379753" cy="169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77" name="Group 11"/>
          <p:cNvGrpSpPr/>
          <p:nvPr/>
        </p:nvGrpSpPr>
        <p:grpSpPr>
          <a:xfrm>
            <a:off x="7125174" y="2476500"/>
            <a:ext cx="3990502" cy="7091474"/>
            <a:chOff x="0" y="0"/>
            <a:chExt cx="1379753" cy="1737467"/>
          </a:xfrm>
        </p:grpSpPr>
        <p:sp>
          <p:nvSpPr>
            <p:cNvPr id="1048716" name="Freeform 12"/>
            <p:cNvSpPr/>
            <p:nvPr/>
          </p:nvSpPr>
          <p:spPr>
            <a:xfrm>
              <a:off x="0" y="0"/>
              <a:ext cx="1379753" cy="1737467"/>
            </a:xfrm>
            <a:custGeom>
              <a:avLst/>
              <a:gdLst/>
              <a:ahLst/>
              <a:cxnLst/>
              <a:rect l="l" t="t" r="r" b="b"/>
              <a:pathLst>
                <a:path w="1379753" h="1737467">
                  <a:moveTo>
                    <a:pt x="37630" y="0"/>
                  </a:moveTo>
                  <a:lnTo>
                    <a:pt x="1342124" y="0"/>
                  </a:lnTo>
                  <a:cubicBezTo>
                    <a:pt x="1352104" y="0"/>
                    <a:pt x="1361675" y="3965"/>
                    <a:pt x="1368732" y="11021"/>
                  </a:cubicBezTo>
                  <a:cubicBezTo>
                    <a:pt x="1375789" y="18078"/>
                    <a:pt x="1379753" y="27650"/>
                    <a:pt x="1379753" y="37630"/>
                  </a:cubicBezTo>
                  <a:lnTo>
                    <a:pt x="1379753" y="1699837"/>
                  </a:lnTo>
                  <a:cubicBezTo>
                    <a:pt x="1379753" y="1709817"/>
                    <a:pt x="1375789" y="1719388"/>
                    <a:pt x="1368732" y="1726445"/>
                  </a:cubicBezTo>
                  <a:cubicBezTo>
                    <a:pt x="1361675" y="1733502"/>
                    <a:pt x="1352104" y="1737467"/>
                    <a:pt x="1342124" y="1737467"/>
                  </a:cubicBezTo>
                  <a:lnTo>
                    <a:pt x="37630" y="1737467"/>
                  </a:lnTo>
                  <a:cubicBezTo>
                    <a:pt x="27650" y="1737467"/>
                    <a:pt x="18078" y="1733502"/>
                    <a:pt x="11021" y="1726445"/>
                  </a:cubicBezTo>
                  <a:cubicBezTo>
                    <a:pt x="3965" y="1719388"/>
                    <a:pt x="0" y="1709817"/>
                    <a:pt x="0" y="1699837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717" name="TextBox 13"/>
            <p:cNvSpPr txBox="1"/>
            <p:nvPr/>
          </p:nvSpPr>
          <p:spPr>
            <a:xfrm>
              <a:off x="0" y="38100"/>
              <a:ext cx="1379753" cy="169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78" name="Group 14"/>
          <p:cNvGrpSpPr/>
          <p:nvPr/>
        </p:nvGrpSpPr>
        <p:grpSpPr>
          <a:xfrm>
            <a:off x="2390333" y="9086451"/>
            <a:ext cx="3276600" cy="1047750"/>
            <a:chOff x="0" y="0"/>
            <a:chExt cx="812800" cy="812800"/>
          </a:xfrm>
        </p:grpSpPr>
        <p:sp>
          <p:nvSpPr>
            <p:cNvPr id="1048718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id="1048719" name="TextBox 16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0"/>
                </a:lnSpc>
              </a:pPr>
              <a:r>
                <a:rPr lang="en-US" sz="3800" b="1" dirty="0" err="1">
                  <a:solidFill>
                    <a:srgbClr val="000001"/>
                  </a:solidFill>
                  <a:latin typeface="Inter Heavy"/>
                  <a:ea typeface="Inter Heavy"/>
                  <a:cs typeface="Inter Heavy"/>
                  <a:sym typeface="Inter Heavy"/>
                </a:rPr>
                <a:t>G‘altak</a:t>
              </a:r>
              <a:endParaRPr lang="en-US" sz="3800" b="1" dirty="0">
                <a:solidFill>
                  <a:srgbClr val="000001"/>
                </a:solidFill>
                <a:latin typeface="Inter Heavy"/>
                <a:ea typeface="Inter Heavy"/>
                <a:cs typeface="Inter Heavy"/>
                <a:sym typeface="Inter Heavy"/>
              </a:endParaRPr>
            </a:p>
          </p:txBody>
        </p:sp>
      </p:grpSp>
      <p:grpSp>
        <p:nvGrpSpPr>
          <p:cNvPr id="79" name="Group 17"/>
          <p:cNvGrpSpPr/>
          <p:nvPr/>
        </p:nvGrpSpPr>
        <p:grpSpPr>
          <a:xfrm>
            <a:off x="7482125" y="9059968"/>
            <a:ext cx="3276600" cy="1047750"/>
            <a:chOff x="0" y="0"/>
            <a:chExt cx="812800" cy="812800"/>
          </a:xfrm>
        </p:grpSpPr>
        <p:sp>
          <p:nvSpPr>
            <p:cNvPr id="1048720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id="1048721" name="TextBox 19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0"/>
                </a:lnSpc>
                <a:spcBef>
                  <a:spcPct val="0"/>
                </a:spcBef>
              </a:pPr>
              <a:r>
                <a:rPr lang="en-US" sz="3800" b="1" dirty="0" err="1">
                  <a:solidFill>
                    <a:srgbClr val="000001"/>
                  </a:solidFill>
                  <a:latin typeface="Inter Heavy"/>
                  <a:ea typeface="Inter Heavy"/>
                  <a:cs typeface="Inter Heavy"/>
                  <a:sym typeface="Inter Heavy"/>
                </a:rPr>
                <a:t>O‘zak</a:t>
              </a:r>
              <a:endParaRPr lang="en-US" sz="3800" b="1" u="none" strike="noStrike" dirty="0">
                <a:solidFill>
                  <a:srgbClr val="000001"/>
                </a:solidFill>
                <a:latin typeface="Inter Heavy"/>
                <a:ea typeface="Inter Heavy"/>
                <a:cs typeface="Inter Heavy"/>
                <a:sym typeface="Inter Heavy"/>
              </a:endParaRPr>
            </a:p>
          </p:txBody>
        </p:sp>
      </p:grpSp>
      <p:grpSp>
        <p:nvGrpSpPr>
          <p:cNvPr id="80" name="Group 20"/>
          <p:cNvGrpSpPr/>
          <p:nvPr/>
        </p:nvGrpSpPr>
        <p:grpSpPr>
          <a:xfrm>
            <a:off x="12095715" y="9059968"/>
            <a:ext cx="4429083" cy="1047750"/>
            <a:chOff x="0" y="0"/>
            <a:chExt cx="812800" cy="812800"/>
          </a:xfrm>
        </p:grpSpPr>
        <p:sp>
          <p:nvSpPr>
            <p:cNvPr id="1048722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id="1048723" name="TextBox 22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0"/>
                </a:lnSpc>
                <a:spcBef>
                  <a:spcPct val="0"/>
                </a:spcBef>
              </a:pPr>
              <a:r>
                <a:rPr lang="en-US" sz="3800" b="1" dirty="0" err="1">
                  <a:solidFill>
                    <a:srgbClr val="000001"/>
                  </a:solidFill>
                  <a:latin typeface="Inter Heavy"/>
                  <a:ea typeface="Inter Heavy"/>
                  <a:cs typeface="Inter Heavy"/>
                  <a:sym typeface="Inter Heavy"/>
                </a:rPr>
                <a:t>Tok</a:t>
              </a:r>
              <a:r>
                <a:rPr lang="en-US" sz="3800" b="1" dirty="0">
                  <a:solidFill>
                    <a:srgbClr val="000001"/>
                  </a:solidFill>
                  <a:latin typeface="Inter Heavy"/>
                  <a:ea typeface="Inter Heavy"/>
                  <a:cs typeface="Inter Heavy"/>
                  <a:sym typeface="Inter Heavy"/>
                </a:rPr>
                <a:t> </a:t>
              </a:r>
              <a:r>
                <a:rPr lang="en-US" sz="3800" b="1" dirty="0" err="1">
                  <a:solidFill>
                    <a:srgbClr val="000001"/>
                  </a:solidFill>
                  <a:latin typeface="Inter Heavy"/>
                  <a:ea typeface="Inter Heavy"/>
                  <a:cs typeface="Inter Heavy"/>
                  <a:sym typeface="Inter Heavy"/>
                </a:rPr>
                <a:t>manbai</a:t>
              </a:r>
              <a:endParaRPr lang="en-US" sz="3800" b="1" u="none" strike="noStrike" dirty="0">
                <a:solidFill>
                  <a:srgbClr val="000001"/>
                </a:solidFill>
                <a:latin typeface="Inter Heavy"/>
                <a:ea typeface="Inter Heavy"/>
                <a:cs typeface="Inter Heavy"/>
                <a:sym typeface="Inter Heavy"/>
              </a:endParaRPr>
            </a:p>
          </p:txBody>
        </p:sp>
      </p:grpSp>
      <p:sp>
        <p:nvSpPr>
          <p:cNvPr id="1048724" name="TextBox 39"/>
          <p:cNvSpPr txBox="1"/>
          <p:nvPr/>
        </p:nvSpPr>
        <p:spPr>
          <a:xfrm>
            <a:off x="1143000" y="638175"/>
            <a:ext cx="16764000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99"/>
              </a:lnSpc>
            </a:pPr>
            <a:r>
              <a:rPr lang="en-US" sz="4800" b="1" dirty="0" err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Elektromagnitning</a:t>
            </a:r>
            <a:r>
              <a:rPr lang="en-US" sz="48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 </a:t>
            </a:r>
            <a:r>
              <a:rPr lang="en-US" sz="4800" b="1" dirty="0" err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tuzilishi</a:t>
            </a:r>
            <a:r>
              <a:rPr lang="en-US" sz="48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 (</a:t>
            </a:r>
            <a:r>
              <a:rPr lang="en-US" sz="4800" b="1" dirty="0" err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g‘altak</a:t>
            </a:r>
            <a:r>
              <a:rPr lang="en-US" sz="48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, </a:t>
            </a:r>
            <a:r>
              <a:rPr lang="en-US" sz="4800" b="1" dirty="0" err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o‘zak</a:t>
            </a:r>
            <a:r>
              <a:rPr lang="en-US" sz="48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, </a:t>
            </a:r>
            <a:r>
              <a:rPr lang="en-US" sz="4800" b="1" dirty="0" err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tok</a:t>
            </a:r>
            <a:r>
              <a:rPr lang="en-US" sz="48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 </a:t>
            </a:r>
            <a:r>
              <a:rPr lang="en-US" sz="4800" b="1" dirty="0" err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manbai</a:t>
            </a:r>
            <a:r>
              <a:rPr lang="en-US" sz="48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)</a:t>
            </a:r>
          </a:p>
        </p:txBody>
      </p:sp>
      <p:pic>
        <p:nvPicPr>
          <p:cNvPr id="2097154" name="Рисунок 46"/>
          <p:cNvPicPr>
            <a:picLocks noChangeAspect="1"/>
          </p:cNvPicPr>
          <p:nvPr/>
        </p:nvPicPr>
        <p:blipFill rotWithShape="1">
          <a:blip r:embed="rId2"/>
          <a:srcRect l="8500" t="4667" r="13500" b="9111"/>
          <a:stretch>
            <a:fillRect/>
          </a:stretch>
        </p:blipFill>
        <p:spPr>
          <a:xfrm>
            <a:off x="1432476" y="2888229"/>
            <a:ext cx="5415845" cy="3367545"/>
          </a:xfrm>
          <a:prstGeom prst="rect">
            <a:avLst/>
          </a:prstGeom>
        </p:spPr>
      </p:pic>
      <p:pic>
        <p:nvPicPr>
          <p:cNvPr id="2097155" name="Рисунок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300" y="2744691"/>
            <a:ext cx="2211263" cy="4552948"/>
          </a:xfrm>
          <a:prstGeom prst="rect">
            <a:avLst/>
          </a:prstGeom>
        </p:spPr>
      </p:pic>
      <p:pic>
        <p:nvPicPr>
          <p:cNvPr id="2097156" name="Рисунок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514" y="2734300"/>
            <a:ext cx="5627516" cy="3503925"/>
          </a:xfrm>
          <a:prstGeom prst="rect">
            <a:avLst/>
          </a:prstGeom>
        </p:spPr>
      </p:pic>
      <p:sp>
        <p:nvSpPr>
          <p:cNvPr id="1048725" name="Прямоугольник 49"/>
          <p:cNvSpPr/>
          <p:nvPr/>
        </p:nvSpPr>
        <p:spPr>
          <a:xfrm>
            <a:off x="1350171" y="6740522"/>
            <a:ext cx="5498150" cy="2504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1"/>
                </a:solidFill>
              </a:rPr>
              <a:t>G‘altak</a:t>
            </a:r>
            <a:r>
              <a:rPr lang="en-US" sz="3200" b="1" dirty="0">
                <a:solidFill>
                  <a:schemeClr val="accent1"/>
                </a:solidFill>
              </a:rPr>
              <a:t> (sim </a:t>
            </a:r>
            <a:r>
              <a:rPr lang="en-US" sz="3200" b="1" dirty="0" err="1">
                <a:solidFill>
                  <a:schemeClr val="accent1"/>
                </a:solidFill>
              </a:rPr>
              <a:t>o‘rami</a:t>
            </a:r>
            <a:r>
              <a:rPr lang="en-US" sz="3200" b="1" dirty="0">
                <a:solidFill>
                  <a:schemeClr val="accent1"/>
                </a:solidFill>
              </a:rPr>
              <a:t>) </a:t>
            </a:r>
            <a:r>
              <a:rPr lang="en-US" sz="3200" dirty="0">
                <a:solidFill>
                  <a:schemeClr val="accent1"/>
                </a:solidFill>
              </a:rPr>
              <a:t>— </a:t>
            </a:r>
            <a:r>
              <a:rPr lang="en-US" sz="3200" dirty="0" err="1">
                <a:solidFill>
                  <a:schemeClr val="accent1"/>
                </a:solidFill>
              </a:rPr>
              <a:t>elektr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toki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o‘tganda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magnit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maydon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hosil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qiladi</a:t>
            </a:r>
            <a:r>
              <a:rPr lang="en-US" sz="3200" dirty="0">
                <a:solidFill>
                  <a:schemeClr val="accent1"/>
                </a:solidFill>
              </a:rPr>
              <a:t>. </a:t>
            </a:r>
            <a:r>
              <a:rPr lang="en-US" sz="3200" dirty="0" err="1">
                <a:solidFill>
                  <a:schemeClr val="accent1"/>
                </a:solidFill>
              </a:rPr>
              <a:t>O‘ramlar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soni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ko‘p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bo‘lsa</a:t>
            </a:r>
            <a:r>
              <a:rPr lang="en-US" sz="3200" dirty="0">
                <a:solidFill>
                  <a:schemeClr val="accent1"/>
                </a:solidFill>
              </a:rPr>
              <a:t>, </a:t>
            </a:r>
            <a:r>
              <a:rPr lang="en-US" sz="3200" dirty="0" err="1">
                <a:solidFill>
                  <a:schemeClr val="accent1"/>
                </a:solidFill>
              </a:rPr>
              <a:t>magnit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kuch</a:t>
            </a:r>
            <a:r>
              <a:rPr lang="en-US" sz="3200" dirty="0">
                <a:solidFill>
                  <a:schemeClr val="accent1"/>
                </a:solidFill>
              </a:rPr>
              <a:t> ham </a:t>
            </a:r>
            <a:r>
              <a:rPr lang="en-US" sz="3200" dirty="0" err="1">
                <a:solidFill>
                  <a:schemeClr val="accent1"/>
                </a:solidFill>
              </a:rPr>
              <a:t>ortadi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048726" name="Прямоугольник 50"/>
          <p:cNvSpPr/>
          <p:nvPr/>
        </p:nvSpPr>
        <p:spPr>
          <a:xfrm>
            <a:off x="7295074" y="7350509"/>
            <a:ext cx="3820602" cy="151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</a:rPr>
              <a:t>O‘zak</a:t>
            </a:r>
            <a:r>
              <a:rPr lang="en-US" sz="2400" dirty="0">
                <a:solidFill>
                  <a:schemeClr val="accent1"/>
                </a:solidFill>
              </a:rPr>
              <a:t> — </a:t>
            </a:r>
            <a:r>
              <a:rPr lang="en-US" sz="2400" dirty="0" err="1">
                <a:solidFill>
                  <a:schemeClr val="accent1"/>
                </a:solidFill>
              </a:rPr>
              <a:t>magnit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maydonni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kuchaytiradi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va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yo‘naltiradi</a:t>
            </a:r>
            <a:r>
              <a:rPr lang="en-US" sz="2400" dirty="0">
                <a:solidFill>
                  <a:schemeClr val="accent1"/>
                </a:solidFill>
              </a:rPr>
              <a:t>. </a:t>
            </a:r>
            <a:r>
              <a:rPr lang="en-US" sz="2400" dirty="0" err="1">
                <a:solidFill>
                  <a:schemeClr val="accent1"/>
                </a:solidFill>
              </a:rPr>
              <a:t>Odatda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temirdan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tayyorlanadi</a:t>
            </a:r>
            <a:r>
              <a:rPr lang="en-US" sz="24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048727" name="Прямоугольник 51"/>
          <p:cNvSpPr/>
          <p:nvPr/>
        </p:nvSpPr>
        <p:spPr>
          <a:xfrm>
            <a:off x="11759803" y="7125242"/>
            <a:ext cx="5080398" cy="2186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accent1"/>
                </a:solidFill>
              </a:rPr>
              <a:t>Tok</a:t>
            </a:r>
            <a:r>
              <a:rPr lang="en-US" sz="2800" b="1" dirty="0">
                <a:solidFill>
                  <a:schemeClr val="accent1"/>
                </a:solidFill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</a:rPr>
              <a:t>manbai</a:t>
            </a:r>
            <a:r>
              <a:rPr lang="en-US" sz="2800" b="1" dirty="0">
                <a:solidFill>
                  <a:schemeClr val="accent1"/>
                </a:solidFill>
              </a:rPr>
              <a:t> </a:t>
            </a:r>
            <a:r>
              <a:rPr lang="en-US" sz="2800" dirty="0">
                <a:solidFill>
                  <a:schemeClr val="accent1"/>
                </a:solidFill>
              </a:rPr>
              <a:t>— </a:t>
            </a:r>
            <a:r>
              <a:rPr lang="en-US" sz="2800" dirty="0" err="1">
                <a:solidFill>
                  <a:schemeClr val="accent1"/>
                </a:solidFill>
              </a:rPr>
              <a:t>elektr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 err="1">
                <a:solidFill>
                  <a:schemeClr val="accent1"/>
                </a:solidFill>
              </a:rPr>
              <a:t>energiyasini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 err="1">
                <a:solidFill>
                  <a:schemeClr val="accent1"/>
                </a:solidFill>
              </a:rPr>
              <a:t>beradi</a:t>
            </a:r>
            <a:r>
              <a:rPr lang="en-US" sz="2800" dirty="0">
                <a:solidFill>
                  <a:schemeClr val="accent1"/>
                </a:solidFill>
              </a:rPr>
              <a:t> (</a:t>
            </a:r>
            <a:r>
              <a:rPr lang="en-US" sz="2800" dirty="0" err="1">
                <a:solidFill>
                  <a:schemeClr val="accent1"/>
                </a:solidFill>
              </a:rPr>
              <a:t>batareya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 err="1">
                <a:solidFill>
                  <a:schemeClr val="accent1"/>
                </a:solidFill>
              </a:rPr>
              <a:t>yoki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 err="1">
                <a:solidFill>
                  <a:schemeClr val="accent1"/>
                </a:solidFill>
              </a:rPr>
              <a:t>boshqa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 err="1">
                <a:solidFill>
                  <a:schemeClr val="accent1"/>
                </a:solidFill>
              </a:rPr>
              <a:t>manba</a:t>
            </a:r>
            <a:r>
              <a:rPr lang="en-US" sz="2800" dirty="0">
                <a:solidFill>
                  <a:schemeClr val="accent1"/>
                </a:solidFill>
              </a:rPr>
              <a:t>). </a:t>
            </a:r>
            <a:r>
              <a:rPr lang="en-US" sz="2800" dirty="0" err="1">
                <a:solidFill>
                  <a:schemeClr val="accent1"/>
                </a:solidFill>
              </a:rPr>
              <a:t>Tok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 err="1">
                <a:solidFill>
                  <a:schemeClr val="accent1"/>
                </a:solidFill>
              </a:rPr>
              <a:t>bo‘lmasa</a:t>
            </a:r>
            <a:r>
              <a:rPr lang="en-US" sz="2800" dirty="0">
                <a:solidFill>
                  <a:schemeClr val="accent1"/>
                </a:solidFill>
              </a:rPr>
              <a:t>, </a:t>
            </a:r>
            <a:r>
              <a:rPr lang="en-US" sz="2800" dirty="0" err="1">
                <a:solidFill>
                  <a:schemeClr val="accent1"/>
                </a:solidFill>
              </a:rPr>
              <a:t>elektromagnit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 err="1">
                <a:solidFill>
                  <a:schemeClr val="accent1"/>
                </a:solidFill>
              </a:rPr>
              <a:t>ishlamaydi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E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2"/>
          <p:cNvGrpSpPr/>
          <p:nvPr/>
        </p:nvGrpSpPr>
        <p:grpSpPr>
          <a:xfrm>
            <a:off x="-190500" y="5143500"/>
            <a:ext cx="18669000" cy="5334000"/>
            <a:chOff x="0" y="0"/>
            <a:chExt cx="4741333" cy="1354667"/>
          </a:xfrm>
        </p:grpSpPr>
        <p:sp>
          <p:nvSpPr>
            <p:cNvPr id="1048728" name="Freeform 3"/>
            <p:cNvSpPr/>
            <p:nvPr/>
          </p:nvSpPr>
          <p:spPr>
            <a:xfrm>
              <a:off x="0" y="0"/>
              <a:ext cx="4741333" cy="1354667"/>
            </a:xfrm>
            <a:custGeom>
              <a:avLst/>
              <a:gdLst/>
              <a:ahLst/>
              <a:cxnLst/>
              <a:rect l="l" t="t" r="r" b="b"/>
              <a:pathLst>
                <a:path w="4741333" h="1354667">
                  <a:moveTo>
                    <a:pt x="0" y="0"/>
                  </a:moveTo>
                  <a:lnTo>
                    <a:pt x="4741333" y="0"/>
                  </a:lnTo>
                  <a:lnTo>
                    <a:pt x="4741333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384766"/>
            </a:solidFill>
            <a:ln cap="sq">
              <a:noFill/>
              <a:prstDash val="solid"/>
              <a:miter/>
            </a:ln>
          </p:spPr>
        </p:sp>
        <p:sp>
          <p:nvSpPr>
            <p:cNvPr id="1048729" name="TextBox 4"/>
            <p:cNvSpPr txBox="1"/>
            <p:nvPr/>
          </p:nvSpPr>
          <p:spPr>
            <a:xfrm>
              <a:off x="0" y="38100"/>
              <a:ext cx="4741333" cy="1316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3" name="Group 5"/>
          <p:cNvGrpSpPr/>
          <p:nvPr/>
        </p:nvGrpSpPr>
        <p:grpSpPr>
          <a:xfrm>
            <a:off x="1143000" y="1143000"/>
            <a:ext cx="16002000" cy="8382000"/>
            <a:chOff x="0" y="0"/>
            <a:chExt cx="4214519" cy="2207605"/>
          </a:xfrm>
        </p:grpSpPr>
        <p:sp>
          <p:nvSpPr>
            <p:cNvPr id="1048730" name="Freeform 6"/>
            <p:cNvSpPr/>
            <p:nvPr/>
          </p:nvSpPr>
          <p:spPr>
            <a:xfrm>
              <a:off x="0" y="0"/>
              <a:ext cx="4214518" cy="2207605"/>
            </a:xfrm>
            <a:custGeom>
              <a:avLst/>
              <a:gdLst/>
              <a:ahLst/>
              <a:cxnLst/>
              <a:rect l="l" t="t" r="r" b="b"/>
              <a:pathLst>
                <a:path w="4214518" h="2207605">
                  <a:moveTo>
                    <a:pt x="12095" y="0"/>
                  </a:moveTo>
                  <a:lnTo>
                    <a:pt x="4202423" y="0"/>
                  </a:lnTo>
                  <a:cubicBezTo>
                    <a:pt x="4205631" y="0"/>
                    <a:pt x="4208707" y="1274"/>
                    <a:pt x="4210976" y="3543"/>
                  </a:cubicBezTo>
                  <a:cubicBezTo>
                    <a:pt x="4213244" y="5811"/>
                    <a:pt x="4214518" y="8887"/>
                    <a:pt x="4214518" y="12095"/>
                  </a:cubicBezTo>
                  <a:lnTo>
                    <a:pt x="4214518" y="2195510"/>
                  </a:lnTo>
                  <a:cubicBezTo>
                    <a:pt x="4214518" y="2198718"/>
                    <a:pt x="4213244" y="2201794"/>
                    <a:pt x="4210976" y="2204062"/>
                  </a:cubicBezTo>
                  <a:cubicBezTo>
                    <a:pt x="4208707" y="2206331"/>
                    <a:pt x="4205631" y="2207605"/>
                    <a:pt x="4202423" y="2207605"/>
                  </a:cubicBezTo>
                  <a:lnTo>
                    <a:pt x="12095" y="2207605"/>
                  </a:lnTo>
                  <a:cubicBezTo>
                    <a:pt x="8887" y="2207605"/>
                    <a:pt x="5811" y="2206331"/>
                    <a:pt x="3543" y="2204062"/>
                  </a:cubicBezTo>
                  <a:cubicBezTo>
                    <a:pt x="1274" y="2201794"/>
                    <a:pt x="0" y="2198718"/>
                    <a:pt x="0" y="2195510"/>
                  </a:cubicBezTo>
                  <a:lnTo>
                    <a:pt x="0" y="12095"/>
                  </a:lnTo>
                  <a:cubicBezTo>
                    <a:pt x="0" y="8887"/>
                    <a:pt x="1274" y="5811"/>
                    <a:pt x="3543" y="3543"/>
                  </a:cubicBezTo>
                  <a:cubicBezTo>
                    <a:pt x="5811" y="1274"/>
                    <a:pt x="8887" y="0"/>
                    <a:pt x="1209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731" name="TextBox 7"/>
            <p:cNvSpPr txBox="1"/>
            <p:nvPr/>
          </p:nvSpPr>
          <p:spPr>
            <a:xfrm>
              <a:off x="0" y="-38100"/>
              <a:ext cx="4214519" cy="2245705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marL="0" lvl="0" indent="0" algn="ctr">
                <a:lnSpc>
                  <a:spcPts val="51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4" name="Group 8"/>
          <p:cNvGrpSpPr/>
          <p:nvPr/>
        </p:nvGrpSpPr>
        <p:grpSpPr>
          <a:xfrm>
            <a:off x="2095500" y="762000"/>
            <a:ext cx="14097000" cy="1905000"/>
            <a:chOff x="0" y="0"/>
            <a:chExt cx="3712790" cy="501728"/>
          </a:xfrm>
        </p:grpSpPr>
        <p:sp>
          <p:nvSpPr>
            <p:cNvPr id="1048732" name="Freeform 9"/>
            <p:cNvSpPr/>
            <p:nvPr/>
          </p:nvSpPr>
          <p:spPr>
            <a:xfrm>
              <a:off x="0" y="0"/>
              <a:ext cx="3712790" cy="501728"/>
            </a:xfrm>
            <a:custGeom>
              <a:avLst/>
              <a:gdLst/>
              <a:ahLst/>
              <a:cxnLst/>
              <a:rect l="l" t="t" r="r" b="b"/>
              <a:pathLst>
                <a:path w="3712790" h="501728">
                  <a:moveTo>
                    <a:pt x="13730" y="0"/>
                  </a:moveTo>
                  <a:lnTo>
                    <a:pt x="3699060" y="0"/>
                  </a:lnTo>
                  <a:cubicBezTo>
                    <a:pt x="3702702" y="0"/>
                    <a:pt x="3706194" y="1447"/>
                    <a:pt x="3708769" y="4021"/>
                  </a:cubicBezTo>
                  <a:cubicBezTo>
                    <a:pt x="3711344" y="6596"/>
                    <a:pt x="3712790" y="10088"/>
                    <a:pt x="3712790" y="13730"/>
                  </a:cubicBezTo>
                  <a:lnTo>
                    <a:pt x="3712790" y="487999"/>
                  </a:lnTo>
                  <a:cubicBezTo>
                    <a:pt x="3712790" y="495581"/>
                    <a:pt x="3706643" y="501728"/>
                    <a:pt x="3699060" y="501728"/>
                  </a:cubicBezTo>
                  <a:lnTo>
                    <a:pt x="13730" y="501728"/>
                  </a:lnTo>
                  <a:cubicBezTo>
                    <a:pt x="10088" y="501728"/>
                    <a:pt x="6596" y="500282"/>
                    <a:pt x="4021" y="497707"/>
                  </a:cubicBezTo>
                  <a:cubicBezTo>
                    <a:pt x="1447" y="495132"/>
                    <a:pt x="0" y="491640"/>
                    <a:pt x="0" y="487999"/>
                  </a:cubicBezTo>
                  <a:lnTo>
                    <a:pt x="0" y="13730"/>
                  </a:lnTo>
                  <a:cubicBezTo>
                    <a:pt x="0" y="10088"/>
                    <a:pt x="1447" y="6596"/>
                    <a:pt x="4021" y="4021"/>
                  </a:cubicBezTo>
                  <a:cubicBezTo>
                    <a:pt x="6596" y="1447"/>
                    <a:pt x="10088" y="0"/>
                    <a:pt x="13730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id="1048733" name="TextBox 10"/>
            <p:cNvSpPr txBox="1"/>
            <p:nvPr/>
          </p:nvSpPr>
          <p:spPr>
            <a:xfrm>
              <a:off x="0" y="-123825"/>
              <a:ext cx="3712790" cy="62555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0" lvl="0" indent="0" algn="ctr">
                <a:lnSpc>
                  <a:spcPts val="7699"/>
                </a:lnSpc>
              </a:pPr>
              <a:r>
                <a:rPr lang="en-US" sz="6999" b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What is an electric circuit?</a:t>
              </a:r>
            </a:p>
          </p:txBody>
        </p:sp>
      </p:grpSp>
      <p:grpSp>
        <p:nvGrpSpPr>
          <p:cNvPr id="85" name="Group 11"/>
          <p:cNvGrpSpPr/>
          <p:nvPr/>
        </p:nvGrpSpPr>
        <p:grpSpPr>
          <a:xfrm>
            <a:off x="9263436" y="3301469"/>
            <a:ext cx="6854359" cy="5526327"/>
            <a:chOff x="0" y="0"/>
            <a:chExt cx="9139146" cy="7368436"/>
          </a:xfrm>
        </p:grpSpPr>
        <p:sp>
          <p:nvSpPr>
            <p:cNvPr id="1048734" name="Freeform 12"/>
            <p:cNvSpPr/>
            <p:nvPr/>
          </p:nvSpPr>
          <p:spPr>
            <a:xfrm>
              <a:off x="0" y="0"/>
              <a:ext cx="9139146" cy="7368436"/>
            </a:xfrm>
            <a:custGeom>
              <a:avLst/>
              <a:gdLst/>
              <a:ahLst/>
              <a:cxnLst/>
              <a:rect l="l" t="t" r="r" b="b"/>
              <a:pathLst>
                <a:path w="9139146" h="7368436">
                  <a:moveTo>
                    <a:pt x="0" y="0"/>
                  </a:moveTo>
                  <a:lnTo>
                    <a:pt x="9139146" y="0"/>
                  </a:lnTo>
                  <a:lnTo>
                    <a:pt x="9139146" y="7368436"/>
                  </a:lnTo>
                  <a:lnTo>
                    <a:pt x="0" y="7368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86" name="Group 13"/>
            <p:cNvGrpSpPr/>
            <p:nvPr/>
          </p:nvGrpSpPr>
          <p:grpSpPr>
            <a:xfrm>
              <a:off x="1354725" y="1988092"/>
              <a:ext cx="2366274" cy="3877183"/>
              <a:chOff x="0" y="0"/>
              <a:chExt cx="480651" cy="787555"/>
            </a:xfrm>
          </p:grpSpPr>
          <p:sp>
            <p:nvSpPr>
              <p:cNvPr id="1048735" name="Freeform 14"/>
              <p:cNvSpPr/>
              <p:nvPr/>
            </p:nvSpPr>
            <p:spPr>
              <a:xfrm>
                <a:off x="0" y="0"/>
                <a:ext cx="480651" cy="787555"/>
              </a:xfrm>
              <a:custGeom>
                <a:avLst/>
                <a:gdLst/>
                <a:ahLst/>
                <a:cxnLst/>
                <a:rect l="l" t="t" r="r" b="b"/>
                <a:pathLst>
                  <a:path w="480651" h="787555">
                    <a:moveTo>
                      <a:pt x="0" y="0"/>
                    </a:moveTo>
                    <a:lnTo>
                      <a:pt x="480651" y="0"/>
                    </a:lnTo>
                    <a:lnTo>
                      <a:pt x="480651" y="787555"/>
                    </a:lnTo>
                    <a:lnTo>
                      <a:pt x="0" y="78755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48736" name="TextBox 15"/>
              <p:cNvSpPr txBox="1"/>
              <p:nvPr/>
            </p:nvSpPr>
            <p:spPr>
              <a:xfrm>
                <a:off x="0" y="-47625"/>
                <a:ext cx="480651" cy="8351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5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48737" name="Freeform 16"/>
            <p:cNvSpPr/>
            <p:nvPr/>
          </p:nvSpPr>
          <p:spPr>
            <a:xfrm rot="1270823" flipH="1">
              <a:off x="668313" y="1864769"/>
              <a:ext cx="3098747" cy="1499565"/>
            </a:xfrm>
            <a:custGeom>
              <a:avLst/>
              <a:gdLst/>
              <a:ahLst/>
              <a:cxnLst/>
              <a:rect l="l" t="t" r="r" b="b"/>
              <a:pathLst>
                <a:path w="3098747" h="1499565">
                  <a:moveTo>
                    <a:pt x="3098747" y="0"/>
                  </a:moveTo>
                  <a:lnTo>
                    <a:pt x="0" y="0"/>
                  </a:lnTo>
                  <a:lnTo>
                    <a:pt x="0" y="1499565"/>
                  </a:lnTo>
                  <a:lnTo>
                    <a:pt x="3098747" y="1499565"/>
                  </a:lnTo>
                  <a:lnTo>
                    <a:pt x="3098747" y="0"/>
                  </a:lnTo>
                  <a:close/>
                </a:path>
              </a:pathLst>
            </a:custGeom>
            <a:blipFill>
              <a:blip r:embed="rId2"/>
              <a:stretch>
                <a:fillRect l="-194930" t="-182753" b="-208618"/>
              </a:stretch>
            </a:blipFill>
          </p:spPr>
        </p:sp>
        <p:grpSp>
          <p:nvGrpSpPr>
            <p:cNvPr id="87" name="Group 17"/>
            <p:cNvGrpSpPr/>
            <p:nvPr/>
          </p:nvGrpSpPr>
          <p:grpSpPr>
            <a:xfrm>
              <a:off x="3720999" y="2784444"/>
              <a:ext cx="138197" cy="275131"/>
              <a:chOff x="0" y="0"/>
              <a:chExt cx="28071" cy="55886"/>
            </a:xfrm>
          </p:grpSpPr>
          <p:sp>
            <p:nvSpPr>
              <p:cNvPr id="1048738" name="Freeform 18"/>
              <p:cNvSpPr/>
              <p:nvPr/>
            </p:nvSpPr>
            <p:spPr>
              <a:xfrm>
                <a:off x="0" y="0"/>
                <a:ext cx="28071" cy="55886"/>
              </a:xfrm>
              <a:custGeom>
                <a:avLst/>
                <a:gdLst/>
                <a:ahLst/>
                <a:cxnLst/>
                <a:rect l="l" t="t" r="r" b="b"/>
                <a:pathLst>
                  <a:path w="28071" h="55886">
                    <a:moveTo>
                      <a:pt x="0" y="0"/>
                    </a:moveTo>
                    <a:lnTo>
                      <a:pt x="28071" y="0"/>
                    </a:lnTo>
                    <a:lnTo>
                      <a:pt x="28071" y="55886"/>
                    </a:lnTo>
                    <a:lnTo>
                      <a:pt x="0" y="55886"/>
                    </a:lnTo>
                    <a:close/>
                  </a:path>
                </a:pathLst>
              </a:custGeom>
              <a:solidFill>
                <a:srgbClr val="F952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48739" name="TextBox 19"/>
              <p:cNvSpPr txBox="1"/>
              <p:nvPr/>
            </p:nvSpPr>
            <p:spPr>
              <a:xfrm>
                <a:off x="0" y="-47625"/>
                <a:ext cx="28071" cy="1035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520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88" name="Group 20"/>
          <p:cNvGrpSpPr/>
          <p:nvPr/>
        </p:nvGrpSpPr>
        <p:grpSpPr>
          <a:xfrm>
            <a:off x="8772180" y="3301469"/>
            <a:ext cx="2476500" cy="800100"/>
            <a:chOff x="0" y="0"/>
            <a:chExt cx="652247" cy="210726"/>
          </a:xfrm>
        </p:grpSpPr>
        <p:sp>
          <p:nvSpPr>
            <p:cNvPr id="1048740" name="Freeform 21"/>
            <p:cNvSpPr/>
            <p:nvPr/>
          </p:nvSpPr>
          <p:spPr>
            <a:xfrm>
              <a:off x="0" y="0"/>
              <a:ext cx="652247" cy="210726"/>
            </a:xfrm>
            <a:custGeom>
              <a:avLst/>
              <a:gdLst/>
              <a:ahLst/>
              <a:cxnLst/>
              <a:rect l="l" t="t" r="r" b="b"/>
              <a:pathLst>
                <a:path w="652247" h="210726">
                  <a:moveTo>
                    <a:pt x="78154" y="0"/>
                  </a:moveTo>
                  <a:lnTo>
                    <a:pt x="574093" y="0"/>
                  </a:lnTo>
                  <a:cubicBezTo>
                    <a:pt x="594821" y="0"/>
                    <a:pt x="614699" y="8234"/>
                    <a:pt x="629356" y="22891"/>
                  </a:cubicBezTo>
                  <a:cubicBezTo>
                    <a:pt x="644013" y="37547"/>
                    <a:pt x="652247" y="57426"/>
                    <a:pt x="652247" y="78154"/>
                  </a:cubicBezTo>
                  <a:lnTo>
                    <a:pt x="652247" y="132572"/>
                  </a:lnTo>
                  <a:cubicBezTo>
                    <a:pt x="652247" y="153300"/>
                    <a:pt x="644013" y="173179"/>
                    <a:pt x="629356" y="187835"/>
                  </a:cubicBezTo>
                  <a:cubicBezTo>
                    <a:pt x="614699" y="202492"/>
                    <a:pt x="594821" y="210726"/>
                    <a:pt x="574093" y="210726"/>
                  </a:cubicBezTo>
                  <a:lnTo>
                    <a:pt x="78154" y="210726"/>
                  </a:lnTo>
                  <a:cubicBezTo>
                    <a:pt x="57426" y="210726"/>
                    <a:pt x="37547" y="202492"/>
                    <a:pt x="22891" y="187835"/>
                  </a:cubicBezTo>
                  <a:cubicBezTo>
                    <a:pt x="8234" y="173179"/>
                    <a:pt x="0" y="153300"/>
                    <a:pt x="0" y="132572"/>
                  </a:cubicBezTo>
                  <a:lnTo>
                    <a:pt x="0" y="78154"/>
                  </a:lnTo>
                  <a:cubicBezTo>
                    <a:pt x="0" y="57426"/>
                    <a:pt x="8234" y="37547"/>
                    <a:pt x="22891" y="22891"/>
                  </a:cubicBezTo>
                  <a:cubicBezTo>
                    <a:pt x="37547" y="8234"/>
                    <a:pt x="57426" y="0"/>
                    <a:pt x="78154" y="0"/>
                  </a:cubicBezTo>
                  <a:close/>
                </a:path>
              </a:pathLst>
            </a:custGeom>
            <a:solidFill>
              <a:srgbClr val="000001"/>
            </a:solidFill>
            <a:ln cap="rnd">
              <a:noFill/>
              <a:prstDash val="solid"/>
              <a:round/>
            </a:ln>
          </p:spPr>
        </p:sp>
        <p:sp>
          <p:nvSpPr>
            <p:cNvPr id="1048741" name="TextBox 22"/>
            <p:cNvSpPr txBox="1"/>
            <p:nvPr/>
          </p:nvSpPr>
          <p:spPr>
            <a:xfrm>
              <a:off x="0" y="-9525"/>
              <a:ext cx="652247" cy="220251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marL="0" lvl="0" indent="0"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DIRECTION OF ELECTRIC CURRENT</a:t>
              </a:r>
            </a:p>
          </p:txBody>
        </p:sp>
      </p:grpSp>
      <p:sp>
        <p:nvSpPr>
          <p:cNvPr id="1048742" name="Freeform 23"/>
          <p:cNvSpPr/>
          <p:nvPr/>
        </p:nvSpPr>
        <p:spPr>
          <a:xfrm flipH="1">
            <a:off x="14922578" y="5200003"/>
            <a:ext cx="1649423" cy="910634"/>
          </a:xfrm>
          <a:custGeom>
            <a:avLst/>
            <a:gdLst/>
            <a:ahLst/>
            <a:cxnLst/>
            <a:rect l="l" t="t" r="r" b="b"/>
            <a:pathLst>
              <a:path w="1649423" h="910634">
                <a:moveTo>
                  <a:pt x="1649423" y="0"/>
                </a:moveTo>
                <a:lnTo>
                  <a:pt x="0" y="0"/>
                </a:lnTo>
                <a:lnTo>
                  <a:pt x="0" y="910634"/>
                </a:lnTo>
                <a:lnTo>
                  <a:pt x="1649423" y="910634"/>
                </a:lnTo>
                <a:lnTo>
                  <a:pt x="16494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743" name="Freeform 24"/>
          <p:cNvSpPr/>
          <p:nvPr/>
        </p:nvSpPr>
        <p:spPr>
          <a:xfrm rot="-10800000" flipH="1">
            <a:off x="8772180" y="7917162"/>
            <a:ext cx="1649423" cy="910634"/>
          </a:xfrm>
          <a:custGeom>
            <a:avLst/>
            <a:gdLst/>
            <a:ahLst/>
            <a:cxnLst/>
            <a:rect l="l" t="t" r="r" b="b"/>
            <a:pathLst>
              <a:path w="1649423" h="910634">
                <a:moveTo>
                  <a:pt x="1649422" y="0"/>
                </a:moveTo>
                <a:lnTo>
                  <a:pt x="0" y="0"/>
                </a:lnTo>
                <a:lnTo>
                  <a:pt x="0" y="910634"/>
                </a:lnTo>
                <a:lnTo>
                  <a:pt x="1649422" y="910634"/>
                </a:lnTo>
                <a:lnTo>
                  <a:pt x="16494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744" name="Freeform 25"/>
          <p:cNvSpPr/>
          <p:nvPr/>
        </p:nvSpPr>
        <p:spPr>
          <a:xfrm rot="-5400000" flipH="1">
            <a:off x="8693384" y="4573263"/>
            <a:ext cx="1068226" cy="910634"/>
          </a:xfrm>
          <a:custGeom>
            <a:avLst/>
            <a:gdLst/>
            <a:ahLst/>
            <a:cxnLst/>
            <a:rect l="l" t="t" r="r" b="b"/>
            <a:pathLst>
              <a:path w="1068226" h="910634">
                <a:moveTo>
                  <a:pt x="1068226" y="0"/>
                </a:moveTo>
                <a:lnTo>
                  <a:pt x="0" y="0"/>
                </a:lnTo>
                <a:lnTo>
                  <a:pt x="0" y="910634"/>
                </a:lnTo>
                <a:lnTo>
                  <a:pt x="1068226" y="910634"/>
                </a:lnTo>
                <a:lnTo>
                  <a:pt x="1068226" y="0"/>
                </a:lnTo>
                <a:close/>
              </a:path>
            </a:pathLst>
          </a:custGeom>
          <a:blipFill>
            <a:blip r:embed="rId3"/>
            <a:stretch>
              <a:fillRect r="-54407"/>
            </a:stretch>
          </a:blipFill>
        </p:spPr>
      </p:sp>
      <p:grpSp>
        <p:nvGrpSpPr>
          <p:cNvPr id="89" name="Group 26"/>
          <p:cNvGrpSpPr/>
          <p:nvPr/>
        </p:nvGrpSpPr>
        <p:grpSpPr>
          <a:xfrm>
            <a:off x="2095500" y="3419710"/>
            <a:ext cx="5715000" cy="2286000"/>
            <a:chOff x="0" y="0"/>
            <a:chExt cx="1505185" cy="602074"/>
          </a:xfrm>
        </p:grpSpPr>
        <p:sp>
          <p:nvSpPr>
            <p:cNvPr id="1048745" name="Freeform 27"/>
            <p:cNvSpPr/>
            <p:nvPr/>
          </p:nvSpPr>
          <p:spPr>
            <a:xfrm>
              <a:off x="0" y="0"/>
              <a:ext cx="1505185" cy="602074"/>
            </a:xfrm>
            <a:custGeom>
              <a:avLst/>
              <a:gdLst/>
              <a:ahLst/>
              <a:cxnLst/>
              <a:rect l="l" t="t" r="r" b="b"/>
              <a:pathLst>
                <a:path w="1505185" h="602074">
                  <a:moveTo>
                    <a:pt x="33867" y="0"/>
                  </a:moveTo>
                  <a:lnTo>
                    <a:pt x="1471319" y="0"/>
                  </a:lnTo>
                  <a:cubicBezTo>
                    <a:pt x="1490023" y="0"/>
                    <a:pt x="1505185" y="15163"/>
                    <a:pt x="1505185" y="33867"/>
                  </a:cubicBezTo>
                  <a:lnTo>
                    <a:pt x="1505185" y="568207"/>
                  </a:lnTo>
                  <a:cubicBezTo>
                    <a:pt x="1505185" y="586911"/>
                    <a:pt x="1490023" y="602074"/>
                    <a:pt x="1471319" y="602074"/>
                  </a:cubicBezTo>
                  <a:lnTo>
                    <a:pt x="33867" y="602074"/>
                  </a:lnTo>
                  <a:cubicBezTo>
                    <a:pt x="15163" y="602074"/>
                    <a:pt x="0" y="586911"/>
                    <a:pt x="0" y="568207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id="1048746" name="TextBox 28"/>
            <p:cNvSpPr txBox="1"/>
            <p:nvPr/>
          </p:nvSpPr>
          <p:spPr>
            <a:xfrm>
              <a:off x="0" y="-38100"/>
              <a:ext cx="1505185" cy="640174"/>
            </a:xfrm>
            <a:prstGeom prst="rect">
              <a:avLst/>
            </a:prstGeom>
          </p:spPr>
          <p:txBody>
            <a:bodyPr lIns="152400" tIns="152400" rIns="152400" bIns="152400" rtlCol="0" anchor="ctr"/>
            <a:lstStyle/>
            <a:p>
              <a:pPr marL="0" lvl="0" indent="0" algn="ctr">
                <a:lnSpc>
                  <a:spcPts val="4940"/>
                </a:lnSpc>
              </a:pPr>
              <a:r>
                <a:rPr lang="en-US" sz="3800" dirty="0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It is a complete path through which electric current flows.</a:t>
              </a:r>
            </a:p>
          </p:txBody>
        </p:sp>
      </p:grpSp>
      <p:grpSp>
        <p:nvGrpSpPr>
          <p:cNvPr id="90" name="Group 29"/>
          <p:cNvGrpSpPr/>
          <p:nvPr/>
        </p:nvGrpSpPr>
        <p:grpSpPr>
          <a:xfrm>
            <a:off x="2095500" y="6086479"/>
            <a:ext cx="5715000" cy="2286000"/>
            <a:chOff x="0" y="0"/>
            <a:chExt cx="1505185" cy="602074"/>
          </a:xfrm>
        </p:grpSpPr>
        <p:sp>
          <p:nvSpPr>
            <p:cNvPr id="1048747" name="Freeform 30"/>
            <p:cNvSpPr/>
            <p:nvPr/>
          </p:nvSpPr>
          <p:spPr>
            <a:xfrm>
              <a:off x="0" y="0"/>
              <a:ext cx="1505185" cy="602074"/>
            </a:xfrm>
            <a:custGeom>
              <a:avLst/>
              <a:gdLst/>
              <a:ahLst/>
              <a:cxnLst/>
              <a:rect l="l" t="t" r="r" b="b"/>
              <a:pathLst>
                <a:path w="1505185" h="602074">
                  <a:moveTo>
                    <a:pt x="33867" y="0"/>
                  </a:moveTo>
                  <a:lnTo>
                    <a:pt x="1471319" y="0"/>
                  </a:lnTo>
                  <a:cubicBezTo>
                    <a:pt x="1490023" y="0"/>
                    <a:pt x="1505185" y="15163"/>
                    <a:pt x="1505185" y="33867"/>
                  </a:cubicBezTo>
                  <a:lnTo>
                    <a:pt x="1505185" y="568207"/>
                  </a:lnTo>
                  <a:cubicBezTo>
                    <a:pt x="1505185" y="586911"/>
                    <a:pt x="1490023" y="602074"/>
                    <a:pt x="1471319" y="602074"/>
                  </a:cubicBezTo>
                  <a:lnTo>
                    <a:pt x="33867" y="602074"/>
                  </a:lnTo>
                  <a:cubicBezTo>
                    <a:pt x="15163" y="602074"/>
                    <a:pt x="0" y="586911"/>
                    <a:pt x="0" y="568207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C7CCC6"/>
            </a:solidFill>
            <a:ln cap="rnd">
              <a:noFill/>
              <a:prstDash val="solid"/>
              <a:round/>
            </a:ln>
          </p:spPr>
        </p:sp>
        <p:sp>
          <p:nvSpPr>
            <p:cNvPr id="1048748" name="TextBox 31"/>
            <p:cNvSpPr txBox="1"/>
            <p:nvPr/>
          </p:nvSpPr>
          <p:spPr>
            <a:xfrm>
              <a:off x="0" y="-38100"/>
              <a:ext cx="1505185" cy="640174"/>
            </a:xfrm>
            <a:prstGeom prst="rect">
              <a:avLst/>
            </a:prstGeom>
          </p:spPr>
          <p:txBody>
            <a:bodyPr lIns="152400" tIns="152400" rIns="152400" bIns="152400" rtlCol="0" anchor="ctr"/>
            <a:lstStyle/>
            <a:p>
              <a:pPr marL="0" lvl="0" indent="0" algn="ctr">
                <a:lnSpc>
                  <a:spcPts val="4940"/>
                </a:lnSpc>
              </a:pPr>
              <a:r>
                <a:rPr lang="en-US" sz="3800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It should be constructed in an unbroken loop.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47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2"/>
          <p:cNvGrpSpPr/>
          <p:nvPr/>
        </p:nvGrpSpPr>
        <p:grpSpPr>
          <a:xfrm>
            <a:off x="1408625" y="842665"/>
            <a:ext cx="15470747" cy="1462286"/>
            <a:chOff x="0" y="0"/>
            <a:chExt cx="2137646" cy="551901"/>
          </a:xfrm>
        </p:grpSpPr>
        <p:sp>
          <p:nvSpPr>
            <p:cNvPr id="1048609" name="Freeform 3"/>
            <p:cNvSpPr/>
            <p:nvPr/>
          </p:nvSpPr>
          <p:spPr>
            <a:xfrm>
              <a:off x="0" y="0"/>
              <a:ext cx="2137646" cy="551901"/>
            </a:xfrm>
            <a:custGeom>
              <a:avLst/>
              <a:gdLst/>
              <a:ahLst/>
              <a:cxnLst/>
              <a:rect l="l" t="t" r="r" b="b"/>
              <a:pathLst>
                <a:path w="2137646" h="551901">
                  <a:moveTo>
                    <a:pt x="23847" y="0"/>
                  </a:moveTo>
                  <a:lnTo>
                    <a:pt x="2113799" y="0"/>
                  </a:lnTo>
                  <a:cubicBezTo>
                    <a:pt x="2120124" y="0"/>
                    <a:pt x="2126189" y="2512"/>
                    <a:pt x="2130661" y="6985"/>
                  </a:cubicBezTo>
                  <a:cubicBezTo>
                    <a:pt x="2135133" y="11457"/>
                    <a:pt x="2137646" y="17522"/>
                    <a:pt x="2137646" y="23847"/>
                  </a:cubicBezTo>
                  <a:lnTo>
                    <a:pt x="2137646" y="528055"/>
                  </a:lnTo>
                  <a:cubicBezTo>
                    <a:pt x="2137646" y="541225"/>
                    <a:pt x="2126969" y="551901"/>
                    <a:pt x="2113799" y="551901"/>
                  </a:cubicBezTo>
                  <a:lnTo>
                    <a:pt x="23847" y="551901"/>
                  </a:lnTo>
                  <a:cubicBezTo>
                    <a:pt x="17522" y="551901"/>
                    <a:pt x="11457" y="549389"/>
                    <a:pt x="6985" y="544917"/>
                  </a:cubicBezTo>
                  <a:cubicBezTo>
                    <a:pt x="2512" y="540445"/>
                    <a:pt x="0" y="534379"/>
                    <a:pt x="0" y="528055"/>
                  </a:cubicBezTo>
                  <a:lnTo>
                    <a:pt x="0" y="23847"/>
                  </a:lnTo>
                  <a:cubicBezTo>
                    <a:pt x="0" y="17522"/>
                    <a:pt x="2512" y="11457"/>
                    <a:pt x="6985" y="6985"/>
                  </a:cubicBezTo>
                  <a:cubicBezTo>
                    <a:pt x="11457" y="2512"/>
                    <a:pt x="17522" y="0"/>
                    <a:pt x="23847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id="1048610" name="TextBox 4"/>
            <p:cNvSpPr txBox="1"/>
            <p:nvPr/>
          </p:nvSpPr>
          <p:spPr>
            <a:xfrm>
              <a:off x="0" y="-95250"/>
              <a:ext cx="2137646" cy="64715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lvl="0" algn="ctr">
                <a:lnSpc>
                  <a:spcPts val="5500"/>
                </a:lnSpc>
              </a:pPr>
              <a:r>
                <a:rPr lang="en-US" sz="5000" b="1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Elektromagnitning</a:t>
              </a:r>
              <a:r>
                <a:rPr lang="en-US" sz="5000" b="1" dirty="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 </a:t>
              </a:r>
              <a:r>
                <a:rPr lang="en-US" sz="5000" b="1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ishlash</a:t>
              </a:r>
              <a:r>
                <a:rPr lang="en-US" sz="5000" b="1" dirty="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 </a:t>
              </a:r>
              <a:r>
                <a:rPr lang="en-US" sz="5000" b="1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prinsipi</a:t>
              </a:r>
              <a:endParaRPr lang="en-US" sz="50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endParaRPr>
            </a:p>
          </p:txBody>
        </p:sp>
      </p:grpSp>
      <p:grpSp>
        <p:nvGrpSpPr>
          <p:cNvPr id="38" name="Group 8"/>
          <p:cNvGrpSpPr/>
          <p:nvPr/>
        </p:nvGrpSpPr>
        <p:grpSpPr>
          <a:xfrm>
            <a:off x="1408626" y="2685179"/>
            <a:ext cx="15470747" cy="3506071"/>
            <a:chOff x="0" y="0"/>
            <a:chExt cx="4074600" cy="802765"/>
          </a:xfrm>
        </p:grpSpPr>
        <p:sp>
          <p:nvSpPr>
            <p:cNvPr id="1048611" name="Freeform 9"/>
            <p:cNvSpPr/>
            <p:nvPr/>
          </p:nvSpPr>
          <p:spPr>
            <a:xfrm>
              <a:off x="0" y="0"/>
              <a:ext cx="4074600" cy="802765"/>
            </a:xfrm>
            <a:custGeom>
              <a:avLst/>
              <a:gdLst/>
              <a:ahLst/>
              <a:cxnLst/>
              <a:rect l="l" t="t" r="r" b="b"/>
              <a:pathLst>
                <a:path w="4074600" h="802765">
                  <a:moveTo>
                    <a:pt x="12511" y="0"/>
                  </a:moveTo>
                  <a:lnTo>
                    <a:pt x="4062090" y="0"/>
                  </a:lnTo>
                  <a:cubicBezTo>
                    <a:pt x="4065408" y="0"/>
                    <a:pt x="4068590" y="1318"/>
                    <a:pt x="4070936" y="3664"/>
                  </a:cubicBezTo>
                  <a:cubicBezTo>
                    <a:pt x="4073282" y="6010"/>
                    <a:pt x="4074600" y="9193"/>
                    <a:pt x="4074600" y="12511"/>
                  </a:cubicBezTo>
                  <a:lnTo>
                    <a:pt x="4074600" y="790255"/>
                  </a:lnTo>
                  <a:cubicBezTo>
                    <a:pt x="4074600" y="797164"/>
                    <a:pt x="4068999" y="802765"/>
                    <a:pt x="4062090" y="802765"/>
                  </a:cubicBezTo>
                  <a:lnTo>
                    <a:pt x="12511" y="802765"/>
                  </a:lnTo>
                  <a:cubicBezTo>
                    <a:pt x="9193" y="802765"/>
                    <a:pt x="6010" y="801447"/>
                    <a:pt x="3664" y="799101"/>
                  </a:cubicBezTo>
                  <a:cubicBezTo>
                    <a:pt x="1318" y="796755"/>
                    <a:pt x="0" y="793573"/>
                    <a:pt x="0" y="790255"/>
                  </a:cubicBezTo>
                  <a:lnTo>
                    <a:pt x="0" y="12511"/>
                  </a:lnTo>
                  <a:cubicBezTo>
                    <a:pt x="0" y="9193"/>
                    <a:pt x="1318" y="6010"/>
                    <a:pt x="3664" y="3664"/>
                  </a:cubicBezTo>
                  <a:cubicBezTo>
                    <a:pt x="6010" y="1318"/>
                    <a:pt x="9193" y="0"/>
                    <a:pt x="1251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12" name="TextBox 10"/>
            <p:cNvSpPr txBox="1"/>
            <p:nvPr/>
          </p:nvSpPr>
          <p:spPr>
            <a:xfrm>
              <a:off x="0" y="-38100"/>
              <a:ext cx="4074600" cy="84086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0" lvl="0" indent="0" algn="ctr">
                <a:lnSpc>
                  <a:spcPts val="5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48613" name="Freeform 11"/>
          <p:cNvSpPr/>
          <p:nvPr/>
        </p:nvSpPr>
        <p:spPr>
          <a:xfrm>
            <a:off x="15308978" y="3648957"/>
            <a:ext cx="835581" cy="2095500"/>
          </a:xfrm>
          <a:custGeom>
            <a:avLst/>
            <a:gdLst/>
            <a:ahLst/>
            <a:cxnLst/>
            <a:rect l="l" t="t" r="r" b="b"/>
            <a:pathLst>
              <a:path w="835581" h="2095500">
                <a:moveTo>
                  <a:pt x="0" y="0"/>
                </a:moveTo>
                <a:lnTo>
                  <a:pt x="835581" y="0"/>
                </a:lnTo>
                <a:lnTo>
                  <a:pt x="835581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48614" name="Freeform 13"/>
          <p:cNvSpPr/>
          <p:nvPr/>
        </p:nvSpPr>
        <p:spPr>
          <a:xfrm>
            <a:off x="1687849" y="3547169"/>
            <a:ext cx="1080929" cy="2095500"/>
          </a:xfrm>
          <a:custGeom>
            <a:avLst/>
            <a:gdLst/>
            <a:ahLst/>
            <a:cxnLst/>
            <a:rect l="l" t="t" r="r" b="b"/>
            <a:pathLst>
              <a:path w="1080929" h="2095500">
                <a:moveTo>
                  <a:pt x="0" y="0"/>
                </a:moveTo>
                <a:lnTo>
                  <a:pt x="1080929" y="0"/>
                </a:lnTo>
                <a:lnTo>
                  <a:pt x="1080929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9" name="Group 14"/>
          <p:cNvGrpSpPr/>
          <p:nvPr/>
        </p:nvGrpSpPr>
        <p:grpSpPr>
          <a:xfrm>
            <a:off x="1408626" y="6476965"/>
            <a:ext cx="15470747" cy="3048000"/>
            <a:chOff x="0" y="0"/>
            <a:chExt cx="4074600" cy="802765"/>
          </a:xfrm>
        </p:grpSpPr>
        <p:sp>
          <p:nvSpPr>
            <p:cNvPr id="1048615" name="Freeform 15"/>
            <p:cNvSpPr/>
            <p:nvPr/>
          </p:nvSpPr>
          <p:spPr>
            <a:xfrm>
              <a:off x="0" y="0"/>
              <a:ext cx="4074600" cy="802765"/>
            </a:xfrm>
            <a:custGeom>
              <a:avLst/>
              <a:gdLst/>
              <a:ahLst/>
              <a:cxnLst/>
              <a:rect l="l" t="t" r="r" b="b"/>
              <a:pathLst>
                <a:path w="4074600" h="802765">
                  <a:moveTo>
                    <a:pt x="12511" y="0"/>
                  </a:moveTo>
                  <a:lnTo>
                    <a:pt x="4062090" y="0"/>
                  </a:lnTo>
                  <a:cubicBezTo>
                    <a:pt x="4065408" y="0"/>
                    <a:pt x="4068590" y="1318"/>
                    <a:pt x="4070936" y="3664"/>
                  </a:cubicBezTo>
                  <a:cubicBezTo>
                    <a:pt x="4073282" y="6010"/>
                    <a:pt x="4074600" y="9193"/>
                    <a:pt x="4074600" y="12511"/>
                  </a:cubicBezTo>
                  <a:lnTo>
                    <a:pt x="4074600" y="790255"/>
                  </a:lnTo>
                  <a:cubicBezTo>
                    <a:pt x="4074600" y="797164"/>
                    <a:pt x="4068999" y="802765"/>
                    <a:pt x="4062090" y="802765"/>
                  </a:cubicBezTo>
                  <a:lnTo>
                    <a:pt x="12511" y="802765"/>
                  </a:lnTo>
                  <a:cubicBezTo>
                    <a:pt x="9193" y="802765"/>
                    <a:pt x="6010" y="801447"/>
                    <a:pt x="3664" y="799101"/>
                  </a:cubicBezTo>
                  <a:cubicBezTo>
                    <a:pt x="1318" y="796755"/>
                    <a:pt x="0" y="793573"/>
                    <a:pt x="0" y="790255"/>
                  </a:cubicBezTo>
                  <a:lnTo>
                    <a:pt x="0" y="12511"/>
                  </a:lnTo>
                  <a:cubicBezTo>
                    <a:pt x="0" y="9193"/>
                    <a:pt x="1318" y="6010"/>
                    <a:pt x="3664" y="3664"/>
                  </a:cubicBezTo>
                  <a:cubicBezTo>
                    <a:pt x="6010" y="1318"/>
                    <a:pt x="9193" y="0"/>
                    <a:pt x="1251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48616" name="TextBox 16"/>
            <p:cNvSpPr txBox="1"/>
            <p:nvPr/>
          </p:nvSpPr>
          <p:spPr>
            <a:xfrm>
              <a:off x="0" y="-38100"/>
              <a:ext cx="4074600" cy="84086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0" lvl="0" indent="0" algn="ctr">
                <a:lnSpc>
                  <a:spcPts val="51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48617" name="Freeform 18"/>
          <p:cNvSpPr/>
          <p:nvPr/>
        </p:nvSpPr>
        <p:spPr>
          <a:xfrm rot="19647466">
            <a:off x="15368900" y="8385552"/>
            <a:ext cx="1551317" cy="936763"/>
          </a:xfrm>
          <a:custGeom>
            <a:avLst/>
            <a:gdLst/>
            <a:ahLst/>
            <a:cxnLst/>
            <a:rect l="l" t="t" r="r" b="b"/>
            <a:pathLst>
              <a:path w="2667000" h="1273492">
                <a:moveTo>
                  <a:pt x="0" y="0"/>
                </a:moveTo>
                <a:lnTo>
                  <a:pt x="2667000" y="0"/>
                </a:lnTo>
                <a:lnTo>
                  <a:pt x="2667000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48618" name="Freeform 27"/>
          <p:cNvSpPr/>
          <p:nvPr/>
        </p:nvSpPr>
        <p:spPr>
          <a:xfrm>
            <a:off x="3200400" y="3017303"/>
            <a:ext cx="11373764" cy="2919631"/>
          </a:xfrm>
          <a:custGeom>
            <a:avLst/>
            <a:gdLst/>
            <a:ahLst/>
            <a:cxnLst/>
            <a:rect l="l" t="t" r="r" b="b"/>
            <a:pathLst>
              <a:path w="1505185" h="602074">
                <a:moveTo>
                  <a:pt x="33867" y="0"/>
                </a:moveTo>
                <a:lnTo>
                  <a:pt x="1471319" y="0"/>
                </a:lnTo>
                <a:cubicBezTo>
                  <a:pt x="1490023" y="0"/>
                  <a:pt x="1505185" y="15163"/>
                  <a:pt x="1505185" y="33867"/>
                </a:cubicBezTo>
                <a:lnTo>
                  <a:pt x="1505185" y="568207"/>
                </a:lnTo>
                <a:cubicBezTo>
                  <a:pt x="1505185" y="586911"/>
                  <a:pt x="1490023" y="602074"/>
                  <a:pt x="1471319" y="602074"/>
                </a:cubicBezTo>
                <a:lnTo>
                  <a:pt x="33867" y="602074"/>
                </a:lnTo>
                <a:cubicBezTo>
                  <a:pt x="15163" y="602074"/>
                  <a:pt x="0" y="586911"/>
                  <a:pt x="0" y="568207"/>
                </a:cubicBezTo>
                <a:lnTo>
                  <a:pt x="0" y="33867"/>
                </a:lnTo>
                <a:cubicBezTo>
                  <a:pt x="0" y="15163"/>
                  <a:pt x="15163" y="0"/>
                  <a:pt x="33867" y="0"/>
                </a:cubicBezTo>
                <a:close/>
              </a:path>
            </a:pathLst>
          </a:custGeom>
          <a:solidFill>
            <a:srgbClr val="C7CCC6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048619" name="Прямоугольник 26"/>
          <p:cNvSpPr/>
          <p:nvPr/>
        </p:nvSpPr>
        <p:spPr>
          <a:xfrm>
            <a:off x="3438178" y="3144581"/>
            <a:ext cx="11135986" cy="2987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Elektromagnitning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ishlashi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elektr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toki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va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magnit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maydon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o‘zaro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bog‘liqligiga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asoslanadi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.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Tok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manbaidan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g‘altakka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tok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berilganda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, sim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o‘rami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atrofida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magnit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maydon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hosil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bo‘ladi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. Agar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g‘altak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ichida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temir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o‘zak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joylashgan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bo‘lsa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,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bu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magnit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maydon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kuchayadi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va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elektromagnit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hosil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Bahnschrift" panose="020B0502040204020203" pitchFamily="34" charset="0"/>
              </a:rPr>
              <a:t>bo‘ladi</a:t>
            </a:r>
            <a:r>
              <a:rPr lang="en-US" sz="3200" dirty="0">
                <a:solidFill>
                  <a:srgbClr val="00B050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1048620" name="Прямоугольник 27"/>
          <p:cNvSpPr/>
          <p:nvPr/>
        </p:nvSpPr>
        <p:spPr>
          <a:xfrm>
            <a:off x="1831419" y="6651361"/>
            <a:ext cx="14475381" cy="2021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latin typeface="Sitka Small Semibold" pitchFamily="2" charset="0"/>
              </a:rPr>
              <a:t>Tok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mavjud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bo‘lsa</a:t>
            </a:r>
            <a:r>
              <a:rPr lang="en-US" sz="3200" dirty="0">
                <a:latin typeface="Sitka Small Semibold" pitchFamily="2" charset="0"/>
              </a:rPr>
              <a:t> — </a:t>
            </a:r>
            <a:r>
              <a:rPr lang="en-US" sz="3200" dirty="0" err="1">
                <a:latin typeface="Sitka Small Semibold" pitchFamily="2" charset="0"/>
              </a:rPr>
              <a:t>elektromagnit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ishlaydi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va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jismlarni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tortadi</a:t>
            </a:r>
            <a:r>
              <a:rPr lang="en-US" sz="3200" dirty="0">
                <a:latin typeface="Sitka Small Semibold" pitchFamily="2" charset="0"/>
              </a:rPr>
              <a:t>. </a:t>
            </a:r>
            <a:r>
              <a:rPr lang="en-US" sz="3200" dirty="0" err="1">
                <a:latin typeface="Sitka Small Semibold" pitchFamily="2" charset="0"/>
              </a:rPr>
              <a:t>Tok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uzilganda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esa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magnit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maydon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yo‘qoladi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va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tortish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kuchi</a:t>
            </a:r>
            <a:r>
              <a:rPr lang="en-US" sz="3200" dirty="0">
                <a:latin typeface="Sitka Small Semibold" pitchFamily="2" charset="0"/>
              </a:rPr>
              <a:t> ham </a:t>
            </a:r>
            <a:r>
              <a:rPr lang="en-US" sz="3200" dirty="0" err="1">
                <a:latin typeface="Sitka Small Semibold" pitchFamily="2" charset="0"/>
              </a:rPr>
              <a:t>yo‘qoladi</a:t>
            </a:r>
            <a:r>
              <a:rPr lang="en-US" sz="3200" dirty="0">
                <a:latin typeface="Sitka Small Semibold" pitchFamily="2" charset="0"/>
              </a:rPr>
              <a:t>.</a:t>
            </a:r>
          </a:p>
          <a:p>
            <a:r>
              <a:rPr lang="en-US" sz="3200" dirty="0" err="1">
                <a:latin typeface="Sitka Small Semibold" pitchFamily="2" charset="0"/>
              </a:rPr>
              <a:t>Demak</a:t>
            </a:r>
            <a:r>
              <a:rPr lang="en-US" sz="3200" dirty="0">
                <a:latin typeface="Sitka Small Semibold" pitchFamily="2" charset="0"/>
              </a:rPr>
              <a:t>, </a:t>
            </a:r>
            <a:r>
              <a:rPr lang="en-US" sz="3200" dirty="0" err="1">
                <a:latin typeface="Sitka Small Semibold" pitchFamily="2" charset="0"/>
              </a:rPr>
              <a:t>elektromagnitning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asosiy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dirty="0" err="1">
                <a:latin typeface="Sitka Small Semibold" pitchFamily="2" charset="0"/>
              </a:rPr>
              <a:t>xususiyati</a:t>
            </a:r>
            <a:r>
              <a:rPr lang="en-US" sz="3200" dirty="0">
                <a:latin typeface="Sitka Small Semibold" pitchFamily="2" charset="0"/>
              </a:rPr>
              <a:t> — </a:t>
            </a:r>
            <a:r>
              <a:rPr lang="en-US" sz="3200" dirty="0" err="1">
                <a:latin typeface="Sitka Small Semibold" pitchFamily="2" charset="0"/>
              </a:rPr>
              <a:t>uni</a:t>
            </a:r>
            <a:r>
              <a:rPr lang="en-US" sz="3200" dirty="0">
                <a:latin typeface="Sitka Small Semibold" pitchFamily="2" charset="0"/>
              </a:rPr>
              <a:t> </a:t>
            </a:r>
            <a:r>
              <a:rPr lang="en-US" sz="3200" b="1" dirty="0" err="1">
                <a:latin typeface="Sitka Small Semibold" pitchFamily="2" charset="0"/>
              </a:rPr>
              <a:t>yoqish</a:t>
            </a:r>
            <a:r>
              <a:rPr lang="en-US" sz="3200" b="1" dirty="0">
                <a:latin typeface="Sitka Small Semibold" pitchFamily="2" charset="0"/>
              </a:rPr>
              <a:t> </a:t>
            </a:r>
            <a:r>
              <a:rPr lang="en-US" sz="3200" b="1" dirty="0" err="1">
                <a:latin typeface="Sitka Small Semibold" pitchFamily="2" charset="0"/>
              </a:rPr>
              <a:t>va</a:t>
            </a:r>
            <a:r>
              <a:rPr lang="en-US" sz="3200" b="1" dirty="0">
                <a:latin typeface="Sitka Small Semibold" pitchFamily="2" charset="0"/>
              </a:rPr>
              <a:t> </a:t>
            </a:r>
            <a:r>
              <a:rPr lang="en-US" sz="3200" b="1" dirty="0" err="1">
                <a:latin typeface="Sitka Small Semibold" pitchFamily="2" charset="0"/>
              </a:rPr>
              <a:t>o‘chirish</a:t>
            </a:r>
            <a:r>
              <a:rPr lang="en-US" sz="3200" b="1" dirty="0">
                <a:latin typeface="Sitka Small Semibold" pitchFamily="2" charset="0"/>
              </a:rPr>
              <a:t> </a:t>
            </a:r>
            <a:r>
              <a:rPr lang="en-US" sz="3200" b="1" dirty="0" err="1">
                <a:latin typeface="Sitka Small Semibold" pitchFamily="2" charset="0"/>
              </a:rPr>
              <a:t>mumkinligi</a:t>
            </a:r>
            <a:r>
              <a:rPr lang="en-US" sz="3200" dirty="0">
                <a:latin typeface="Sitka Small Semibold" pitchFamily="2" charset="0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E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2"/>
          <p:cNvGrpSpPr/>
          <p:nvPr/>
        </p:nvGrpSpPr>
        <p:grpSpPr>
          <a:xfrm>
            <a:off x="1185223" y="1524000"/>
            <a:ext cx="16002000" cy="7239000"/>
            <a:chOff x="0" y="0"/>
            <a:chExt cx="4214519" cy="1906568"/>
          </a:xfrm>
        </p:grpSpPr>
        <p:sp>
          <p:nvSpPr>
            <p:cNvPr id="1048599" name="Freeform 3"/>
            <p:cNvSpPr/>
            <p:nvPr/>
          </p:nvSpPr>
          <p:spPr>
            <a:xfrm>
              <a:off x="0" y="0"/>
              <a:ext cx="4214518" cy="1906568"/>
            </a:xfrm>
            <a:custGeom>
              <a:avLst/>
              <a:gdLst/>
              <a:ahLst/>
              <a:cxnLst/>
              <a:rect l="l" t="t" r="r" b="b"/>
              <a:pathLst>
                <a:path w="4214518" h="1906568">
                  <a:moveTo>
                    <a:pt x="12095" y="0"/>
                  </a:moveTo>
                  <a:lnTo>
                    <a:pt x="4202423" y="0"/>
                  </a:lnTo>
                  <a:cubicBezTo>
                    <a:pt x="4205631" y="0"/>
                    <a:pt x="4208707" y="1274"/>
                    <a:pt x="4210976" y="3543"/>
                  </a:cubicBezTo>
                  <a:cubicBezTo>
                    <a:pt x="4213244" y="5811"/>
                    <a:pt x="4214518" y="8887"/>
                    <a:pt x="4214518" y="12095"/>
                  </a:cubicBezTo>
                  <a:lnTo>
                    <a:pt x="4214518" y="1894473"/>
                  </a:lnTo>
                  <a:cubicBezTo>
                    <a:pt x="4214518" y="1901153"/>
                    <a:pt x="4209103" y="1906568"/>
                    <a:pt x="4202423" y="1906568"/>
                  </a:cubicBezTo>
                  <a:lnTo>
                    <a:pt x="12095" y="1906568"/>
                  </a:lnTo>
                  <a:cubicBezTo>
                    <a:pt x="8887" y="1906568"/>
                    <a:pt x="5811" y="1905294"/>
                    <a:pt x="3543" y="1903025"/>
                  </a:cubicBezTo>
                  <a:cubicBezTo>
                    <a:pt x="1274" y="1900757"/>
                    <a:pt x="0" y="1897680"/>
                    <a:pt x="0" y="1894473"/>
                  </a:cubicBezTo>
                  <a:lnTo>
                    <a:pt x="0" y="12095"/>
                  </a:lnTo>
                  <a:cubicBezTo>
                    <a:pt x="0" y="8887"/>
                    <a:pt x="1274" y="5811"/>
                    <a:pt x="3543" y="3543"/>
                  </a:cubicBezTo>
                  <a:cubicBezTo>
                    <a:pt x="5811" y="1274"/>
                    <a:pt x="8887" y="0"/>
                    <a:pt x="12095" y="0"/>
                  </a:cubicBezTo>
                  <a:close/>
                </a:path>
              </a:pathLst>
            </a:custGeom>
            <a:solidFill>
              <a:srgbClr val="384766"/>
            </a:solidFill>
            <a:ln cap="rnd">
              <a:noFill/>
              <a:prstDash val="solid"/>
              <a:round/>
            </a:ln>
          </p:spPr>
        </p:sp>
        <p:sp>
          <p:nvSpPr>
            <p:cNvPr id="1048600" name="TextBox 4"/>
            <p:cNvSpPr txBox="1"/>
            <p:nvPr/>
          </p:nvSpPr>
          <p:spPr>
            <a:xfrm>
              <a:off x="0" y="0"/>
              <a:ext cx="4214519" cy="1906568"/>
            </a:xfrm>
            <a:prstGeom prst="rect">
              <a:avLst/>
            </a:prstGeom>
          </p:spPr>
          <p:txBody>
            <a:bodyPr lIns="101600" tIns="101600" rIns="101600" bIns="101600" rtlCol="0" anchor="ctr"/>
            <a:lstStyle/>
            <a:p>
              <a:pPr marL="0" lvl="0" indent="0"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33" name="Group 11"/>
          <p:cNvGrpSpPr/>
          <p:nvPr/>
        </p:nvGrpSpPr>
        <p:grpSpPr>
          <a:xfrm>
            <a:off x="1905000" y="2304355"/>
            <a:ext cx="4657722" cy="2457152"/>
            <a:chOff x="0" y="-95250"/>
            <a:chExt cx="1226725" cy="647151"/>
          </a:xfrm>
        </p:grpSpPr>
        <p:sp>
          <p:nvSpPr>
            <p:cNvPr id="1048601" name="Freeform 12"/>
            <p:cNvSpPr/>
            <p:nvPr/>
          </p:nvSpPr>
          <p:spPr>
            <a:xfrm>
              <a:off x="22577" y="-19300"/>
              <a:ext cx="1204148" cy="551901"/>
            </a:xfrm>
            <a:custGeom>
              <a:avLst/>
              <a:gdLst/>
              <a:ahLst/>
              <a:cxnLst/>
              <a:rect l="l" t="t" r="r" b="b"/>
              <a:pathLst>
                <a:path w="1204148" h="551901">
                  <a:moveTo>
                    <a:pt x="42333" y="0"/>
                  </a:moveTo>
                  <a:lnTo>
                    <a:pt x="1161815" y="0"/>
                  </a:lnTo>
                  <a:cubicBezTo>
                    <a:pt x="1173042" y="0"/>
                    <a:pt x="1183810" y="4460"/>
                    <a:pt x="1191749" y="12399"/>
                  </a:cubicBezTo>
                  <a:cubicBezTo>
                    <a:pt x="1199688" y="20338"/>
                    <a:pt x="1204148" y="31106"/>
                    <a:pt x="1204148" y="42333"/>
                  </a:cubicBezTo>
                  <a:lnTo>
                    <a:pt x="1204148" y="509568"/>
                  </a:lnTo>
                  <a:cubicBezTo>
                    <a:pt x="1204148" y="520795"/>
                    <a:pt x="1199688" y="531563"/>
                    <a:pt x="1191749" y="539502"/>
                  </a:cubicBezTo>
                  <a:cubicBezTo>
                    <a:pt x="1183810" y="547441"/>
                    <a:pt x="1173042" y="551901"/>
                    <a:pt x="1161815" y="551901"/>
                  </a:cubicBezTo>
                  <a:lnTo>
                    <a:pt x="42333" y="551901"/>
                  </a:lnTo>
                  <a:cubicBezTo>
                    <a:pt x="31106" y="551901"/>
                    <a:pt x="20338" y="547441"/>
                    <a:pt x="12399" y="539502"/>
                  </a:cubicBezTo>
                  <a:cubicBezTo>
                    <a:pt x="4460" y="531563"/>
                    <a:pt x="0" y="520795"/>
                    <a:pt x="0" y="50956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id="1048602" name="TextBox 13"/>
            <p:cNvSpPr txBox="1"/>
            <p:nvPr/>
          </p:nvSpPr>
          <p:spPr>
            <a:xfrm>
              <a:off x="0" y="-95250"/>
              <a:ext cx="1204148" cy="64715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lvl="0" algn="ctr">
                <a:lnSpc>
                  <a:spcPts val="5500"/>
                </a:lnSpc>
              </a:pPr>
              <a:r>
                <a:rPr lang="en-US" sz="5000" b="1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Amaliy</a:t>
              </a:r>
              <a:r>
                <a:rPr lang="en-US" sz="5000" b="1" dirty="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 </a:t>
              </a:r>
              <a:r>
                <a:rPr lang="en-US" sz="5000" b="1" dirty="0" err="1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tajribalar</a:t>
              </a:r>
              <a:endParaRPr lang="en-US" sz="50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endParaRPr>
            </a:p>
          </p:txBody>
        </p:sp>
      </p:grpSp>
      <p:grpSp>
        <p:nvGrpSpPr>
          <p:cNvPr id="34" name="Group 15"/>
          <p:cNvGrpSpPr/>
          <p:nvPr/>
        </p:nvGrpSpPr>
        <p:grpSpPr>
          <a:xfrm>
            <a:off x="12649200" y="3390900"/>
            <a:ext cx="4362450" cy="4953000"/>
            <a:chOff x="0" y="0"/>
            <a:chExt cx="1226447" cy="1328651"/>
          </a:xfrm>
        </p:grpSpPr>
        <p:sp>
          <p:nvSpPr>
            <p:cNvPr id="1048603" name="Freeform 16"/>
            <p:cNvSpPr/>
            <p:nvPr/>
          </p:nvSpPr>
          <p:spPr>
            <a:xfrm>
              <a:off x="0" y="0"/>
              <a:ext cx="1226447" cy="1328651"/>
            </a:xfrm>
            <a:custGeom>
              <a:avLst/>
              <a:gdLst/>
              <a:ahLst/>
              <a:cxnLst/>
              <a:rect l="l" t="t" r="r" b="b"/>
              <a:pathLst>
                <a:path w="1226447" h="1328651">
                  <a:moveTo>
                    <a:pt x="42333" y="0"/>
                  </a:moveTo>
                  <a:lnTo>
                    <a:pt x="1184114" y="0"/>
                  </a:lnTo>
                  <a:cubicBezTo>
                    <a:pt x="1207494" y="0"/>
                    <a:pt x="1226447" y="18953"/>
                    <a:pt x="1226447" y="42333"/>
                  </a:cubicBezTo>
                  <a:lnTo>
                    <a:pt x="1226447" y="1286318"/>
                  </a:lnTo>
                  <a:cubicBezTo>
                    <a:pt x="1226447" y="1297545"/>
                    <a:pt x="1221987" y="1308313"/>
                    <a:pt x="1214048" y="1316252"/>
                  </a:cubicBezTo>
                  <a:cubicBezTo>
                    <a:pt x="1206109" y="1324191"/>
                    <a:pt x="1195341" y="1328651"/>
                    <a:pt x="1184114" y="1328651"/>
                  </a:cubicBezTo>
                  <a:lnTo>
                    <a:pt x="42333" y="1328651"/>
                  </a:lnTo>
                  <a:cubicBezTo>
                    <a:pt x="31106" y="1328651"/>
                    <a:pt x="20338" y="1324191"/>
                    <a:pt x="12399" y="1316252"/>
                  </a:cubicBezTo>
                  <a:cubicBezTo>
                    <a:pt x="4460" y="1308313"/>
                    <a:pt x="0" y="1297545"/>
                    <a:pt x="0" y="128631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04" name="TextBox 17"/>
            <p:cNvSpPr txBox="1"/>
            <p:nvPr/>
          </p:nvSpPr>
          <p:spPr>
            <a:xfrm>
              <a:off x="0" y="38100"/>
              <a:ext cx="1226447" cy="1290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35" name="Group 24"/>
          <p:cNvGrpSpPr/>
          <p:nvPr/>
        </p:nvGrpSpPr>
        <p:grpSpPr>
          <a:xfrm>
            <a:off x="7696204" y="1765889"/>
            <a:ext cx="4819650" cy="4953000"/>
            <a:chOff x="0" y="0"/>
            <a:chExt cx="1226447" cy="1328651"/>
          </a:xfrm>
        </p:grpSpPr>
        <p:sp>
          <p:nvSpPr>
            <p:cNvPr id="1048605" name="Freeform 25"/>
            <p:cNvSpPr/>
            <p:nvPr/>
          </p:nvSpPr>
          <p:spPr>
            <a:xfrm>
              <a:off x="0" y="0"/>
              <a:ext cx="1226447" cy="1328651"/>
            </a:xfrm>
            <a:custGeom>
              <a:avLst/>
              <a:gdLst/>
              <a:ahLst/>
              <a:cxnLst/>
              <a:rect l="l" t="t" r="r" b="b"/>
              <a:pathLst>
                <a:path w="1226447" h="1328651">
                  <a:moveTo>
                    <a:pt x="42333" y="0"/>
                  </a:moveTo>
                  <a:lnTo>
                    <a:pt x="1184114" y="0"/>
                  </a:lnTo>
                  <a:cubicBezTo>
                    <a:pt x="1207494" y="0"/>
                    <a:pt x="1226447" y="18953"/>
                    <a:pt x="1226447" y="42333"/>
                  </a:cubicBezTo>
                  <a:lnTo>
                    <a:pt x="1226447" y="1286318"/>
                  </a:lnTo>
                  <a:cubicBezTo>
                    <a:pt x="1226447" y="1297545"/>
                    <a:pt x="1221987" y="1308313"/>
                    <a:pt x="1214048" y="1316252"/>
                  </a:cubicBezTo>
                  <a:cubicBezTo>
                    <a:pt x="1206109" y="1324191"/>
                    <a:pt x="1195341" y="1328651"/>
                    <a:pt x="1184114" y="1328651"/>
                  </a:cubicBezTo>
                  <a:lnTo>
                    <a:pt x="42333" y="1328651"/>
                  </a:lnTo>
                  <a:cubicBezTo>
                    <a:pt x="31106" y="1328651"/>
                    <a:pt x="20338" y="1324191"/>
                    <a:pt x="12399" y="1316252"/>
                  </a:cubicBezTo>
                  <a:cubicBezTo>
                    <a:pt x="4460" y="1308313"/>
                    <a:pt x="0" y="1297545"/>
                    <a:pt x="0" y="128631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06" name="TextBox 26"/>
            <p:cNvSpPr txBox="1"/>
            <p:nvPr/>
          </p:nvSpPr>
          <p:spPr>
            <a:xfrm>
              <a:off x="0" y="38100"/>
              <a:ext cx="1226447" cy="1290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pic>
        <p:nvPicPr>
          <p:cNvPr id="2097152" name="Picture 2" descr="Five Demonstrations for the First Day of Class!  – Arbor Scientific"/>
          <p:cNvPicPr>
            <a:picLocks noChangeAspect="1" noChangeArrowheads="1"/>
          </p:cNvPicPr>
          <p:nvPr/>
        </p:nvPicPr>
        <p:blipFill rotWithShape="1">
          <a:blip r:embed="rId2"/>
          <a:srcRect b="4813"/>
          <a:stretch>
            <a:fillRect/>
          </a:stretch>
        </p:blipFill>
        <p:spPr bwMode="auto">
          <a:xfrm>
            <a:off x="1185223" y="5322742"/>
            <a:ext cx="6425258" cy="3440258"/>
          </a:xfrm>
          <a:prstGeom prst="rect">
            <a:avLst/>
          </a:prstGeom>
          <a:noFill/>
        </p:spPr>
      </p:pic>
      <p:sp>
        <p:nvSpPr>
          <p:cNvPr id="1048607" name="Прямоугольник 37"/>
          <p:cNvSpPr/>
          <p:nvPr/>
        </p:nvSpPr>
        <p:spPr>
          <a:xfrm>
            <a:off x="7781926" y="1871748"/>
            <a:ext cx="4777427" cy="4701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Elektromagnit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mavzusini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o‘rganishda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amaliy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tajribalar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muhim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o‘rin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tutadi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.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Oddiy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tajriba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sifatida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batareya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, sim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va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temir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mix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yordamida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elektromagnit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yasash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mumkin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.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Tok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berilganda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mix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temir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jismlarni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(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masalan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,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qog‘oz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qisqichlarni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)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tortadi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,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tok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uzilganda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esa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tortish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Bell MT" panose="02020503060305020303" pitchFamily="18" charset="0"/>
              </a:rPr>
              <a:t>yo‘qoladi</a:t>
            </a:r>
            <a:r>
              <a:rPr lang="en-US" sz="2800" dirty="0">
                <a:solidFill>
                  <a:schemeClr val="accent1"/>
                </a:solidFill>
                <a:latin typeface="Bell MT" panose="02020503060305020303" pitchFamily="18" charset="0"/>
              </a:rPr>
              <a:t>.</a:t>
            </a:r>
          </a:p>
        </p:txBody>
      </p:sp>
      <p:sp>
        <p:nvSpPr>
          <p:cNvPr id="1048608" name="Прямоугольник 38"/>
          <p:cNvSpPr/>
          <p:nvPr/>
        </p:nvSpPr>
        <p:spPr>
          <a:xfrm>
            <a:off x="12692699" y="3666171"/>
            <a:ext cx="4318951" cy="4892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Bu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tajriba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orqali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o‘quvchilar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elektromagnitning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ishlashini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amalda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ko‘radi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,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sabab-oqibat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bog‘lanishini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tushunadi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va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fanga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qiziqishi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Bell MT" panose="02020503060305020303" pitchFamily="18" charset="0"/>
              </a:rPr>
              <a:t>ortadi</a:t>
            </a:r>
            <a:r>
              <a:rPr lang="en-US" sz="3600" dirty="0">
                <a:solidFill>
                  <a:schemeClr val="accent1"/>
                </a:solidFill>
                <a:latin typeface="Bell MT" panose="02020503060305020303" pitchFamily="18" charset="0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CC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Freeform 2"/>
          <p:cNvSpPr/>
          <p:nvPr/>
        </p:nvSpPr>
        <p:spPr>
          <a:xfrm>
            <a:off x="10824965" y="1234762"/>
            <a:ext cx="5036176" cy="5036176"/>
          </a:xfrm>
          <a:custGeom>
            <a:avLst/>
            <a:gdLst/>
            <a:ahLst/>
            <a:cxnLst/>
            <a:rect l="l" t="t" r="r" b="b"/>
            <a:pathLst>
              <a:path w="5036176" h="5036176">
                <a:moveTo>
                  <a:pt x="0" y="0"/>
                </a:moveTo>
                <a:lnTo>
                  <a:pt x="5036176" y="0"/>
                </a:lnTo>
                <a:lnTo>
                  <a:pt x="5036176" y="5036176"/>
                </a:lnTo>
                <a:lnTo>
                  <a:pt x="0" y="5036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0" name="Group 4"/>
          <p:cNvGrpSpPr/>
          <p:nvPr/>
        </p:nvGrpSpPr>
        <p:grpSpPr>
          <a:xfrm>
            <a:off x="2346366" y="1456922"/>
            <a:ext cx="7582445" cy="7567144"/>
            <a:chOff x="0" y="0"/>
            <a:chExt cx="2034004" cy="2029900"/>
          </a:xfrm>
        </p:grpSpPr>
        <p:sp>
          <p:nvSpPr>
            <p:cNvPr id="1048592" name="Freeform 5"/>
            <p:cNvSpPr/>
            <p:nvPr/>
          </p:nvSpPr>
          <p:spPr>
            <a:xfrm>
              <a:off x="0" y="0"/>
              <a:ext cx="2034004" cy="2029900"/>
            </a:xfrm>
            <a:custGeom>
              <a:avLst/>
              <a:gdLst/>
              <a:ahLst/>
              <a:cxnLst/>
              <a:rect l="l" t="t" r="r" b="b"/>
              <a:pathLst>
                <a:path w="2034004" h="2029900">
                  <a:moveTo>
                    <a:pt x="25526" y="0"/>
                  </a:moveTo>
                  <a:lnTo>
                    <a:pt x="2008479" y="0"/>
                  </a:lnTo>
                  <a:cubicBezTo>
                    <a:pt x="2022576" y="0"/>
                    <a:pt x="2034004" y="11428"/>
                    <a:pt x="2034004" y="25526"/>
                  </a:cubicBezTo>
                  <a:lnTo>
                    <a:pt x="2034004" y="2004374"/>
                  </a:lnTo>
                  <a:cubicBezTo>
                    <a:pt x="2034004" y="2018472"/>
                    <a:pt x="2022576" y="2029900"/>
                    <a:pt x="2008479" y="2029900"/>
                  </a:cubicBezTo>
                  <a:lnTo>
                    <a:pt x="25526" y="2029900"/>
                  </a:lnTo>
                  <a:cubicBezTo>
                    <a:pt x="11428" y="2029900"/>
                    <a:pt x="0" y="2018472"/>
                    <a:pt x="0" y="2004374"/>
                  </a:cubicBezTo>
                  <a:lnTo>
                    <a:pt x="0" y="25526"/>
                  </a:lnTo>
                  <a:cubicBezTo>
                    <a:pt x="0" y="11428"/>
                    <a:pt x="11428" y="0"/>
                    <a:pt x="255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593" name="TextBox 6"/>
            <p:cNvSpPr txBox="1"/>
            <p:nvPr/>
          </p:nvSpPr>
          <p:spPr>
            <a:xfrm>
              <a:off x="0" y="38100"/>
              <a:ext cx="2034004" cy="1991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r>
                <a:rPr lang="en-US" sz="2449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WITH THE HELP OF YOUR TEACHER OR CARER,</a:t>
              </a:r>
            </a:p>
            <a:p>
              <a:pPr algn="ctr">
                <a:lnSpc>
                  <a:spcPts val="2694"/>
                </a:lnSpc>
              </a:pPr>
              <a:r>
                <a:rPr lang="en-US" sz="2449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 WHETHER YOUR SUGGESTIONS AND DRAWINGS WILL MAKE THE BULB LIGHT USING ACTUAL BATTERIES, A SMALL LIGHTBULB, AND WIRES.</a:t>
              </a:r>
            </a:p>
          </p:txBody>
        </p:sp>
      </p:grpSp>
      <p:sp>
        <p:nvSpPr>
          <p:cNvPr id="1048594" name="TextBox 8"/>
          <p:cNvSpPr txBox="1"/>
          <p:nvPr/>
        </p:nvSpPr>
        <p:spPr>
          <a:xfrm>
            <a:off x="2346366" y="2193607"/>
            <a:ext cx="5715000" cy="253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Thank </a:t>
            </a:r>
          </a:p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YOU</a:t>
            </a:r>
          </a:p>
        </p:txBody>
      </p:sp>
      <p:sp>
        <p:nvSpPr>
          <p:cNvPr id="1048595" name="Freeform 5"/>
          <p:cNvSpPr/>
          <p:nvPr/>
        </p:nvSpPr>
        <p:spPr>
          <a:xfrm>
            <a:off x="235204" y="2724343"/>
            <a:ext cx="5166615" cy="7093189"/>
          </a:xfrm>
          <a:custGeom>
            <a:avLst/>
            <a:gdLst/>
            <a:ahLst/>
            <a:cxnLst/>
            <a:rect l="l" t="t" r="r" b="b"/>
            <a:pathLst>
              <a:path w="6616827" h="7877175">
                <a:moveTo>
                  <a:pt x="0" y="0"/>
                </a:moveTo>
                <a:lnTo>
                  <a:pt x="6616827" y="0"/>
                </a:lnTo>
                <a:lnTo>
                  <a:pt x="6616827" y="7877175"/>
                </a:lnTo>
                <a:lnTo>
                  <a:pt x="0" y="787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596" name="Freeform 6"/>
          <p:cNvSpPr/>
          <p:nvPr/>
        </p:nvSpPr>
        <p:spPr>
          <a:xfrm>
            <a:off x="4014446" y="7002324"/>
            <a:ext cx="4310192" cy="2584727"/>
          </a:xfrm>
          <a:custGeom>
            <a:avLst/>
            <a:gdLst/>
            <a:ahLst/>
            <a:cxnLst/>
            <a:rect l="l" t="t" r="r" b="b"/>
            <a:pathLst>
              <a:path w="5520015" h="2870408">
                <a:moveTo>
                  <a:pt x="0" y="0"/>
                </a:moveTo>
                <a:lnTo>
                  <a:pt x="5520015" y="0"/>
                </a:lnTo>
                <a:lnTo>
                  <a:pt x="5520015" y="2870408"/>
                </a:lnTo>
                <a:lnTo>
                  <a:pt x="0" y="2870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48597" name="Freeform 7"/>
          <p:cNvSpPr/>
          <p:nvPr/>
        </p:nvSpPr>
        <p:spPr>
          <a:xfrm rot="-5400000">
            <a:off x="6954837" y="5691187"/>
            <a:ext cx="525842" cy="2096432"/>
          </a:xfrm>
          <a:custGeom>
            <a:avLst/>
            <a:gdLst/>
            <a:ahLst/>
            <a:cxnLst/>
            <a:rect l="l" t="t" r="r" b="b"/>
            <a:pathLst>
              <a:path w="583961" h="2684880">
                <a:moveTo>
                  <a:pt x="0" y="0"/>
                </a:moveTo>
                <a:lnTo>
                  <a:pt x="583962" y="0"/>
                </a:lnTo>
                <a:lnTo>
                  <a:pt x="583962" y="2684880"/>
                </a:lnTo>
                <a:lnTo>
                  <a:pt x="0" y="2684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48598" name="Freeform 9"/>
          <p:cNvSpPr/>
          <p:nvPr/>
        </p:nvSpPr>
        <p:spPr>
          <a:xfrm>
            <a:off x="10454698" y="1234762"/>
            <a:ext cx="5776709" cy="7301452"/>
          </a:xfrm>
          <a:custGeom>
            <a:avLst/>
            <a:gdLst/>
            <a:ahLst/>
            <a:cxnLst/>
            <a:rect l="l" t="t" r="r" b="b"/>
            <a:pathLst>
              <a:path w="3325291" h="4716725">
                <a:moveTo>
                  <a:pt x="0" y="0"/>
                </a:moveTo>
                <a:lnTo>
                  <a:pt x="3325291" y="0"/>
                </a:lnTo>
                <a:lnTo>
                  <a:pt x="3325291" y="4716724"/>
                </a:lnTo>
                <a:lnTo>
                  <a:pt x="0" y="4716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-93526998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-93526998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Buyurtma</PresentationFormat>
  <Slides>11</Slides>
  <Notes>0</Notes>
  <HiddenSlides>0</HiddenSlides>
  <ScaleCrop>false</ScaleCrop>
  <HeadingPairs>
    <vt:vector size="4" baseType="variant">
      <vt:variant>
        <vt:lpstr>Mavzu</vt:lpstr>
      </vt:variant>
      <vt:variant>
        <vt:i4>1</vt:i4>
      </vt:variant>
      <vt:variant>
        <vt:lpstr>Slayd sarlavhalari</vt:lpstr>
      </vt:variant>
      <vt:variant>
        <vt:i4>11</vt:i4>
      </vt:variant>
    </vt:vector>
  </HeadingPairs>
  <TitlesOfParts>
    <vt:vector size="12" baseType="lpstr">
      <vt:lpstr>Office Theme</vt:lpstr>
      <vt:lpstr>PowerPoint taqdimoti</vt:lpstr>
      <vt:lpstr>PowerPoint taqdimoti</vt:lpstr>
      <vt:lpstr>PowerPoint taqdimoti</vt:lpstr>
      <vt:lpstr>PowerPoint taqdimoti</vt:lpstr>
      <vt:lpstr>PowerPoint taqdimoti</vt:lpstr>
      <vt:lpstr>PowerPoint taqdimoti</vt:lpstr>
      <vt:lpstr>PowerPoint taqdimoti</vt:lpstr>
      <vt:lpstr>PowerPoint taqdimoti</vt:lpstr>
      <vt:lpstr>PowerPoint taqdimoti</vt:lpstr>
      <vt:lpstr>PowerPoint taqdimoti</vt:lpstr>
      <vt:lpstr>PowerPoint taqdimoti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Circuits Education Presentation in Blue Yellow Flat Cartoon Style</dc:title>
  <dc:creator>EVE-LX9N</dc:creator>
  <cp:lastModifiedBy>farangiz2024@petalmail.com</cp:lastModifiedBy>
  <cp:revision>1</cp:revision>
  <dcterms:created xsi:type="dcterms:W3CDTF">2006-08-15T14:00:00Z</dcterms:created>
  <dcterms:modified xsi:type="dcterms:W3CDTF">2026-05-06T09:32:36Z</dcterms:modified>
</cp:coreProperties>
</file>