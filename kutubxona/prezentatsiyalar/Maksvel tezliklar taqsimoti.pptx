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4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4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0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5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6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43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2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3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5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7704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93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9675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81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00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6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55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366782" cy="881575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O‘zbekiston</a:t>
            </a:r>
            <a:r>
              <a:rPr lang="en-US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milliy</a:t>
            </a:r>
            <a:r>
              <a:rPr lang="en-US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pedagogika</a:t>
            </a:r>
            <a:r>
              <a:rPr lang="en-US" sz="3200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universiteti</a:t>
            </a:r>
            <a:endParaRPr lang="en-US" sz="3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8" y="2067950"/>
            <a:ext cx="7366783" cy="38686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900" dirty="0" smtClean="0">
                <a:solidFill>
                  <a:srgbClr val="00B0F0"/>
                </a:solidFill>
                <a:latin typeface="Arial Rounded MT Bold" panose="020F0704030504030204" pitchFamily="34" charset="0"/>
              </a:rPr>
              <a:t>Fan: </a:t>
            </a:r>
            <a:r>
              <a:rPr lang="en-US" sz="3900" dirty="0" err="1" smtClean="0">
                <a:solidFill>
                  <a:srgbClr val="00B0F0"/>
                </a:solidFill>
                <a:latin typeface="Arial Rounded MT Bold" panose="020F0704030504030204" pitchFamily="34" charset="0"/>
              </a:rPr>
              <a:t>Nazariy</a:t>
            </a:r>
            <a:r>
              <a:rPr lang="en-US" sz="3900" dirty="0" smtClean="0">
                <a:solidFill>
                  <a:srgbClr val="00B0F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39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fizika</a:t>
            </a:r>
            <a:endParaRPr lang="en-US" sz="3900" dirty="0" smtClean="0">
              <a:solidFill>
                <a:srgbClr val="00B0F0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en-US" sz="3900" dirty="0" err="1" smtClean="0">
                <a:solidFill>
                  <a:srgbClr val="00B0F0"/>
                </a:solidFill>
                <a:latin typeface="Bahnschrift SemiBold" panose="020B0502040204020203" pitchFamily="34" charset="0"/>
              </a:rPr>
              <a:t>Mavzu</a:t>
            </a:r>
            <a:r>
              <a:rPr lang="en-US" sz="3900" dirty="0" smtClean="0">
                <a:solidFill>
                  <a:srgbClr val="00B0F0"/>
                </a:solidFill>
                <a:latin typeface="Bahnschrift SemiBold" panose="020B0502040204020203" pitchFamily="34" charset="0"/>
              </a:rPr>
              <a:t>: </a:t>
            </a:r>
            <a:r>
              <a:rPr lang="en-US" sz="3900" dirty="0" err="1">
                <a:solidFill>
                  <a:srgbClr val="00B0F0"/>
                </a:solidFill>
                <a:latin typeface="Bahnschrift SemiBold" panose="020B0502040204020203" pitchFamily="34" charset="0"/>
              </a:rPr>
              <a:t>Maksvel</a:t>
            </a:r>
            <a:r>
              <a:rPr lang="en-US" sz="3900" dirty="0">
                <a:solidFill>
                  <a:srgbClr val="00B0F0"/>
                </a:solidFill>
                <a:latin typeface="Bahnschrift SemiBold" panose="020B0502040204020203" pitchFamily="34" charset="0"/>
              </a:rPr>
              <a:t> </a:t>
            </a:r>
            <a:r>
              <a:rPr lang="en-US" sz="3900" dirty="0" err="1">
                <a:solidFill>
                  <a:srgbClr val="00B0F0"/>
                </a:solidFill>
                <a:latin typeface="Bahnschrift SemiBold" panose="020B0502040204020203" pitchFamily="34" charset="0"/>
              </a:rPr>
              <a:t>tezliklar</a:t>
            </a:r>
            <a:r>
              <a:rPr lang="en-US" sz="3900" dirty="0">
                <a:solidFill>
                  <a:srgbClr val="00B0F0"/>
                </a:solidFill>
                <a:latin typeface="Bahnschrift SemiBold" panose="020B0502040204020203" pitchFamily="34" charset="0"/>
              </a:rPr>
              <a:t> </a:t>
            </a:r>
            <a:r>
              <a:rPr lang="en-US" sz="3900" dirty="0" err="1" smtClean="0">
                <a:solidFill>
                  <a:srgbClr val="00B0F0"/>
                </a:solidFill>
                <a:latin typeface="Bahnschrift SemiBold" panose="020B0502040204020203" pitchFamily="34" charset="0"/>
              </a:rPr>
              <a:t>taqsimoti</a:t>
            </a:r>
            <a:endParaRPr lang="en-US" sz="3900" dirty="0" smtClean="0">
              <a:solidFill>
                <a:srgbClr val="00B0F0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r>
              <a:rPr lang="en-US" sz="3900" dirty="0" err="1" smtClean="0">
                <a:solidFill>
                  <a:srgbClr val="00B0F0"/>
                </a:solidFill>
                <a:latin typeface="Bahnschrift SemiBold" panose="020B0502040204020203" pitchFamily="34" charset="0"/>
              </a:rPr>
              <a:t>Guruh</a:t>
            </a:r>
            <a:r>
              <a:rPr lang="en-US" sz="3900" dirty="0" smtClean="0">
                <a:solidFill>
                  <a:srgbClr val="00B0F0"/>
                </a:solidFill>
                <a:latin typeface="Bahnschrift SemiBold" panose="020B0502040204020203" pitchFamily="34" charset="0"/>
              </a:rPr>
              <a:t>: FA-301</a:t>
            </a:r>
            <a:endParaRPr lang="en-US" sz="3900" dirty="0">
              <a:solidFill>
                <a:srgbClr val="00B0F0"/>
              </a:solidFill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endParaRPr lang="en-US" sz="2800" dirty="0" smtClean="0"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Bahnschrift SemiBold" panose="020B0502040204020203" pitchFamily="34" charset="0"/>
            </a:endParaRPr>
          </a:p>
          <a:p>
            <a:pPr marL="0" indent="0" algn="r">
              <a:buNone/>
            </a:pPr>
            <a:r>
              <a:rPr lang="en-US" sz="2800" dirty="0" err="1" smtClean="0">
                <a:latin typeface="Bahnschrift SemiBold" panose="020B0502040204020203" pitchFamily="34" charset="0"/>
              </a:rPr>
              <a:t>Tayyorladi</a:t>
            </a:r>
            <a:r>
              <a:rPr lang="en-US" sz="2800" dirty="0" smtClean="0">
                <a:latin typeface="Bahnschrift SemiBold" panose="020B0502040204020203" pitchFamily="34" charset="0"/>
              </a:rPr>
              <a:t>: </a:t>
            </a:r>
            <a:r>
              <a:rPr lang="en-US" sz="2800" dirty="0" err="1" smtClean="0">
                <a:latin typeface="Bahnschrift SemiBold" panose="020B0502040204020203" pitchFamily="34" charset="0"/>
              </a:rPr>
              <a:t>Aminova</a:t>
            </a:r>
            <a:r>
              <a:rPr lang="en-US" sz="2800" dirty="0" smtClean="0">
                <a:latin typeface="Bahnschrift SemiBold" panose="020B0502040204020203" pitchFamily="34" charset="0"/>
              </a:rPr>
              <a:t> </a:t>
            </a:r>
            <a:r>
              <a:rPr lang="en-US" sz="2800" dirty="0" err="1" smtClean="0">
                <a:latin typeface="Bahnschrift SemiBold" panose="020B0502040204020203" pitchFamily="34" charset="0"/>
              </a:rPr>
              <a:t>Farangiz</a:t>
            </a:r>
            <a:endParaRPr lang="en-US" sz="2800" dirty="0" smtClean="0">
              <a:latin typeface="Bahnschrift SemiBold" panose="020B0502040204020203" pitchFamily="34" charset="0"/>
            </a:endParaRPr>
          </a:p>
          <a:p>
            <a:pPr marL="0" indent="0" algn="r">
              <a:buNone/>
            </a:pPr>
            <a:endParaRPr lang="en-US" sz="28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57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lang="en-US" sz="2800" dirty="0" err="1">
                <a:latin typeface="Bookman Old Style" panose="02050604050505020204" pitchFamily="18" charset="0"/>
              </a:rPr>
              <a:t>Reja</a:t>
            </a:r>
            <a:r>
              <a:rPr lang="en-US" sz="2800" dirty="0">
                <a:latin typeface="Bookman Old Style" panose="02050604050505020204" pitchFamily="18" charset="0"/>
              </a:rPr>
              <a:t>: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23890"/>
            <a:ext cx="7549664" cy="4817474"/>
          </a:xfrm>
        </p:spPr>
        <p:txBody>
          <a:bodyPr>
            <a:normAutofit/>
          </a:bodyPr>
          <a:lstStyle/>
          <a:p>
            <a:pPr marL="1828800" lvl="4" indent="0">
              <a:buNone/>
              <a:defRPr sz="2000"/>
            </a:pPr>
            <a:r>
              <a:rPr lang="en-US" sz="4000" dirty="0" smtClean="0">
                <a:latin typeface="Bookman Old Style" panose="02050604050505020204" pitchFamily="18" charset="0"/>
              </a:rPr>
              <a:t>		</a:t>
            </a:r>
          </a:p>
          <a:p>
            <a:pPr>
              <a:defRPr sz="2000"/>
            </a:pPr>
            <a:r>
              <a:rPr lang="en-US" sz="2800" dirty="0" err="1" smtClean="0">
                <a:latin typeface="Bookman Old Style" panose="02050604050505020204" pitchFamily="18" charset="0"/>
              </a:rPr>
              <a:t>Kirish</a:t>
            </a:r>
            <a:endParaRPr lang="en-US" sz="2800" dirty="0" smtClean="0">
              <a:latin typeface="Bookman Old Style" panose="02050604050505020204" pitchFamily="18" charset="0"/>
            </a:endParaRPr>
          </a:p>
          <a:p>
            <a:pPr>
              <a:defRPr sz="2000"/>
            </a:pPr>
            <a:r>
              <a:rPr lang="en-US" sz="2800" dirty="0">
                <a:latin typeface="Bookman Old Style" panose="02050604050505020204" pitchFamily="18" charset="0"/>
              </a:rPr>
              <a:t>Ideal </a:t>
            </a:r>
            <a:r>
              <a:rPr lang="en-US" sz="2800" dirty="0" err="1">
                <a:latin typeface="Bookman Old Style" panose="02050604050505020204" pitchFamily="18" charset="0"/>
              </a:rPr>
              <a:t>gaz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 smtClean="0">
                <a:latin typeface="Bookman Old Style" panose="02050604050505020204" pitchFamily="18" charset="0"/>
              </a:rPr>
              <a:t>modeli</a:t>
            </a:r>
            <a:endParaRPr lang="en-US" sz="2800" dirty="0" smtClean="0">
              <a:latin typeface="Bookman Old Style" panose="02050604050505020204" pitchFamily="18" charset="0"/>
            </a:endParaRPr>
          </a:p>
          <a:p>
            <a:pPr>
              <a:defRPr sz="2000"/>
            </a:pPr>
            <a:r>
              <a:rPr lang="en-US" sz="2800" dirty="0" err="1">
                <a:latin typeface="Bookman Old Style" panose="02050604050505020204" pitchFamily="18" charset="0"/>
              </a:rPr>
              <a:t>Maksvel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>
                <a:latin typeface="Bookman Old Style" panose="02050604050505020204" pitchFamily="18" charset="0"/>
              </a:rPr>
              <a:t>taqsimotining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>
                <a:latin typeface="Bookman Old Style" panose="02050604050505020204" pitchFamily="18" charset="0"/>
              </a:rPr>
              <a:t>fizik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 smtClean="0">
                <a:latin typeface="Bookman Old Style" panose="02050604050505020204" pitchFamily="18" charset="0"/>
              </a:rPr>
              <a:t>mazmuni</a:t>
            </a:r>
            <a:endParaRPr lang="en-US" sz="2800" dirty="0" smtClean="0">
              <a:latin typeface="Bookman Old Style" panose="02050604050505020204" pitchFamily="18" charset="0"/>
            </a:endParaRPr>
          </a:p>
          <a:p>
            <a:pPr>
              <a:defRPr sz="2000"/>
            </a:pPr>
            <a:r>
              <a:rPr lang="en-US" sz="2800" dirty="0" err="1">
                <a:latin typeface="Bookman Old Style" panose="02050604050505020204" pitchFamily="18" charset="0"/>
              </a:rPr>
              <a:t>Maksvel</a:t>
            </a:r>
            <a:r>
              <a:rPr lang="en-US" sz="2800" dirty="0">
                <a:latin typeface="Bookman Old Style" panose="02050604050505020204" pitchFamily="18" charset="0"/>
              </a:rPr>
              <a:t>–</a:t>
            </a:r>
            <a:r>
              <a:rPr lang="en-US" sz="2800" dirty="0" err="1">
                <a:latin typeface="Bookman Old Style" panose="02050604050505020204" pitchFamily="18" charset="0"/>
              </a:rPr>
              <a:t>Boltsman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>
                <a:latin typeface="Bookman Old Style" panose="02050604050505020204" pitchFamily="18" charset="0"/>
              </a:rPr>
              <a:t>taqsimoti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 smtClean="0">
                <a:latin typeface="Bookman Old Style" panose="02050604050505020204" pitchFamily="18" charset="0"/>
              </a:rPr>
              <a:t>formulasi</a:t>
            </a:r>
            <a:endParaRPr lang="en-US" sz="2800" dirty="0" smtClean="0">
              <a:latin typeface="Bookman Old Style" panose="02050604050505020204" pitchFamily="18" charset="0"/>
            </a:endParaRPr>
          </a:p>
          <a:p>
            <a:pPr>
              <a:defRPr sz="2000"/>
            </a:pPr>
            <a:r>
              <a:rPr lang="en-US" sz="2800" dirty="0" err="1">
                <a:latin typeface="Bookman Old Style" panose="02050604050505020204" pitchFamily="18" charset="0"/>
              </a:rPr>
              <a:t>Taqsimot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>
                <a:latin typeface="Bookman Old Style" panose="02050604050505020204" pitchFamily="18" charset="0"/>
              </a:rPr>
              <a:t>grafigi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 smtClean="0">
                <a:latin typeface="Bookman Old Style" panose="02050604050505020204" pitchFamily="18" charset="0"/>
              </a:rPr>
              <a:t>tahlili</a:t>
            </a:r>
            <a:endParaRPr lang="en-US" sz="2800" dirty="0" smtClean="0">
              <a:latin typeface="Bookman Old Style" panose="02050604050505020204" pitchFamily="18" charset="0"/>
            </a:endParaRPr>
          </a:p>
          <a:p>
            <a:pPr>
              <a:defRPr sz="2000"/>
            </a:pPr>
            <a:r>
              <a:rPr lang="en-US" sz="2800" dirty="0" err="1">
                <a:latin typeface="Bookman Old Style" panose="02050604050505020204" pitchFamily="18" charset="0"/>
              </a:rPr>
              <a:t>Xarakterli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800" dirty="0" err="1" smtClean="0">
                <a:latin typeface="Bookman Old Style" panose="02050604050505020204" pitchFamily="18" charset="0"/>
              </a:rPr>
              <a:t>tezliklar</a:t>
            </a:r>
            <a:endParaRPr lang="en-US" sz="2800" dirty="0" smtClean="0">
              <a:latin typeface="Bookman Old Style" panose="02050604050505020204" pitchFamily="18" charset="0"/>
            </a:endParaRPr>
          </a:p>
          <a:p>
            <a:pPr>
              <a:defRPr sz="2000"/>
            </a:pPr>
            <a:r>
              <a:rPr lang="en-US" sz="2800" dirty="0" err="1">
                <a:latin typeface="Bookman Old Style" panose="02050604050505020204" pitchFamily="18" charset="0"/>
              </a:rPr>
              <a:t>Xulosa</a:t>
            </a:r>
            <a:endParaRPr sz="28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lang="en-US" dirty="0" err="1" smtClean="0"/>
              <a:t>Kirish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42" y="1403572"/>
            <a:ext cx="8750104" cy="4972612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Calisto MT" panose="02040603050505030304" pitchFamily="18" charset="0"/>
              </a:rPr>
              <a:t>Statistik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fizika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moddani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tashkil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etuvchi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juda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ko‘p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sonli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zarrachalarning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kollektiv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xatti-harakatlarini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o‘rganadi</a:t>
            </a:r>
            <a:r>
              <a:rPr lang="en-US" sz="2400" dirty="0">
                <a:latin typeface="Calisto MT" panose="02040603050505030304" pitchFamily="18" charset="0"/>
              </a:rPr>
              <a:t>. </a:t>
            </a:r>
            <a:r>
              <a:rPr lang="en-US" sz="2400" dirty="0" err="1">
                <a:latin typeface="Calisto MT" panose="02040603050505030304" pitchFamily="18" charset="0"/>
              </a:rPr>
              <a:t>Gaz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molekulalari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doimiy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ravishda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tartibsiz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issiqlik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harakatida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bo‘lib</a:t>
            </a:r>
            <a:r>
              <a:rPr lang="en-US" sz="2400" dirty="0">
                <a:latin typeface="Calisto MT" panose="02040603050505030304" pitchFamily="18" charset="0"/>
              </a:rPr>
              <a:t>, </a:t>
            </a:r>
            <a:r>
              <a:rPr lang="en-US" sz="2400" dirty="0" err="1">
                <a:latin typeface="Calisto MT" panose="02040603050505030304" pitchFamily="18" charset="0"/>
              </a:rPr>
              <a:t>ularning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tezliklari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bir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xil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emas</a:t>
            </a:r>
            <a:r>
              <a:rPr lang="en-US" sz="2400" dirty="0">
                <a:latin typeface="Calisto MT" panose="02040603050505030304" pitchFamily="18" charset="0"/>
              </a:rPr>
              <a:t>. Shu </a:t>
            </a:r>
            <a:r>
              <a:rPr lang="en-US" sz="2400" dirty="0" err="1">
                <a:latin typeface="Calisto MT" panose="02040603050505030304" pitchFamily="18" charset="0"/>
              </a:rPr>
              <a:t>sababli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molekulalar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tezliklarining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qanday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taqsimlanganligini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aniqlash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gazlarning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makroskopik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xossalarini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tushunishda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muhim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ahamiyatga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ega</a:t>
            </a:r>
            <a:r>
              <a:rPr lang="en-US" sz="2400" dirty="0">
                <a:latin typeface="Calisto MT" panose="02040603050505030304" pitchFamily="18" charset="0"/>
              </a:rPr>
              <a:t>.</a:t>
            </a:r>
          </a:p>
          <a:p>
            <a:r>
              <a:rPr lang="en-US" sz="2400" dirty="0">
                <a:latin typeface="Calisto MT" panose="02040603050505030304" pitchFamily="18" charset="0"/>
              </a:rPr>
              <a:t>1860-yilda James Clerk Maxwell </a:t>
            </a:r>
            <a:r>
              <a:rPr lang="en-US" sz="2400" dirty="0" err="1">
                <a:latin typeface="Calisto MT" panose="02040603050505030304" pitchFamily="18" charset="0"/>
              </a:rPr>
              <a:t>gaz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molekulalari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tezliklarining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statistik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taqsimot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qonunini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taklif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qildi</a:t>
            </a:r>
            <a:r>
              <a:rPr lang="en-US" sz="2400" dirty="0">
                <a:latin typeface="Calisto MT" panose="02040603050505030304" pitchFamily="18" charset="0"/>
              </a:rPr>
              <a:t>. </a:t>
            </a:r>
            <a:r>
              <a:rPr lang="en-US" sz="2400" dirty="0" err="1">
                <a:latin typeface="Calisto MT" panose="02040603050505030304" pitchFamily="18" charset="0"/>
              </a:rPr>
              <a:t>Ushbu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taqsimot</a:t>
            </a:r>
            <a:r>
              <a:rPr lang="en-US" sz="2400" dirty="0">
                <a:latin typeface="Calisto MT" panose="02040603050505030304" pitchFamily="18" charset="0"/>
              </a:rPr>
              <a:t> ideal </a:t>
            </a:r>
            <a:r>
              <a:rPr lang="en-US" sz="2400" dirty="0" err="1">
                <a:latin typeface="Calisto MT" panose="02040603050505030304" pitchFamily="18" charset="0"/>
              </a:rPr>
              <a:t>gaz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molekulalarining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turli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tezliklarda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qanday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ulushda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mavjud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bo‘lishini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ifodalaydi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va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kinetik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nazariyaning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asosiy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natijalaridan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biri</a:t>
            </a:r>
            <a:r>
              <a:rPr lang="en-US" sz="2400" dirty="0">
                <a:latin typeface="Calisto MT" panose="02040603050505030304" pitchFamily="18" charset="0"/>
              </a:rPr>
              <a:t> </a:t>
            </a:r>
            <a:r>
              <a:rPr lang="en-US" sz="2400" dirty="0" err="1">
                <a:latin typeface="Calisto MT" panose="02040603050505030304" pitchFamily="18" charset="0"/>
              </a:rPr>
              <a:t>hisoblanadi</a:t>
            </a:r>
            <a:r>
              <a:rPr lang="en-US" sz="2400" dirty="0">
                <a:latin typeface="Calisto MT" panose="0204060305050503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72086"/>
          </a:xfrm>
        </p:spPr>
        <p:txBody>
          <a:bodyPr/>
          <a:lstStyle/>
          <a:p>
            <a:pPr>
              <a:defRPr sz="2800" b="1"/>
            </a:pPr>
            <a:r>
              <a:rPr lang="en-US" dirty="0"/>
              <a:t>Ideal </a:t>
            </a:r>
            <a:r>
              <a:rPr lang="en-US" dirty="0" err="1"/>
              <a:t>gaz</a:t>
            </a:r>
            <a:r>
              <a:rPr lang="en-US" dirty="0"/>
              <a:t> </a:t>
            </a:r>
            <a:r>
              <a:rPr lang="en-US" dirty="0" err="1"/>
              <a:t>modeli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828" y="1322364"/>
            <a:ext cx="7779434" cy="4719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Ideal </a:t>
            </a:r>
            <a:r>
              <a:rPr lang="en-US" sz="2000" dirty="0" err="1">
                <a:latin typeface="Book Antiqua" panose="02040602050305030304" pitchFamily="18" charset="0"/>
              </a:rPr>
              <a:t>gaz</a:t>
            </a:r>
            <a:r>
              <a:rPr lang="en-US" sz="2000" dirty="0">
                <a:latin typeface="Book Antiqua" panose="02040602050305030304" pitchFamily="18" charset="0"/>
              </a:rPr>
              <a:t> — </a:t>
            </a:r>
            <a:r>
              <a:rPr lang="en-US" sz="2000" dirty="0" err="1">
                <a:latin typeface="Book Antiqua" panose="02040602050305030304" pitchFamily="18" charset="0"/>
              </a:rPr>
              <a:t>bu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molekulalari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hajmi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e’tiborga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olinmaydigan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va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o‘zaro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ta’sir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kuchlari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faqat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to‘qnashuv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vaqtida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namoyon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bo‘ladigan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nazariy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modeldir</a:t>
            </a:r>
            <a:r>
              <a:rPr lang="en-US" sz="2000" dirty="0">
                <a:latin typeface="Book Antiqua" panose="02040602050305030304" pitchFamily="18" charset="0"/>
              </a:rPr>
              <a:t>. </a:t>
            </a:r>
            <a:r>
              <a:rPr lang="en-US" sz="2000" dirty="0" err="1">
                <a:latin typeface="Book Antiqua" panose="02040602050305030304" pitchFamily="18" charset="0"/>
              </a:rPr>
              <a:t>Ushbu</a:t>
            </a:r>
            <a:r>
              <a:rPr lang="en-US" sz="2000" dirty="0">
                <a:latin typeface="Book Antiqua" panose="02040602050305030304" pitchFamily="18" charset="0"/>
              </a:rPr>
              <a:t> model </a:t>
            </a:r>
            <a:r>
              <a:rPr lang="en-US" sz="2000" dirty="0" err="1">
                <a:latin typeface="Book Antiqua" panose="02040602050305030304" pitchFamily="18" charset="0"/>
              </a:rPr>
              <a:t>gazlarning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ko‘plab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xossalarini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soddalashtirilgan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holda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tavsiflash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imkonini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beradi</a:t>
            </a:r>
            <a:r>
              <a:rPr lang="en-US" sz="2000" dirty="0">
                <a:latin typeface="Book Antiqua" panose="0204060205030503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Book Antiqua" panose="02040602050305030304" pitchFamily="18" charset="0"/>
              </a:rPr>
              <a:t>Ideal </a:t>
            </a:r>
            <a:r>
              <a:rPr lang="en-US" sz="2000" dirty="0" err="1">
                <a:latin typeface="Book Antiqua" panose="02040602050305030304" pitchFamily="18" charset="0"/>
              </a:rPr>
              <a:t>gaz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modelining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asosiy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farazlari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quyidagilar</a:t>
            </a:r>
            <a:r>
              <a:rPr lang="en-US" sz="2000" dirty="0">
                <a:latin typeface="Book Antiqua" panose="02040602050305030304" pitchFamily="18" charset="0"/>
              </a:rPr>
              <a:t>:</a:t>
            </a:r>
          </a:p>
          <a:p>
            <a:r>
              <a:rPr lang="en-US" sz="2000" dirty="0" err="1">
                <a:latin typeface="Book Antiqua" panose="02040602050305030304" pitchFamily="18" charset="0"/>
              </a:rPr>
              <a:t>Gaz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juda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ko‘p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sonli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molekulalardan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tashkil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topgan</a:t>
            </a:r>
            <a:r>
              <a:rPr lang="en-US" sz="2000" dirty="0">
                <a:latin typeface="Book Antiqua" panose="02040602050305030304" pitchFamily="18" charset="0"/>
              </a:rPr>
              <a:t>; </a:t>
            </a:r>
          </a:p>
          <a:p>
            <a:r>
              <a:rPr lang="en-US" sz="2000" dirty="0" err="1">
                <a:latin typeface="Book Antiqua" panose="02040602050305030304" pitchFamily="18" charset="0"/>
              </a:rPr>
              <a:t>Molekulalar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tartibsiz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va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uzluksiz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harakat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qiladi</a:t>
            </a:r>
            <a:r>
              <a:rPr lang="en-US" sz="2000" dirty="0">
                <a:latin typeface="Book Antiqua" panose="02040602050305030304" pitchFamily="18" charset="0"/>
              </a:rPr>
              <a:t>; </a:t>
            </a:r>
          </a:p>
          <a:p>
            <a:r>
              <a:rPr lang="en-US" sz="2000" dirty="0" err="1">
                <a:latin typeface="Book Antiqua" panose="02040602050305030304" pitchFamily="18" charset="0"/>
              </a:rPr>
              <a:t>Molekulalarning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o‘z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hajmi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idish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hajmiga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nisbatan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juda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kichik</a:t>
            </a:r>
            <a:r>
              <a:rPr lang="en-US" sz="2000" dirty="0">
                <a:latin typeface="Book Antiqua" panose="02040602050305030304" pitchFamily="18" charset="0"/>
              </a:rPr>
              <a:t>; </a:t>
            </a:r>
          </a:p>
          <a:p>
            <a:r>
              <a:rPr lang="en-US" sz="2000" dirty="0" err="1">
                <a:latin typeface="Book Antiqua" panose="02040602050305030304" pitchFamily="18" charset="0"/>
              </a:rPr>
              <a:t>Molekulalar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orasida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o‘zaro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tortishish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va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itarish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kuchlari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hisobga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olinmaydi</a:t>
            </a:r>
            <a:r>
              <a:rPr lang="en-US" sz="2000" dirty="0">
                <a:latin typeface="Book Antiqua" panose="02040602050305030304" pitchFamily="18" charset="0"/>
              </a:rPr>
              <a:t>; </a:t>
            </a:r>
          </a:p>
          <a:p>
            <a:r>
              <a:rPr lang="en-US" sz="2000" dirty="0" err="1">
                <a:latin typeface="Book Antiqua" panose="02040602050305030304" pitchFamily="18" charset="0"/>
              </a:rPr>
              <a:t>To‘qnashuvlar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mutlaqo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elastik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bo‘ladi</a:t>
            </a:r>
            <a:r>
              <a:rPr lang="en-US" sz="2000" dirty="0">
                <a:latin typeface="Book Antiqua" panose="0204060205030503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000" dirty="0" err="1">
                <a:latin typeface="Book Antiqua" panose="02040602050305030304" pitchFamily="18" charset="0"/>
              </a:rPr>
              <a:t>Mazkur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farazlar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asosida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gaz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molekulalarining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statistik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taqsimoti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va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termodinamik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xossalari</a:t>
            </a:r>
            <a:r>
              <a:rPr lang="en-US" sz="2000" dirty="0">
                <a:latin typeface="Book Antiqua" panose="02040602050305030304" pitchFamily="18" charset="0"/>
              </a:rPr>
              <a:t> </a:t>
            </a:r>
            <a:r>
              <a:rPr lang="en-US" sz="2000" dirty="0" err="1">
                <a:latin typeface="Book Antiqua" panose="02040602050305030304" pitchFamily="18" charset="0"/>
              </a:rPr>
              <a:t>o‘rganiladi</a:t>
            </a:r>
            <a:r>
              <a:rPr lang="en-US" sz="2000" dirty="0">
                <a:latin typeface="Book Antiqua" panose="0204060205030503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95643"/>
          </a:xfrm>
        </p:spPr>
        <p:txBody>
          <a:bodyPr/>
          <a:lstStyle/>
          <a:p>
            <a:pPr>
              <a:defRPr sz="2800" b="1"/>
            </a:pPr>
            <a:r>
              <a:rPr lang="en-US" dirty="0" err="1"/>
              <a:t>Maksvel</a:t>
            </a:r>
            <a:r>
              <a:rPr lang="en-US" dirty="0"/>
              <a:t> </a:t>
            </a:r>
            <a:r>
              <a:rPr lang="en-US" dirty="0" err="1"/>
              <a:t>taqsimotining</a:t>
            </a:r>
            <a:r>
              <a:rPr lang="en-US" dirty="0"/>
              <a:t> </a:t>
            </a:r>
            <a:r>
              <a:rPr lang="en-US" dirty="0" err="1"/>
              <a:t>fizik</a:t>
            </a:r>
            <a:r>
              <a:rPr lang="en-US" dirty="0"/>
              <a:t> </a:t>
            </a:r>
            <a:r>
              <a:rPr lang="en-US" dirty="0" err="1"/>
              <a:t>mazmuni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650" y="1659988"/>
            <a:ext cx="7268309" cy="4381375"/>
          </a:xfrm>
        </p:spPr>
        <p:txBody>
          <a:bodyPr>
            <a:noAutofit/>
          </a:bodyPr>
          <a:lstStyle/>
          <a:p>
            <a:r>
              <a:rPr lang="en-US" sz="2400" dirty="0" err="1"/>
              <a:t>Gaz</a:t>
            </a:r>
            <a:r>
              <a:rPr lang="en-US" sz="2400" dirty="0"/>
              <a:t> </a:t>
            </a:r>
            <a:r>
              <a:rPr lang="en-US" sz="2400" dirty="0" err="1"/>
              <a:t>molekulalari</a:t>
            </a:r>
            <a:r>
              <a:rPr lang="en-US" sz="2400" dirty="0"/>
              <a:t> </a:t>
            </a:r>
            <a:r>
              <a:rPr lang="en-US" sz="2400" dirty="0" err="1"/>
              <a:t>tartibsiz</a:t>
            </a:r>
            <a:r>
              <a:rPr lang="en-US" sz="2400" dirty="0"/>
              <a:t> </a:t>
            </a:r>
            <a:r>
              <a:rPr lang="en-US" sz="2400" dirty="0" err="1"/>
              <a:t>issiqlik</a:t>
            </a:r>
            <a:r>
              <a:rPr lang="en-US" sz="2400" dirty="0"/>
              <a:t> </a:t>
            </a:r>
            <a:r>
              <a:rPr lang="en-US" sz="2400" dirty="0" err="1"/>
              <a:t>harakatida</a:t>
            </a:r>
            <a:r>
              <a:rPr lang="en-US" sz="2400" dirty="0"/>
              <a:t> </a:t>
            </a:r>
            <a:r>
              <a:rPr lang="en-US" sz="2400" dirty="0" err="1"/>
              <a:t>bo‘lgani</a:t>
            </a:r>
            <a:r>
              <a:rPr lang="en-US" sz="2400" dirty="0"/>
              <a:t> </a:t>
            </a:r>
            <a:r>
              <a:rPr lang="en-US" sz="2400" dirty="0" err="1"/>
              <a:t>sababli</a:t>
            </a:r>
            <a:r>
              <a:rPr lang="en-US" sz="2400" dirty="0"/>
              <a:t> </a:t>
            </a:r>
            <a:r>
              <a:rPr lang="en-US" sz="2400" dirty="0" err="1"/>
              <a:t>ularning</a:t>
            </a:r>
            <a:r>
              <a:rPr lang="en-US" sz="2400" dirty="0"/>
              <a:t> </a:t>
            </a:r>
            <a:r>
              <a:rPr lang="en-US" sz="2400" dirty="0" err="1"/>
              <a:t>tezliklari</a:t>
            </a:r>
            <a:r>
              <a:rPr lang="en-US" sz="2400" dirty="0"/>
              <a:t> </a:t>
            </a:r>
            <a:r>
              <a:rPr lang="en-US" sz="2400" dirty="0" err="1"/>
              <a:t>turlicha</a:t>
            </a:r>
            <a:r>
              <a:rPr lang="en-US" sz="2400" dirty="0"/>
              <a:t> </a:t>
            </a:r>
            <a:r>
              <a:rPr lang="en-US" sz="2400" dirty="0" err="1"/>
              <a:t>bo‘ladi</a:t>
            </a:r>
            <a:r>
              <a:rPr lang="en-US" sz="2400" dirty="0"/>
              <a:t>. </a:t>
            </a:r>
            <a:r>
              <a:rPr lang="en-US" sz="2400" dirty="0" err="1"/>
              <a:t>Molekulalar</a:t>
            </a:r>
            <a:r>
              <a:rPr lang="en-US" sz="2400" dirty="0"/>
              <a:t> </a:t>
            </a:r>
            <a:r>
              <a:rPr lang="en-US" sz="2400" dirty="0" err="1"/>
              <a:t>o‘zaro</a:t>
            </a:r>
            <a:r>
              <a:rPr lang="en-US" sz="2400" dirty="0"/>
              <a:t> </a:t>
            </a:r>
            <a:r>
              <a:rPr lang="en-US" sz="2400" dirty="0" err="1"/>
              <a:t>to‘qnashish</a:t>
            </a:r>
            <a:r>
              <a:rPr lang="en-US" sz="2400" dirty="0"/>
              <a:t> </a:t>
            </a:r>
            <a:r>
              <a:rPr lang="en-US" sz="2400" dirty="0" err="1"/>
              <a:t>natijasida</a:t>
            </a:r>
            <a:r>
              <a:rPr lang="en-US" sz="2400" dirty="0"/>
              <a:t> </a:t>
            </a:r>
            <a:r>
              <a:rPr lang="en-US" sz="2400" dirty="0" err="1"/>
              <a:t>tezliklarini</a:t>
            </a:r>
            <a:r>
              <a:rPr lang="en-US" sz="2400" dirty="0"/>
              <a:t> </a:t>
            </a:r>
            <a:r>
              <a:rPr lang="en-US" sz="2400" dirty="0" err="1"/>
              <a:t>doimiy</a:t>
            </a:r>
            <a:r>
              <a:rPr lang="en-US" sz="2400" dirty="0"/>
              <a:t> </a:t>
            </a:r>
            <a:r>
              <a:rPr lang="en-US" sz="2400" dirty="0" err="1"/>
              <a:t>o‘zgartirib</a:t>
            </a:r>
            <a:r>
              <a:rPr lang="en-US" sz="2400" dirty="0"/>
              <a:t> </a:t>
            </a:r>
            <a:r>
              <a:rPr lang="en-US" sz="2400" dirty="0" err="1"/>
              <a:t>turadi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Maksvel</a:t>
            </a:r>
            <a:r>
              <a:rPr lang="en-US" sz="2400" dirty="0"/>
              <a:t> </a:t>
            </a:r>
            <a:r>
              <a:rPr lang="en-US" sz="2400" dirty="0" err="1"/>
              <a:t>taqsimoti</a:t>
            </a:r>
            <a:r>
              <a:rPr lang="en-US" sz="2400" dirty="0"/>
              <a:t> </a:t>
            </a:r>
            <a:r>
              <a:rPr lang="en-US" sz="2400" dirty="0" err="1"/>
              <a:t>ma’lum</a:t>
            </a:r>
            <a:r>
              <a:rPr lang="en-US" sz="2400" dirty="0"/>
              <a:t> </a:t>
            </a:r>
            <a:r>
              <a:rPr lang="en-US" sz="2400" dirty="0" err="1"/>
              <a:t>temperaturada</a:t>
            </a:r>
            <a:r>
              <a:rPr lang="en-US" sz="2400" dirty="0"/>
              <a:t> </a:t>
            </a:r>
            <a:r>
              <a:rPr lang="en-US" sz="2400" dirty="0" err="1"/>
              <a:t>molekulalarning</a:t>
            </a:r>
            <a:r>
              <a:rPr lang="en-US" sz="2400" dirty="0"/>
              <a:t> </a:t>
            </a:r>
            <a:r>
              <a:rPr lang="en-US" sz="2400" dirty="0" err="1"/>
              <a:t>tezliklar</a:t>
            </a:r>
            <a:r>
              <a:rPr lang="en-US" sz="2400" dirty="0"/>
              <a:t> </a:t>
            </a:r>
            <a:r>
              <a:rPr lang="en-US" sz="2400" dirty="0" err="1"/>
              <a:t>bo‘yicha</a:t>
            </a:r>
            <a:r>
              <a:rPr lang="en-US" sz="2400" dirty="0"/>
              <a:t> </a:t>
            </a:r>
            <a:r>
              <a:rPr lang="en-US" sz="2400" dirty="0" err="1"/>
              <a:t>statistik</a:t>
            </a:r>
            <a:r>
              <a:rPr lang="en-US" sz="2400" dirty="0"/>
              <a:t> </a:t>
            </a:r>
            <a:r>
              <a:rPr lang="en-US" sz="2400" dirty="0" err="1"/>
              <a:t>taqsimlanishini</a:t>
            </a:r>
            <a:r>
              <a:rPr lang="en-US" sz="2400" dirty="0"/>
              <a:t> </a:t>
            </a:r>
            <a:r>
              <a:rPr lang="en-US" sz="2400" dirty="0" err="1"/>
              <a:t>ifodalaydi</a:t>
            </a:r>
            <a:r>
              <a:rPr lang="en-US" sz="2400" dirty="0"/>
              <a:t>. </a:t>
            </a:r>
            <a:r>
              <a:rPr lang="en-US" sz="2400" dirty="0" err="1"/>
              <a:t>Unga</a:t>
            </a:r>
            <a:r>
              <a:rPr lang="en-US" sz="2400" dirty="0"/>
              <a:t> </a:t>
            </a:r>
            <a:r>
              <a:rPr lang="en-US" sz="2400" dirty="0" err="1"/>
              <a:t>ko‘ra</a:t>
            </a:r>
            <a:r>
              <a:rPr lang="en-US" sz="2400" dirty="0"/>
              <a:t> </a:t>
            </a:r>
            <a:r>
              <a:rPr lang="en-US" sz="2400" dirty="0" err="1"/>
              <a:t>molekulalarning</a:t>
            </a:r>
            <a:r>
              <a:rPr lang="en-US" sz="2400" dirty="0"/>
              <a:t> </a:t>
            </a:r>
            <a:r>
              <a:rPr lang="en-US" sz="2400" dirty="0" err="1"/>
              <a:t>aksariyati</a:t>
            </a:r>
            <a:r>
              <a:rPr lang="en-US" sz="2400" dirty="0"/>
              <a:t> </a:t>
            </a:r>
            <a:r>
              <a:rPr lang="en-US" sz="2400" dirty="0" err="1"/>
              <a:t>o‘rtacha</a:t>
            </a:r>
            <a:r>
              <a:rPr lang="en-US" sz="2400" dirty="0"/>
              <a:t> </a:t>
            </a:r>
            <a:r>
              <a:rPr lang="en-US" sz="2400" dirty="0" err="1"/>
              <a:t>tezliklar</a:t>
            </a:r>
            <a:r>
              <a:rPr lang="en-US" sz="2400" dirty="0"/>
              <a:t> </a:t>
            </a:r>
            <a:r>
              <a:rPr lang="en-US" sz="2400" dirty="0" err="1"/>
              <a:t>atrofida</a:t>
            </a:r>
            <a:r>
              <a:rPr lang="en-US" sz="2400" dirty="0"/>
              <a:t> </a:t>
            </a:r>
            <a:r>
              <a:rPr lang="en-US" sz="2400" dirty="0" err="1"/>
              <a:t>harakat</a:t>
            </a:r>
            <a:r>
              <a:rPr lang="en-US" sz="2400" dirty="0"/>
              <a:t> </a:t>
            </a:r>
            <a:r>
              <a:rPr lang="en-US" sz="2400" dirty="0" err="1"/>
              <a:t>qiladi</a:t>
            </a:r>
            <a:r>
              <a:rPr lang="en-US" sz="2400" dirty="0"/>
              <a:t>, </a:t>
            </a:r>
            <a:r>
              <a:rPr lang="en-US" sz="2400" dirty="0" err="1"/>
              <a:t>juda</a:t>
            </a:r>
            <a:r>
              <a:rPr lang="en-US" sz="2400" dirty="0"/>
              <a:t> </a:t>
            </a:r>
            <a:r>
              <a:rPr lang="en-US" sz="2400" dirty="0" err="1"/>
              <a:t>sekin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juda</a:t>
            </a:r>
            <a:r>
              <a:rPr lang="en-US" sz="2400" dirty="0"/>
              <a:t> </a:t>
            </a:r>
            <a:r>
              <a:rPr lang="en-US" sz="2400" dirty="0" err="1"/>
              <a:t>tez</a:t>
            </a:r>
            <a:r>
              <a:rPr lang="en-US" sz="2400" dirty="0"/>
              <a:t> </a:t>
            </a:r>
            <a:r>
              <a:rPr lang="en-US" sz="2400" dirty="0" err="1"/>
              <a:t>molekulalar</a:t>
            </a:r>
            <a:r>
              <a:rPr lang="en-US" sz="2400" dirty="0"/>
              <a:t> </a:t>
            </a:r>
            <a:r>
              <a:rPr lang="en-US" sz="2400" dirty="0" err="1"/>
              <a:t>esa</a:t>
            </a:r>
            <a:r>
              <a:rPr lang="en-US" sz="2400" dirty="0"/>
              <a:t> </a:t>
            </a:r>
            <a:r>
              <a:rPr lang="en-US" sz="2400" dirty="0" err="1"/>
              <a:t>kam</a:t>
            </a:r>
            <a:r>
              <a:rPr lang="en-US" sz="2400" dirty="0"/>
              <a:t> </a:t>
            </a:r>
            <a:r>
              <a:rPr lang="en-US" sz="2400" dirty="0" err="1"/>
              <a:t>uchraydi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/>
            </a:pPr>
            <a:r>
              <a:rPr lang="en-US" sz="2800" b="1" dirty="0" err="1">
                <a:latin typeface="Bookman Old Style" panose="02050604050505020204" pitchFamily="18" charset="0"/>
              </a:rPr>
              <a:t>Maksvel</a:t>
            </a:r>
            <a:r>
              <a:rPr lang="en-US" sz="2800" b="1" dirty="0">
                <a:latin typeface="Bookman Old Style" panose="02050604050505020204" pitchFamily="18" charset="0"/>
              </a:rPr>
              <a:t>–</a:t>
            </a:r>
            <a:r>
              <a:rPr lang="en-US" sz="2800" b="1" dirty="0" err="1">
                <a:latin typeface="Bookman Old Style" panose="02050604050505020204" pitchFamily="18" charset="0"/>
              </a:rPr>
              <a:t>Boltsman</a:t>
            </a:r>
            <a:r>
              <a:rPr lang="en-US" sz="2800" b="1" dirty="0">
                <a:latin typeface="Bookman Old Style" panose="02050604050505020204" pitchFamily="18" charset="0"/>
              </a:rPr>
              <a:t> </a:t>
            </a:r>
            <a:r>
              <a:rPr lang="en-US" sz="2800" b="1" dirty="0" err="1">
                <a:latin typeface="Bookman Old Style" panose="02050604050505020204" pitchFamily="18" charset="0"/>
              </a:rPr>
              <a:t>taqsimoti</a:t>
            </a:r>
            <a:r>
              <a:rPr lang="en-US" sz="2800" b="1" dirty="0">
                <a:latin typeface="Bookman Old Style" panose="02050604050505020204" pitchFamily="18" charset="0"/>
              </a:rPr>
              <a:t> </a:t>
            </a:r>
            <a:r>
              <a:rPr lang="en-US" sz="2800" b="1" dirty="0" err="1">
                <a:latin typeface="Bookman Old Style" panose="02050604050505020204" pitchFamily="18" charset="0"/>
              </a:rPr>
              <a:t>formulasi</a:t>
            </a:r>
            <a:endParaRPr lang="en-US" sz="2800" b="1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3880773"/>
          </a:xfrm>
        </p:spPr>
        <p:txBody>
          <a:bodyPr/>
          <a:lstStyle/>
          <a:p>
            <a:pPr>
              <a:defRPr sz="2000"/>
            </a:pPr>
            <a:r>
              <a:rPr lang="en-US" dirty="0" err="1"/>
              <a:t>Gaz</a:t>
            </a:r>
            <a:r>
              <a:rPr lang="en-US" dirty="0"/>
              <a:t> </a:t>
            </a:r>
            <a:r>
              <a:rPr lang="en-US" dirty="0" err="1"/>
              <a:t>molekulalarining</a:t>
            </a:r>
            <a:r>
              <a:rPr lang="en-US" dirty="0"/>
              <a:t> </a:t>
            </a:r>
            <a:r>
              <a:rPr lang="en-US" dirty="0" err="1"/>
              <a:t>tezlik</a:t>
            </a:r>
            <a:r>
              <a:rPr lang="en-US" dirty="0"/>
              <a:t> </a:t>
            </a:r>
            <a:r>
              <a:rPr lang="en-US" dirty="0" err="1"/>
              <a:t>bo‘yicha</a:t>
            </a:r>
            <a:r>
              <a:rPr lang="en-US" dirty="0"/>
              <a:t> </a:t>
            </a:r>
            <a:r>
              <a:rPr lang="en-US" dirty="0" err="1"/>
              <a:t>taqsimoti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formula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ifodalanadi</a:t>
            </a:r>
            <a:r>
              <a:rPr lang="en-US" dirty="0" smtClean="0"/>
              <a:t>: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Bu </a:t>
            </a:r>
            <a:r>
              <a:rPr lang="en-US" dirty="0" err="1"/>
              <a:t>yerda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m</a:t>
            </a:r>
            <a:r>
              <a:rPr lang="en-US" dirty="0"/>
              <a:t> — </a:t>
            </a:r>
            <a:r>
              <a:rPr lang="en-US" dirty="0" err="1"/>
              <a:t>molekula</a:t>
            </a:r>
            <a:r>
              <a:rPr lang="en-US" dirty="0"/>
              <a:t> </a:t>
            </a:r>
            <a:r>
              <a:rPr lang="en-US" dirty="0" err="1"/>
              <a:t>massasi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k</a:t>
            </a:r>
            <a:r>
              <a:rPr lang="en-US" dirty="0"/>
              <a:t> — </a:t>
            </a:r>
            <a:r>
              <a:rPr lang="en-US" dirty="0" err="1"/>
              <a:t>Bolsman</a:t>
            </a:r>
            <a:r>
              <a:rPr lang="en-US" dirty="0"/>
              <a:t> </a:t>
            </a:r>
            <a:r>
              <a:rPr lang="en-US" dirty="0" err="1"/>
              <a:t>doimiysi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T</a:t>
            </a:r>
            <a:r>
              <a:rPr lang="en-US" dirty="0"/>
              <a:t> — </a:t>
            </a:r>
            <a:r>
              <a:rPr lang="en-US" dirty="0" err="1"/>
              <a:t>mutlaq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v</a:t>
            </a:r>
            <a:r>
              <a:rPr lang="en-US" dirty="0"/>
              <a:t> — </a:t>
            </a:r>
            <a:r>
              <a:rPr lang="en-US" dirty="0" err="1"/>
              <a:t>molekula</a:t>
            </a:r>
            <a:r>
              <a:rPr lang="en-US" dirty="0"/>
              <a:t> </a:t>
            </a:r>
            <a:r>
              <a:rPr lang="en-US" dirty="0" err="1"/>
              <a:t>tezligi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66" y="2983923"/>
            <a:ext cx="2991267" cy="5525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00222"/>
          </a:xfrm>
        </p:spPr>
        <p:txBody>
          <a:bodyPr/>
          <a:lstStyle/>
          <a:p>
            <a:pPr>
              <a:defRPr sz="2800" b="1"/>
            </a:pPr>
            <a:r>
              <a:rPr lang="en-US" dirty="0" err="1"/>
              <a:t>Taqsimot</a:t>
            </a:r>
            <a:r>
              <a:rPr lang="en-US" dirty="0"/>
              <a:t> </a:t>
            </a:r>
            <a:r>
              <a:rPr lang="en-US" dirty="0" err="1"/>
              <a:t>grafigi</a:t>
            </a:r>
            <a:r>
              <a:rPr lang="en-US" dirty="0"/>
              <a:t> </a:t>
            </a:r>
            <a:r>
              <a:rPr lang="en-US" dirty="0" err="1"/>
              <a:t>tahlili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78634"/>
            <a:ext cx="7113564" cy="4662729"/>
          </a:xfrm>
        </p:spPr>
        <p:txBody>
          <a:bodyPr/>
          <a:lstStyle/>
          <a:p>
            <a:r>
              <a:rPr lang="en-US" dirty="0" err="1"/>
              <a:t>Maksvel</a:t>
            </a:r>
            <a:r>
              <a:rPr lang="en-US" dirty="0"/>
              <a:t> </a:t>
            </a:r>
            <a:r>
              <a:rPr lang="en-US" dirty="0" err="1"/>
              <a:t>taqsimoti</a:t>
            </a:r>
            <a:r>
              <a:rPr lang="en-US" dirty="0"/>
              <a:t> </a:t>
            </a:r>
            <a:r>
              <a:rPr lang="en-US" dirty="0" err="1"/>
              <a:t>grafigi</a:t>
            </a:r>
            <a:r>
              <a:rPr lang="en-US" dirty="0"/>
              <a:t> </a:t>
            </a:r>
            <a:r>
              <a:rPr lang="en-US" dirty="0" err="1"/>
              <a:t>molekulalar</a:t>
            </a:r>
            <a:r>
              <a:rPr lang="en-US" dirty="0"/>
              <a:t> </a:t>
            </a:r>
            <a:r>
              <a:rPr lang="en-US" dirty="0" err="1"/>
              <a:t>sonining</a:t>
            </a:r>
            <a:r>
              <a:rPr lang="en-US" dirty="0"/>
              <a:t> </a:t>
            </a:r>
            <a:r>
              <a:rPr lang="en-US" dirty="0" err="1"/>
              <a:t>tezlikka</a:t>
            </a:r>
            <a:r>
              <a:rPr lang="en-US" dirty="0"/>
              <a:t> </a:t>
            </a:r>
            <a:r>
              <a:rPr lang="en-US" dirty="0" err="1"/>
              <a:t>bog‘liqligini</a:t>
            </a:r>
            <a:r>
              <a:rPr lang="en-US" dirty="0"/>
              <a:t> </a:t>
            </a:r>
            <a:r>
              <a:rPr lang="en-US" dirty="0" err="1"/>
              <a:t>ko‘rsatadi</a:t>
            </a:r>
            <a:r>
              <a:rPr lang="en-US" dirty="0"/>
              <a:t>.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nuqtaga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ehtimolli</a:t>
            </a:r>
            <a:r>
              <a:rPr lang="en-US" dirty="0"/>
              <a:t> </a:t>
            </a:r>
            <a:r>
              <a:rPr lang="en-US" dirty="0" err="1"/>
              <a:t>tezlikka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keladi</a:t>
            </a:r>
            <a:r>
              <a:rPr lang="en-US" dirty="0"/>
              <a:t>.</a:t>
            </a:r>
          </a:p>
          <a:p>
            <a:r>
              <a:rPr lang="en-US" dirty="0" err="1"/>
              <a:t>Grafikning</a:t>
            </a:r>
            <a:r>
              <a:rPr lang="en-US" dirty="0"/>
              <a:t> chap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o‘ng</a:t>
            </a:r>
            <a:r>
              <a:rPr lang="en-US" dirty="0"/>
              <a:t> </a:t>
            </a:r>
            <a:r>
              <a:rPr lang="en-US" dirty="0" err="1"/>
              <a:t>qismlarida</a:t>
            </a:r>
            <a:r>
              <a:rPr lang="en-US" dirty="0"/>
              <a:t> </a:t>
            </a:r>
            <a:r>
              <a:rPr lang="en-US" dirty="0" err="1"/>
              <a:t>molekulalar</a:t>
            </a:r>
            <a:r>
              <a:rPr lang="en-US" dirty="0"/>
              <a:t> </a:t>
            </a:r>
            <a:r>
              <a:rPr lang="en-US" dirty="0" err="1"/>
              <a:t>soni</a:t>
            </a:r>
            <a:r>
              <a:rPr lang="en-US" dirty="0"/>
              <a:t> </a:t>
            </a:r>
            <a:r>
              <a:rPr lang="en-US" dirty="0" err="1"/>
              <a:t>kamayadi</a:t>
            </a:r>
            <a:r>
              <a:rPr lang="en-US" dirty="0"/>
              <a:t>, </a:t>
            </a:r>
            <a:r>
              <a:rPr lang="en-US" dirty="0" err="1"/>
              <a:t>ya’ni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sekin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tez</a:t>
            </a:r>
            <a:r>
              <a:rPr lang="en-US" dirty="0"/>
              <a:t> </a:t>
            </a:r>
            <a:r>
              <a:rPr lang="en-US" dirty="0" err="1"/>
              <a:t>molekulalar</a:t>
            </a:r>
            <a:r>
              <a:rPr lang="en-US" dirty="0"/>
              <a:t>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uchraydi</a:t>
            </a:r>
            <a:r>
              <a:rPr lang="en-US" dirty="0" smtClean="0"/>
              <a:t>.</a:t>
            </a:r>
          </a:p>
          <a:p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nuqtasi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ehtimolli</a:t>
            </a:r>
            <a:r>
              <a:rPr lang="en-US" dirty="0"/>
              <a:t> </a:t>
            </a:r>
            <a:r>
              <a:rPr lang="en-US" dirty="0" err="1"/>
              <a:t>tezlikka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keladi</a:t>
            </a:r>
            <a:r>
              <a:rPr lang="en-US" dirty="0"/>
              <a:t>; </a:t>
            </a:r>
            <a:r>
              <a:rPr lang="en-US" dirty="0" err="1"/>
              <a:t>egri</a:t>
            </a:r>
            <a:r>
              <a:rPr lang="en-US" dirty="0"/>
              <a:t> </a:t>
            </a:r>
            <a:r>
              <a:rPr lang="en-US" dirty="0" err="1"/>
              <a:t>ostidagi</a:t>
            </a:r>
            <a:r>
              <a:rPr lang="en-US" dirty="0"/>
              <a:t> </a:t>
            </a:r>
            <a:r>
              <a:rPr lang="en-US" dirty="0" err="1"/>
              <a:t>maydon</a:t>
            </a:r>
            <a:r>
              <a:rPr lang="en-US" dirty="0"/>
              <a:t> </a:t>
            </a:r>
            <a:r>
              <a:rPr lang="en-US" dirty="0" err="1"/>
              <a:t>molekulalarning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sonini</a:t>
            </a:r>
            <a:r>
              <a:rPr lang="en-US" dirty="0"/>
              <a:t> </a:t>
            </a:r>
            <a:r>
              <a:rPr lang="en-US" dirty="0" err="1"/>
              <a:t>bildiradi</a:t>
            </a:r>
            <a:r>
              <a:rPr lang="en-US" dirty="0"/>
              <a:t>.</a:t>
            </a:r>
          </a:p>
          <a:p>
            <a:pPr>
              <a:defRPr sz="2000"/>
            </a:pP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836" y="3777745"/>
            <a:ext cx="2737237" cy="226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43951"/>
          </a:xfrm>
        </p:spPr>
        <p:txBody>
          <a:bodyPr/>
          <a:lstStyle/>
          <a:p>
            <a:pPr>
              <a:defRPr sz="2800" b="1"/>
            </a:pPr>
            <a:r>
              <a:rPr lang="en-US" dirty="0" err="1"/>
              <a:t>Xarakterli</a:t>
            </a:r>
            <a:r>
              <a:rPr lang="en-US" dirty="0"/>
              <a:t> </a:t>
            </a:r>
            <a:r>
              <a:rPr lang="en-US" dirty="0" err="1"/>
              <a:t>tezliklar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828" y="1336431"/>
            <a:ext cx="7934177" cy="5120639"/>
          </a:xfrm>
        </p:spPr>
        <p:txBody>
          <a:bodyPr/>
          <a:lstStyle/>
          <a:p>
            <a:pPr>
              <a:defRPr sz="2000"/>
            </a:pPr>
            <a:r>
              <a:rPr lang="en-US" sz="2400" b="1" dirty="0" err="1"/>
              <a:t>Eng</a:t>
            </a:r>
            <a:r>
              <a:rPr lang="en-US" sz="2400" b="1" dirty="0"/>
              <a:t> </a:t>
            </a:r>
            <a:r>
              <a:rPr lang="en-US" sz="2400" b="1" dirty="0" err="1"/>
              <a:t>ehtimolli</a:t>
            </a:r>
            <a:r>
              <a:rPr lang="en-US" sz="2400" b="1" dirty="0"/>
              <a:t> </a:t>
            </a:r>
            <a:r>
              <a:rPr lang="en-US" sz="2400" b="1" dirty="0" err="1"/>
              <a:t>tezlik</a:t>
            </a:r>
            <a:r>
              <a:rPr lang="en-US" sz="2400" dirty="0"/>
              <a:t> — </a:t>
            </a:r>
            <a:r>
              <a:rPr lang="en-US" sz="2400" dirty="0" err="1"/>
              <a:t>molekulalar</a:t>
            </a:r>
            <a:r>
              <a:rPr lang="en-US" sz="2400" dirty="0"/>
              <a:t> </a:t>
            </a:r>
            <a:r>
              <a:rPr lang="en-US" sz="2400" dirty="0" err="1"/>
              <a:t>orasida</a:t>
            </a:r>
            <a:r>
              <a:rPr lang="en-US" sz="2400" dirty="0"/>
              <a:t> </a:t>
            </a:r>
            <a:r>
              <a:rPr lang="en-US" sz="2400" dirty="0" err="1"/>
              <a:t>eng</a:t>
            </a:r>
            <a:r>
              <a:rPr lang="en-US" sz="2400" dirty="0"/>
              <a:t> </a:t>
            </a:r>
            <a:r>
              <a:rPr lang="en-US" sz="2400" dirty="0" err="1"/>
              <a:t>ko‘p</a:t>
            </a:r>
            <a:r>
              <a:rPr lang="en-US" sz="2400" dirty="0"/>
              <a:t> </a:t>
            </a:r>
            <a:r>
              <a:rPr lang="en-US" sz="2400" dirty="0" err="1"/>
              <a:t>uchraydigan</a:t>
            </a:r>
            <a:r>
              <a:rPr lang="en-US" sz="2400" dirty="0"/>
              <a:t> </a:t>
            </a:r>
            <a:r>
              <a:rPr lang="en-US" sz="2400" dirty="0" err="1" smtClean="0"/>
              <a:t>tezlik</a:t>
            </a:r>
            <a:endParaRPr lang="en-US" sz="2400" dirty="0" smtClean="0"/>
          </a:p>
          <a:p>
            <a:pPr>
              <a:defRPr sz="2000"/>
            </a:pPr>
            <a:endParaRPr lang="en-US" sz="2400" dirty="0" smtClean="0"/>
          </a:p>
          <a:p>
            <a:pPr>
              <a:defRPr sz="2000"/>
            </a:pPr>
            <a:endParaRPr lang="en-US" sz="2400" dirty="0"/>
          </a:p>
          <a:p>
            <a:pPr>
              <a:defRPr sz="2000"/>
            </a:pPr>
            <a:endParaRPr lang="en-US" sz="2400" dirty="0" smtClean="0"/>
          </a:p>
          <a:p>
            <a:pPr marL="0" indent="0">
              <a:buNone/>
              <a:defRPr sz="2000"/>
            </a:pPr>
            <a:r>
              <a:rPr lang="en-US" sz="2400" dirty="0"/>
              <a:t>— </a:t>
            </a:r>
            <a:r>
              <a:rPr lang="en-US" sz="2400" dirty="0" err="1"/>
              <a:t>Taqsimot</a:t>
            </a:r>
            <a:r>
              <a:rPr lang="en-US" sz="2400" dirty="0"/>
              <a:t> </a:t>
            </a:r>
            <a:r>
              <a:rPr lang="en-US" sz="2400" dirty="0" err="1"/>
              <a:t>grafigining</a:t>
            </a:r>
            <a:r>
              <a:rPr lang="en-US" sz="2400" dirty="0"/>
              <a:t> </a:t>
            </a:r>
            <a:r>
              <a:rPr lang="en-US" sz="2400" dirty="0" err="1"/>
              <a:t>maksimum</a:t>
            </a:r>
            <a:r>
              <a:rPr lang="en-US" sz="2400" dirty="0"/>
              <a:t> </a:t>
            </a:r>
            <a:r>
              <a:rPr lang="en-US" sz="2400" dirty="0" err="1"/>
              <a:t>nuqtasini</a:t>
            </a:r>
            <a:r>
              <a:rPr lang="en-US" sz="2400" dirty="0"/>
              <a:t> </a:t>
            </a:r>
            <a:r>
              <a:rPr lang="en-US" sz="2400" dirty="0" err="1"/>
              <a:t>aniqlashda</a:t>
            </a:r>
            <a:r>
              <a:rPr lang="en-US" sz="2400" dirty="0"/>
              <a:t> </a:t>
            </a:r>
            <a:r>
              <a:rPr lang="en-US" sz="2400" dirty="0" err="1"/>
              <a:t>ishlatiladi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— </a:t>
            </a:r>
            <a:r>
              <a:rPr lang="en-US" sz="2400" dirty="0" err="1"/>
              <a:t>Gaz</a:t>
            </a:r>
            <a:r>
              <a:rPr lang="en-US" sz="2400" dirty="0"/>
              <a:t> </a:t>
            </a:r>
            <a:r>
              <a:rPr lang="en-US" sz="2400" dirty="0" err="1"/>
              <a:t>molekulalarining</a:t>
            </a:r>
            <a:r>
              <a:rPr lang="en-US" sz="2400" dirty="0"/>
              <a:t> </a:t>
            </a:r>
            <a:r>
              <a:rPr lang="en-US" sz="2400" dirty="0" err="1"/>
              <a:t>eng</a:t>
            </a:r>
            <a:r>
              <a:rPr lang="en-US" sz="2400" dirty="0"/>
              <a:t> </a:t>
            </a:r>
            <a:r>
              <a:rPr lang="en-US" sz="2400" dirty="0" err="1"/>
              <a:t>ko‘p</a:t>
            </a:r>
            <a:r>
              <a:rPr lang="en-US" sz="2400" dirty="0"/>
              <a:t> </a:t>
            </a:r>
            <a:r>
              <a:rPr lang="en-US" sz="2400" dirty="0" err="1"/>
              <a:t>uchraydigan</a:t>
            </a:r>
            <a:r>
              <a:rPr lang="en-US" sz="2400" dirty="0"/>
              <a:t> </a:t>
            </a:r>
            <a:r>
              <a:rPr lang="en-US" sz="2400" dirty="0" err="1"/>
              <a:t>tezligini</a:t>
            </a:r>
            <a:r>
              <a:rPr lang="en-US" sz="2400" dirty="0"/>
              <a:t> </a:t>
            </a:r>
            <a:r>
              <a:rPr lang="en-US" sz="2400" dirty="0" err="1"/>
              <a:t>ifodalaydi</a:t>
            </a:r>
            <a:r>
              <a:rPr lang="en-US" sz="2400" dirty="0"/>
              <a:t>.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648" y="2402057"/>
            <a:ext cx="2830287" cy="11289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Qo‘llanilish Sohalari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1852"/>
            <a:ext cx="7408986" cy="4409511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lang="en-US" sz="2400" b="1" dirty="0" err="1"/>
              <a:t>O‘rtacha</a:t>
            </a:r>
            <a:r>
              <a:rPr lang="en-US" sz="2400" b="1" dirty="0"/>
              <a:t> </a:t>
            </a:r>
            <a:r>
              <a:rPr lang="en-US" sz="2400" b="1" dirty="0" err="1"/>
              <a:t>tezlik</a:t>
            </a:r>
            <a:r>
              <a:rPr lang="en-US" sz="2400" dirty="0"/>
              <a:t> — </a:t>
            </a:r>
            <a:r>
              <a:rPr lang="en-US" sz="2400" dirty="0" err="1"/>
              <a:t>barcha</a:t>
            </a:r>
            <a:r>
              <a:rPr lang="en-US" sz="2400" dirty="0"/>
              <a:t> </a:t>
            </a:r>
            <a:r>
              <a:rPr lang="en-US" sz="2400" dirty="0" err="1"/>
              <a:t>molekulalar</a:t>
            </a:r>
            <a:r>
              <a:rPr lang="en-US" sz="2400" dirty="0"/>
              <a:t> </a:t>
            </a:r>
            <a:r>
              <a:rPr lang="en-US" sz="2400" dirty="0" err="1"/>
              <a:t>tezliklarining</a:t>
            </a:r>
            <a:r>
              <a:rPr lang="en-US" sz="2400" dirty="0"/>
              <a:t> </a:t>
            </a:r>
            <a:r>
              <a:rPr lang="en-US" sz="2400" dirty="0" err="1"/>
              <a:t>arifmetik</a:t>
            </a:r>
            <a:r>
              <a:rPr lang="en-US" sz="2400" dirty="0"/>
              <a:t> </a:t>
            </a:r>
            <a:r>
              <a:rPr lang="en-US" sz="2400" dirty="0" err="1"/>
              <a:t>o‘rtachasi</a:t>
            </a:r>
            <a:endParaRPr lang="en-US" sz="2400" dirty="0"/>
          </a:p>
          <a:p>
            <a:pPr>
              <a:defRPr sz="2000"/>
            </a:pPr>
            <a:endParaRPr lang="en-US" sz="2400" dirty="0" smtClean="0"/>
          </a:p>
          <a:p>
            <a:pPr>
              <a:defRPr sz="2000"/>
            </a:pPr>
            <a:endParaRPr lang="en-US" sz="2400" dirty="0"/>
          </a:p>
          <a:p>
            <a:pPr>
              <a:defRPr sz="2000"/>
            </a:pPr>
            <a:endParaRPr lang="en-US" sz="2400" dirty="0" smtClean="0"/>
          </a:p>
          <a:p>
            <a:pPr>
              <a:defRPr sz="2000"/>
            </a:pPr>
            <a:r>
              <a:rPr lang="en-US" sz="2400" dirty="0" smtClean="0"/>
              <a:t>— </a:t>
            </a:r>
            <a:r>
              <a:rPr lang="en-US" sz="2400" dirty="0" err="1"/>
              <a:t>Diffuziya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effuziya</a:t>
            </a:r>
            <a:r>
              <a:rPr lang="en-US" sz="2400" dirty="0"/>
              <a:t> </a:t>
            </a:r>
            <a:r>
              <a:rPr lang="en-US" sz="2400" dirty="0" err="1"/>
              <a:t>jarayonlarini</a:t>
            </a:r>
            <a:r>
              <a:rPr lang="en-US" sz="2400" dirty="0"/>
              <a:t> </a:t>
            </a:r>
            <a:r>
              <a:rPr lang="en-US" sz="2400" dirty="0" err="1"/>
              <a:t>tahlil</a:t>
            </a:r>
            <a:r>
              <a:rPr lang="en-US" sz="2400" dirty="0"/>
              <a:t> </a:t>
            </a:r>
            <a:r>
              <a:rPr lang="en-US" sz="2400" dirty="0" err="1"/>
              <a:t>qilishda</a:t>
            </a:r>
            <a:r>
              <a:rPr lang="en-US" sz="2400" dirty="0"/>
              <a:t> </a:t>
            </a:r>
            <a:r>
              <a:rPr lang="en-US" sz="2400" dirty="0" err="1"/>
              <a:t>qo‘llanadi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— </a:t>
            </a:r>
            <a:r>
              <a:rPr lang="en-US" sz="2400" dirty="0" err="1"/>
              <a:t>Gaz</a:t>
            </a:r>
            <a:r>
              <a:rPr lang="en-US" sz="2400" dirty="0"/>
              <a:t> </a:t>
            </a:r>
            <a:r>
              <a:rPr lang="en-US" sz="2400" dirty="0" err="1"/>
              <a:t>molekulalarining</a:t>
            </a:r>
            <a:r>
              <a:rPr lang="en-US" sz="2400" dirty="0"/>
              <a:t> </a:t>
            </a:r>
            <a:r>
              <a:rPr lang="en-US" sz="2400" dirty="0" err="1"/>
              <a:t>umumiy</a:t>
            </a:r>
            <a:r>
              <a:rPr lang="en-US" sz="2400" dirty="0"/>
              <a:t> </a:t>
            </a:r>
            <a:r>
              <a:rPr lang="en-US" sz="2400" dirty="0" err="1"/>
              <a:t>harakat</a:t>
            </a:r>
            <a:r>
              <a:rPr lang="en-US" sz="2400" dirty="0"/>
              <a:t> </a:t>
            </a:r>
            <a:r>
              <a:rPr lang="en-US" sz="2400" dirty="0" err="1"/>
              <a:t>tezligini</a:t>
            </a:r>
            <a:r>
              <a:rPr lang="en-US" sz="2400" dirty="0"/>
              <a:t> </a:t>
            </a:r>
            <a:r>
              <a:rPr lang="en-US" sz="2400" dirty="0" err="1"/>
              <a:t>baholaydi</a:t>
            </a:r>
            <a:r>
              <a:rPr lang="en-US" sz="2400" dirty="0"/>
              <a:t>.</a:t>
            </a:r>
            <a:endParaRPr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290" y="2709709"/>
            <a:ext cx="2177445" cy="10182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74056"/>
            <a:ext cx="7718476" cy="4367308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lang="en-US" sz="2400" b="1" dirty="0" err="1"/>
              <a:t>Kvadratik</a:t>
            </a:r>
            <a:r>
              <a:rPr lang="en-US" sz="2400" b="1" dirty="0"/>
              <a:t> </a:t>
            </a:r>
            <a:r>
              <a:rPr lang="en-US" sz="2400" b="1" dirty="0" err="1"/>
              <a:t>o‘rtacha</a:t>
            </a:r>
            <a:r>
              <a:rPr lang="en-US" sz="2400" b="1" dirty="0"/>
              <a:t> </a:t>
            </a:r>
            <a:r>
              <a:rPr lang="en-US" sz="2400" b="1" dirty="0" err="1"/>
              <a:t>tezlik</a:t>
            </a:r>
            <a:r>
              <a:rPr lang="en-US" sz="2400" b="1" dirty="0"/>
              <a:t> (RMS)</a:t>
            </a:r>
            <a:r>
              <a:rPr lang="en-US" sz="2400" dirty="0"/>
              <a:t> — </a:t>
            </a:r>
            <a:r>
              <a:rPr lang="en-US" sz="2400" dirty="0" err="1"/>
              <a:t>kinetik</a:t>
            </a:r>
            <a:r>
              <a:rPr lang="en-US" sz="2400" dirty="0"/>
              <a:t> </a:t>
            </a:r>
            <a:r>
              <a:rPr lang="en-US" sz="2400" dirty="0" err="1"/>
              <a:t>energiyaga</a:t>
            </a:r>
            <a:r>
              <a:rPr lang="en-US" sz="2400" dirty="0"/>
              <a:t> </a:t>
            </a:r>
            <a:r>
              <a:rPr lang="en-US" sz="2400" dirty="0" err="1"/>
              <a:t>mos</a:t>
            </a:r>
            <a:r>
              <a:rPr lang="en-US" sz="2400" dirty="0"/>
              <a:t> </a:t>
            </a:r>
            <a:r>
              <a:rPr lang="en-US" sz="2400" dirty="0" err="1"/>
              <a:t>ekvivalent</a:t>
            </a:r>
            <a:r>
              <a:rPr lang="en-US" sz="2400" dirty="0"/>
              <a:t> </a:t>
            </a:r>
            <a:r>
              <a:rPr lang="en-US" sz="2400" dirty="0" err="1"/>
              <a:t>tezlik</a:t>
            </a:r>
            <a:endParaRPr lang="en-US" sz="2400" dirty="0"/>
          </a:p>
          <a:p>
            <a:pPr>
              <a:defRPr sz="2000"/>
            </a:pPr>
            <a:endParaRPr lang="en-US" sz="2400" dirty="0" smtClean="0"/>
          </a:p>
          <a:p>
            <a:pPr>
              <a:defRPr sz="2000"/>
            </a:pPr>
            <a:endParaRPr lang="en-US" sz="2400" dirty="0" smtClean="0"/>
          </a:p>
          <a:p>
            <a:pPr>
              <a:defRPr sz="2000"/>
            </a:pPr>
            <a:endParaRPr lang="en-US" sz="2400" dirty="0"/>
          </a:p>
          <a:p>
            <a:pPr>
              <a:defRPr sz="2000"/>
            </a:pPr>
            <a:r>
              <a:rPr lang="en-US" sz="2400" dirty="0"/>
              <a:t>— </a:t>
            </a:r>
            <a:r>
              <a:rPr lang="en-US" sz="2400" dirty="0" err="1"/>
              <a:t>Molekulalarning</a:t>
            </a:r>
            <a:r>
              <a:rPr lang="en-US" sz="2400" dirty="0"/>
              <a:t> </a:t>
            </a:r>
            <a:r>
              <a:rPr lang="en-US" sz="2400" dirty="0" err="1"/>
              <a:t>o‘rtacha</a:t>
            </a:r>
            <a:r>
              <a:rPr lang="en-US" sz="2400" dirty="0"/>
              <a:t> </a:t>
            </a:r>
            <a:r>
              <a:rPr lang="en-US" sz="2400" dirty="0" err="1"/>
              <a:t>kinetik</a:t>
            </a:r>
            <a:r>
              <a:rPr lang="en-US" sz="2400" dirty="0"/>
              <a:t> </a:t>
            </a:r>
            <a:r>
              <a:rPr lang="en-US" sz="2400" dirty="0" err="1"/>
              <a:t>energiyasini</a:t>
            </a:r>
            <a:r>
              <a:rPr lang="en-US" sz="2400" dirty="0"/>
              <a:t> </a:t>
            </a:r>
            <a:r>
              <a:rPr lang="en-US" sz="2400" dirty="0" err="1"/>
              <a:t>hisoblashda</a:t>
            </a:r>
            <a:r>
              <a:rPr lang="en-US" sz="2400" dirty="0"/>
              <a:t> </a:t>
            </a:r>
            <a:r>
              <a:rPr lang="en-US" sz="2400" dirty="0" err="1"/>
              <a:t>ishlatiladi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— </a:t>
            </a:r>
            <a:r>
              <a:rPr lang="en-US" sz="2400" dirty="0" err="1"/>
              <a:t>Gaz</a:t>
            </a:r>
            <a:r>
              <a:rPr lang="en-US" sz="2400" dirty="0"/>
              <a:t> </a:t>
            </a:r>
            <a:r>
              <a:rPr lang="en-US" sz="2400" dirty="0" err="1"/>
              <a:t>bosimi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temperatura</a:t>
            </a:r>
            <a:r>
              <a:rPr lang="en-US" sz="2400" dirty="0"/>
              <a:t> </a:t>
            </a:r>
            <a:r>
              <a:rPr lang="en-US" sz="2400" dirty="0" err="1"/>
              <a:t>bilan</a:t>
            </a:r>
            <a:r>
              <a:rPr lang="en-US" sz="2400" dirty="0"/>
              <a:t> </a:t>
            </a:r>
            <a:r>
              <a:rPr lang="en-US" sz="2400" dirty="0" err="1"/>
              <a:t>bog‘liq</a:t>
            </a:r>
            <a:r>
              <a:rPr lang="en-US" sz="2400" dirty="0"/>
              <a:t> </a:t>
            </a:r>
            <a:r>
              <a:rPr lang="en-US" sz="2400" dirty="0" err="1"/>
              <a:t>hisoblarda</a:t>
            </a:r>
            <a:r>
              <a:rPr lang="en-US" sz="2400" dirty="0"/>
              <a:t> </a:t>
            </a:r>
            <a:r>
              <a:rPr lang="en-US" sz="2400" dirty="0" err="1"/>
              <a:t>muhim</a:t>
            </a:r>
            <a:r>
              <a:rPr lang="en-US" sz="2400" dirty="0"/>
              <a:t>.</a:t>
            </a:r>
            <a:endParaRPr lang="en-US" sz="24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659" y="2784487"/>
            <a:ext cx="2796428" cy="10732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95643"/>
          </a:xfrm>
        </p:spPr>
        <p:txBody>
          <a:bodyPr/>
          <a:lstStyle/>
          <a:p>
            <a:r>
              <a:rPr lang="en-US" dirty="0" err="1" smtClean="0">
                <a:latin typeface="Bookman Old Style" panose="02050604050505020204" pitchFamily="18" charset="0"/>
              </a:rPr>
              <a:t>Xulosa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8" y="1758462"/>
            <a:ext cx="7085429" cy="4282901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 err="1">
                <a:latin typeface="Bookman Old Style" panose="02050604050505020204" pitchFamily="18" charset="0"/>
              </a:rPr>
              <a:t>Maksvel</a:t>
            </a:r>
            <a:r>
              <a:rPr lang="en-US" sz="2400" dirty="0">
                <a:latin typeface="Bookman Old Style" panose="02050604050505020204" pitchFamily="18" charset="0"/>
              </a:rPr>
              <a:t>–</a:t>
            </a:r>
            <a:r>
              <a:rPr lang="en-US" sz="2400" dirty="0" err="1">
                <a:latin typeface="Bookman Old Style" panose="02050604050505020204" pitchFamily="18" charset="0"/>
              </a:rPr>
              <a:t>Boltsman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taqsimoti</a:t>
            </a:r>
            <a:r>
              <a:rPr lang="en-US" sz="2400" dirty="0">
                <a:latin typeface="Bookman Old Style" panose="02050604050505020204" pitchFamily="18" charset="0"/>
              </a:rPr>
              <a:t> ideal </a:t>
            </a:r>
            <a:r>
              <a:rPr lang="en-US" sz="2400" dirty="0" err="1">
                <a:latin typeface="Bookman Old Style" panose="02050604050505020204" pitchFamily="18" charset="0"/>
              </a:rPr>
              <a:t>gaz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molekulalarining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tezliklar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bo‘yicha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statistik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taqsimlanishini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tavsiflaydi</a:t>
            </a:r>
            <a:r>
              <a:rPr lang="en-US" sz="2400" dirty="0">
                <a:latin typeface="Bookman Old Style" panose="02050604050505020204" pitchFamily="18" charset="0"/>
              </a:rPr>
              <a:t>. </a:t>
            </a:r>
            <a:r>
              <a:rPr lang="en-US" sz="2400" dirty="0" err="1">
                <a:latin typeface="Bookman Old Style" panose="02050604050505020204" pitchFamily="18" charset="0"/>
              </a:rPr>
              <a:t>Ushbu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taqsimot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gazlarning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mikroskopik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harakati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bilan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makroskopik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xossalari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orasidagi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bog‘lanishni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tushuntiradi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hamda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statistik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fizika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va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kinetik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nazariyaning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muhim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asoslaridan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biri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hisoblanadi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99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418</Words>
  <Application>Microsoft Office PowerPoint</Application>
  <PresentationFormat>Экран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Arial</vt:lpstr>
      <vt:lpstr>Arial Rounded MT Bold</vt:lpstr>
      <vt:lpstr>Bahnschrift SemiBold</vt:lpstr>
      <vt:lpstr>Book Antiqua</vt:lpstr>
      <vt:lpstr>Bookman Old Style</vt:lpstr>
      <vt:lpstr>Calisto MT</vt:lpstr>
      <vt:lpstr>Trebuchet MS</vt:lpstr>
      <vt:lpstr>Wingdings 3</vt:lpstr>
      <vt:lpstr>Аспект</vt:lpstr>
      <vt:lpstr>O‘zbekiston milliy pedagogika universiteti</vt:lpstr>
      <vt:lpstr>Reja:</vt:lpstr>
      <vt:lpstr>Kirish</vt:lpstr>
      <vt:lpstr>Ideal gaz modeli</vt:lpstr>
      <vt:lpstr>Maksvel taqsimotining fizik mazmuni</vt:lpstr>
      <vt:lpstr>Maksvel–Boltsman taqsimoti formulasi</vt:lpstr>
      <vt:lpstr>Taqsimot grafigi tahlili</vt:lpstr>
      <vt:lpstr>Xarakterli tezliklar</vt:lpstr>
      <vt:lpstr>Qo‘llanilish Sohalari</vt:lpstr>
      <vt:lpstr>Xulosa</vt:lpstr>
      <vt:lpstr>Xulosa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Maksvel tezliklar taqsimoti</dc:title>
  <dc:subject/>
  <dc:creator/>
  <cp:keywords/>
  <dc:description>generated using python-pptx</dc:description>
  <cp:lastModifiedBy>Administrator</cp:lastModifiedBy>
  <cp:revision>7</cp:revision>
  <dcterms:created xsi:type="dcterms:W3CDTF">2013-01-27T09:14:16Z</dcterms:created>
  <dcterms:modified xsi:type="dcterms:W3CDTF">2026-04-14T12:08:16Z</dcterms:modified>
  <cp:category/>
</cp:coreProperties>
</file>